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bd82be58564d59" /><Relationship Type="http://schemas.openxmlformats.org/officeDocument/2006/relationships/extended-properties" Target="/docProps/app.xml" Id="R69314d943f144146" /><Relationship Type="http://schemas.openxmlformats.org/officeDocument/2006/relationships/officeDocument" Target="/ppt/presentation.xml" Id="R62bc69e09cc84ac4" /></Relationships>
</file>

<file path=ppt/presentation.xml><?xml version="1.0" encoding="utf-8"?>
<p:presentation xmlns:p="http://schemas.openxmlformats.org/presentationml/2006/main">
  <p:sldMasterIdLst>
    <p:sldMasterId xmlns:r="http://schemas.openxmlformats.org/officeDocument/2006/relationships" id="2147483648" r:id="Rd344864088b14831"/>
  </p:sldMasterIdLst>
  <p:notesMasterIdLst>
    <p:notesMasterId xmlns:r="http://schemas.openxmlformats.org/officeDocument/2006/relationships" r:id="Rdff55a64c5de40d7"/>
  </p:notesMasterIdLst>
  <p:sldIdLst>
    <p:sldId xmlns:r="http://schemas.openxmlformats.org/officeDocument/2006/relationships" id="256" r:id="R8c8d7c06f6d941dd"/>
    <p:sldId xmlns:r="http://schemas.openxmlformats.org/officeDocument/2006/relationships" id="257" r:id="R4a16cde206a0417f"/>
    <p:sldId xmlns:r="http://schemas.openxmlformats.org/officeDocument/2006/relationships" id="258" r:id="R4aa28559a9c449e7"/>
    <p:sldId xmlns:r="http://schemas.openxmlformats.org/officeDocument/2006/relationships" id="259" r:id="R648cb5ddb76a47c7"/>
    <p:sldId xmlns:r="http://schemas.openxmlformats.org/officeDocument/2006/relationships" id="260" r:id="R7204215550154390"/>
    <p:sldId xmlns:r="http://schemas.openxmlformats.org/officeDocument/2006/relationships" id="261" r:id="Ra47f007c71824254"/>
    <p:sldId xmlns:r="http://schemas.openxmlformats.org/officeDocument/2006/relationships" id="262" r:id="Rd8115e57dfe14fad"/>
    <p:sldId xmlns:r="http://schemas.openxmlformats.org/officeDocument/2006/relationships" id="263" r:id="Rdb96ffd13ace46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65913023304bd5" /><Relationship Type="http://schemas.openxmlformats.org/officeDocument/2006/relationships/slideMaster" Target="/ppt/slideMasters/slideMaster1.xml" Id="Rd344864088b14831" /><Relationship Type="http://schemas.openxmlformats.org/officeDocument/2006/relationships/notesMaster" Target="/ppt/notesMasters/notesMaster1.xml" Id="Rdff55a64c5de40d7" /><Relationship Type="http://schemas.openxmlformats.org/officeDocument/2006/relationships/presProps" Target="/ppt/presProps.xml" Id="R49487d4946fb4c72" /><Relationship Type="http://schemas.openxmlformats.org/officeDocument/2006/relationships/tableStyles" Target="/ppt/tableStyles.xml" Id="R958ccb3deb044268" /><Relationship Type="http://schemas.openxmlformats.org/officeDocument/2006/relationships/slide" Target="/ppt/slides/slide1.xml" Id="R8c8d7c06f6d941dd" /><Relationship Type="http://schemas.openxmlformats.org/officeDocument/2006/relationships/slide" Target="/ppt/slides/slide2.xml" Id="R4a16cde206a0417f" /><Relationship Type="http://schemas.openxmlformats.org/officeDocument/2006/relationships/slide" Target="/ppt/slides/slide3.xml" Id="R4aa28559a9c449e7" /><Relationship Type="http://schemas.openxmlformats.org/officeDocument/2006/relationships/slide" Target="/ppt/slides/slide4.xml" Id="R648cb5ddb76a47c7" /><Relationship Type="http://schemas.openxmlformats.org/officeDocument/2006/relationships/slide" Target="/ppt/slides/slide5.xml" Id="R7204215550154390" /><Relationship Type="http://schemas.openxmlformats.org/officeDocument/2006/relationships/slide" Target="/ppt/slides/slide6.xml" Id="Ra47f007c71824254" /><Relationship Type="http://schemas.openxmlformats.org/officeDocument/2006/relationships/slide" Target="/ppt/slides/slide7.xml" Id="Rd8115e57dfe14fad" /><Relationship Type="http://schemas.openxmlformats.org/officeDocument/2006/relationships/slide" Target="/ppt/slides/slide8.xml" Id="Rdb96ffd13ace46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31e5cc7f1949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01887d78164046" /><Relationship Type="http://schemas.openxmlformats.org/officeDocument/2006/relationships/notesMaster" Target="/ppt/notesMasters/notesMaster1.xml" Id="Reca76f0cb4d742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0efdef9c504c16" /><Relationship Type="http://schemas.openxmlformats.org/officeDocument/2006/relationships/notesMaster" Target="/ppt/notesMasters/notesMaster1.xml" Id="R7732094d8ef84d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4e68f25e294fb0" /><Relationship Type="http://schemas.openxmlformats.org/officeDocument/2006/relationships/notesMaster" Target="/ppt/notesMasters/notesMaster1.xml" Id="Rdd1897359bcd45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52f1b76ec84e65" /><Relationship Type="http://schemas.openxmlformats.org/officeDocument/2006/relationships/notesMaster" Target="/ppt/notesMasters/notesMaster1.xml" Id="R9718a23729994d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6fdd3404414ef2" /><Relationship Type="http://schemas.openxmlformats.org/officeDocument/2006/relationships/notesMaster" Target="/ppt/notesMasters/notesMaster1.xml" Id="R39fa62f4b64846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a679ab218d46fe" /><Relationship Type="http://schemas.openxmlformats.org/officeDocument/2006/relationships/notesMaster" Target="/ppt/notesMasters/notesMaster1.xml" Id="R404a8089bc7144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5b709027aee49e7" /><Relationship Type="http://schemas.openxmlformats.org/officeDocument/2006/relationships/notesMaster" Target="/ppt/notesMasters/notesMaster1.xml" Id="Rc2d53217ede443c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34155fff1348b7" /><Relationship Type="http://schemas.openxmlformats.org/officeDocument/2006/relationships/notesMaster" Target="/ppt/notesMasters/notesMaster1.xml" Id="Rcfbf21bd29e94b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Harvest, Judge and Share as the next step in the Farm in a Box learning sequence.</a:t>
            </a:r>
          </a:p>
          <a:p xmlns:a="http://schemas.openxmlformats.org/drawingml/2006/main">
            <a:r>
              <a:t>Student outcome for this deck: Trace the product, evaluate the system and pitch a stronger next version</a:t>
            </a:r>
          </a:p>
          <a:p xmlns:a="http://schemas.openxmlformats.org/drawingml/2006/main">
            <a:r>
              <a:t>Opening prompt: ask students what evidence in the image makes this an agriculture system rather than a decorative container.</a:t>
            </a:r>
          </a:p>
          <a:p xmlns:a="http://schemas.openxmlformats.org/drawingml/2006/main">
            <a:r>
              <a:t>Boundary: crop, site, materials, tools, method and local safety controls remain Teacher to confirm.</a:t>
            </a:r>
          </a:p>
          <a:p xmlns:a="http://schemas.openxmlformats.org/drawingml/2006/main">
            <a:r>
              <a:t>Transition: preview the three named learning areas without answering the warm-up for students.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Food traceability — https://www.foodstandards.gov.au/business/food-safety/food-traceability</a:t>
            </a:r>
          </a:p>
          <a:p xmlns:a="http://schemas.openxmlformats.org/drawingml/2006/main">
            <a:r>
              <a:t>- Tech making our food supply chains smarter — https://www.csiro.au/en/news/all/articles/2023/april/smarter-food-supply-chains</a:t>
            </a:r>
          </a:p>
          <a:p xmlns:a="http://schemas.openxmlformats.org/drawingml/2006/main">
            <a:r>
              <a:t>- Course design brief: resources/core/design-brief-v1.0.json.</a:t>
            </a:r>
          </a:p>
          <a:p xmlns:a="http://schemas.openxmlformats.org/drawingml/2006/main">
            <a:r>
              <a:t>- Generated title visual: assets/m10-s03-field-day-pitch.png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quiet thinking time before taking responses.</a:t>
            </a:r>
          </a:p>
          <a:p xmlns:a="http://schemas.openxmlformats.org/drawingml/2006/main">
            <a:r>
              <a:t>The three named areas are Harvest and trace the product; Judge quality with evidence; Pitch the next version.</a:t>
            </a:r>
          </a:p>
          <a:p xmlns:a="http://schemas.openxmlformats.org/drawingml/2006/main">
            <a:r>
              <a:t>Keep initial answers provisional. The deck is designed to improve them with evidence.</a:t>
            </a:r>
          </a:p>
          <a:p xmlns:a="http://schemas.openxmlformats.org/drawingml/2006/main">
            <a:r>
              <a:t>Do not introduce outcome codes or local practical facts on this student-facing slide.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Food traceability — https://www.foodstandards.gov.au/business/food-safety/food-traceability</a:t>
            </a:r>
          </a:p>
          <a:p xmlns:a="http://schemas.openxmlformats.org/drawingml/2006/main">
            <a:r>
              <a:t>- Tech making our food supply chains smarter — https://www.csiro.au/en/news/all/articles/2023/april/smarter-food-supply-chains</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Harvest and trace the product concrete before students apply it to the Farm in a Box.</a:t>
            </a:r>
          </a:p>
          <a:p xmlns:a="http://schemas.openxmlformats.org/drawingml/2006/main">
            <a:r>
              <a:t>Talking point 1: Harvest creates a contextual product record, while a supply-chain trace follows product and information. Comparing current lot records with emerging temperature-and-location sensors shows how distribution evidence can protect quality without guaranteeing it.</a:t>
            </a:r>
          </a:p>
          <a:p xmlns:a="http://schemas.openxmlformats.org/drawingml/2006/main">
            <a:r>
              <a:t>Talking point 2: connect the image to the decision or evidence prompt; ask students what feature they notice and why it matters.</a:t>
            </a:r>
          </a:p>
          <a:p xmlns:a="http://schemas.openxmlformats.org/drawingml/2006/main">
            <a:r>
              <a:t>Current practice: FSANZ traceability records can identify suppliers, customers, dates, quantities and lot or batch details through relevant supply-chain stages.</a:t>
            </a:r>
          </a:p>
          <a:p xmlns:a="http://schemas.openxmlformats.org/drawingml/2006/main">
            <a:r>
              <a:t>Emerging approach: the CSIRO-reported battery-free Bluetooth sensor labels record fresh-produce temperature and location on transport crates.</a:t>
            </a:r>
          </a:p>
          <a:p xmlns:a="http://schemas.openxmlformats.org/drawingml/2006/main">
            <a:r>
              <a:t>Decision limit: records trace identity and movement, while sensors can reveal delay or temperature events; neither guarantees product quality.</a:t>
            </a:r>
          </a:p>
          <a:p xmlns:a="http://schemas.openxmlformats.org/drawingml/2006/main">
            <a:r>
              <a:t>Likely misconception: Every agricultural product follows the same supply-chain stages and ends as food.</a:t>
            </a:r>
          </a:p>
          <a:p xmlns:a="http://schemas.openxmlformats.org/drawingml/2006/main">
            <a:r>
              <a:t>Correction: Chains vary by product and purpose; some stages may not apply, and school-grown material has no assumed consumption pathway.</a:t>
            </a:r>
          </a:p>
          <a:p xmlns:a="http://schemas.openxmlformats.org/drawingml/2006/main">
            <a:r>
              <a:t>Prompt: Trace a fictional horticultural product, then compare current lot-record traceability with an emerging temperature-and-location sensor under purpose, evidence, quality decision and limitation.</a:t>
            </a:r>
          </a:p>
          <a:p xmlns:a="http://schemas.openxmlformats.org/drawingml/2006/main">
            <a:r>
              <a:t>Transition: connect this idea to Judge quality with evidence.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Food traceability — https://www.foodstandards.gov.au/business/food-safety/food-traceability</a:t>
            </a:r>
          </a:p>
          <a:p xmlns:a="http://schemas.openxmlformats.org/drawingml/2006/main">
            <a:r>
              <a:t>- Tech making our food supply chains smarter — https://www.csiro.au/en/news/all/articles/2023/april/smarter-food-supply-chains</a:t>
            </a:r>
          </a:p>
          <a:p xmlns:a="http://schemas.openxmlformats.org/drawingml/2006/main">
            <a:r>
              <a:t>- Generated teaching visual: assets/m10-s01-harvest-supply-chain.png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Judge quality with evidence concrete before students apply it to the Farm in a Box.</a:t>
            </a:r>
          </a:p>
          <a:p xmlns:a="http://schemas.openxmlformats.org/drawingml/2006/main">
            <a:r>
              <a:t>Talking point 1: Quality is fitness for purpose. Judge original criteria using several relevant evidence types, separate product quality from system quality and state limitations honestly.</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The crop with the largest yield automatically has the highest-quality production system.</a:t>
            </a:r>
          </a:p>
          <a:p xmlns:a="http://schemas.openxmlformats.org/drawingml/2006/main">
            <a:r>
              <a:t>Correction: Yield is one possible product measure; system quality requires evidence against the full design criteria and context.</a:t>
            </a:r>
          </a:p>
          <a:p xmlns:a="http://schemas.openxmlformats.org/drawingml/2006/main">
            <a:r>
              <a:t>Prompt: Students evaluate a fictional system with strong monitoring records but a disrupted crop result, distinguishing criterion evidence from biological outcome.</a:t>
            </a:r>
          </a:p>
          <a:p xmlns:a="http://schemas.openxmlformats.org/drawingml/2006/main">
            <a:r>
              <a:t>Transition: connect this idea to Pitch the next version.</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Generated teaching visual: assets/m10-s02-quality-evidence.png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Pitch the next version concrete before students apply it to the Farm in a Box.</a:t>
            </a:r>
          </a:p>
          <a:p xmlns:a="http://schemas.openxmlformats.org/drawingml/2006/main">
            <a:r>
              <a:t>Talking point 1: A strong pitch uses claim, evidence and reasoning; acknowledges a real limitation; and presents the next version as a testable proposal rather than a promised result.</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A persuasive pitch should hide negative results and speak with total certainty.</a:t>
            </a:r>
          </a:p>
          <a:p xmlns:a="http://schemas.openxmlformats.org/drawingml/2006/main">
            <a:r>
              <a:t>Correction: Credibility comes from relevant evidence, honest limitations and a testable next step.</a:t>
            </a:r>
          </a:p>
          <a:p xmlns:a="http://schemas.openxmlformats.org/drawingml/2006/main">
            <a:r>
              <a:t>Prompt: Students transform a cluttered fictional final report into a two-minute field-day pitch with one claim, two evidence items, one limitation and one testable next-version proposal.</a:t>
            </a:r>
          </a:p>
          <a:p xmlns:a="http://schemas.openxmlformats.org/drawingml/2006/main">
            <a:r>
              <a:t>Transition: move from explanation to retrieval across all three ideas.</a:t>
            </a:r>
          </a:p>
          <a:p xmlns:a="http://schemas.openxmlformats.org/drawingml/2006/main">
            <a:r>
              <a:t/>
            </a:r>
          </a:p>
          <a:p xmlns:a="http://schemas.openxmlformats.org/drawingml/2006/main">
            <a:r>
              <a:t>[Sources]</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Generated teaching visual: assets/m10-s03-field-day-pitch.png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think-pair-share: students answer silently, cite one deck idea, then improve their explanation with a partner.</a:t>
            </a:r>
          </a:p>
          <a:p xmlns:a="http://schemas.openxmlformats.org/drawingml/2006/main">
            <a:r>
              <a:t>Question 1 checks Harvest and trace the product.</a:t>
            </a:r>
          </a:p>
          <a:p xmlns:a="http://schemas.openxmlformats.org/drawingml/2006/main">
            <a:r>
              <a:t>Question 2 checks Judge quality with evidence.</a:t>
            </a:r>
          </a:p>
          <a:p xmlns:a="http://schemas.openxmlformats.org/drawingml/2006/main">
            <a:r>
              <a:t>Question 3 checks Pitch the next version.</a:t>
            </a:r>
          </a:p>
          <a:p xmlns:a="http://schemas.openxmlformats.org/drawingml/2006/main">
            <a:r>
              <a:t>Ask for reasoning, not only a short answer. Correct overclaiming and invented local detail.</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Food traceability — https://www.foodstandards.gov.au/business/food-safety/food-traceability</a:t>
            </a:r>
          </a:p>
          <a:p xmlns:a="http://schemas.openxmlformats.org/drawingml/2006/main">
            <a:r>
              <a:t>- Tech making our food supply chains smarter — https://www.csiro.au/en/news/all/articles/2023/april/smarter-food-supply-chains</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Response purpose: Apply claim–evidence–reasoning to produce a concise pitch for the next version of Farm in a Box.</a:t>
            </a:r>
          </a:p>
          <a:p xmlns:a="http://schemas.openxmlformats.org/drawingml/2006/main">
            <a:r>
              <a:t>Scaffold prompts: What need and design response should the audience remember? | What one claim is supported by your two strongest evidence items? | What important limitation should be stated? | What feature should change next, what benefit is expected and how would it be tested?</a:t>
            </a:r>
          </a:p>
          <a:p xmlns:a="http://schemas.openxmlformats.org/drawingml/2006/main">
            <a:r>
              <a:t>Success criteria: Uses a clear claim–evidence–reasoning chain. | Includes one honest limitation and avoids guarantees or invented local facts. | Ends with a specific, testable next-version decision.</a:t>
            </a:r>
          </a:p>
          <a:p xmlns:a="http://schemas.openxmlformats.org/drawingml/2006/main">
            <a:r>
              <a:t>Appropriate response example for teacher modelling: Our strongest evidence shows that the system supported regular monitoring because the access tests, field record and user observation agree. The resource log also shows improvement after one approved change. However, the crop-quality judgement is limited by interrupted access, so I cannot claim the highest product quality. For the next version, I propose refining the monitoring feature to reduce unnecessary movement. The expected benefit should be tested with the same access method before wider use is recommended.</a:t>
            </a:r>
          </a:p>
          <a:p xmlns:a="http://schemas.openxmlformats.org/drawingml/2006/main">
            <a:r>
              <a:t>Model how to acknowledge uncertainty without weakening a claim supported by evidence.</a:t>
            </a:r>
          </a:p>
          <a:p xmlns:a="http://schemas.openxmlformats.org/drawingml/2006/main">
            <a:r>
              <a:t/>
            </a:r>
          </a:p>
          <a:p xmlns:a="http://schemas.openxmlformats.org/drawingml/2006/main">
            <a:r>
              <a:t>[Sources]</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Technology 7–8 Syllabus (2023) – Food and agricultural practices content — https://curriculum.nsw.edu.au/learning-areas/tas/technology-7-8-2023/content/stage-4/faa6e5f8d5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destination: yield and quality record; product supply-chain trace; final evaluation, short pitch and next-version proposal.</a:t>
            </a:r>
          </a:p>
          <a:p xmlns:a="http://schemas.openxmlformats.org/drawingml/2006/main">
            <a:r>
              <a:t>Students save a concise exit response in their local folio or on paper.</a:t>
            </a:r>
          </a:p>
          <a:p xmlns:a="http://schemas.openxmlformats.org/drawingml/2006/main">
            <a:r>
              <a:t>Accept a specific unanswered local-control question; do not pressure students to invent the answer.</a:t>
            </a:r>
          </a:p>
          <a:p xmlns:a="http://schemas.openxmlformats.org/drawingml/2006/main">
            <a:r>
              <a:t>Next step: use evidence to complete the final evaluation and next-version proposal.</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Food traceability — https://www.foodstandards.gov.au/business/food-safety/food-traceability</a:t>
            </a:r>
          </a:p>
          <a:p xmlns:a="http://schemas.openxmlformats.org/drawingml/2006/main">
            <a:r>
              <a:t>- Tech making our food supply chains smarter — https://www.csiro.au/en/news/all/articles/2023/april/smarter-food-supply-chains</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8735782c5145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77a0dbe4314817" /><Relationship Type="http://schemas.openxmlformats.org/officeDocument/2006/relationships/slideLayout" Target="/ppt/slideLayouts/slideLayout1.xml" Id="R627143fb73644c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7143fb73644c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a250119f1143c4" /><Relationship Type="http://schemas.openxmlformats.org/officeDocument/2006/relationships/image" Target="/ppt/media/image.png" Id="R6cf81268a59846ed" /><Relationship Type="http://schemas.openxmlformats.org/officeDocument/2006/relationships/notesSlide" Target="/ppt/notesSlides/notesSlide1.xml" Id="R4ffe75c7ca9a45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5e6f24609264700" /><Relationship Type="http://schemas.openxmlformats.org/officeDocument/2006/relationships/notesSlide" Target="/ppt/notesSlides/notesSlide2.xml" Id="Rf8c4442c72454c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8b78b5a76a48e2" /><Relationship Type="http://schemas.openxmlformats.org/officeDocument/2006/relationships/image" Target="/ppt/media/image2.png" Id="R132bbe626b0048e7" /><Relationship Type="http://schemas.openxmlformats.org/officeDocument/2006/relationships/notesSlide" Target="/ppt/notesSlides/notesSlide3.xml" Id="R4a4afcd7eeee49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0641368c33c492b" /><Relationship Type="http://schemas.openxmlformats.org/officeDocument/2006/relationships/image" Target="/ppt/media/image3.png" Id="Rfd2f5cb656404adc" /><Relationship Type="http://schemas.openxmlformats.org/officeDocument/2006/relationships/notesSlide" Target="/ppt/notesSlides/notesSlide4.xml" Id="Rf41d13588c9a4f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038d81df28a4a75" /><Relationship Type="http://schemas.openxmlformats.org/officeDocument/2006/relationships/image" Target="/ppt/media/image4.png" Id="R31de8b6052e8476d" /><Relationship Type="http://schemas.openxmlformats.org/officeDocument/2006/relationships/notesSlide" Target="/ppt/notesSlides/notesSlide5.xml" Id="R244c213f774643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946a6fc9f24025" /><Relationship Type="http://schemas.openxmlformats.org/officeDocument/2006/relationships/notesSlide" Target="/ppt/notesSlides/notesSlide6.xml" Id="R016f30a816b743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4f8ffbf09e4a5b" /><Relationship Type="http://schemas.openxmlformats.org/officeDocument/2006/relationships/notesSlide" Target="/ppt/notesSlides/notesSlide7.xml" Id="R56a77f8666724a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017023b2484232" /><Relationship Type="http://schemas.openxmlformats.org/officeDocument/2006/relationships/notesSlide" Target="/ppt/notesSlides/notesSlide8.xml" Id="R0976afa52e8b4efc" /></Relationships>
</file>

<file path=ppt/slides/slide1.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pic>
        <p:nvPicPr>
          <p:cNvPr id="9" name="" descr="A student presents beside an uneven crop box, an evidence board and a revised design sketch while a peer asks a question."/>
          <p:cNvPicPr>
            <a:picLocks xmlns:a="http://schemas.openxmlformats.org/drawingml/2006/main" noChangeAspect="1"/>
          </p:cNvPicPr>
          <p:nvPr/>
        </p:nvPicPr>
        <p:blipFill>
          <a:blip xmlns:r="http://schemas.openxmlformats.org/officeDocument/2006/relationships" xmlns:a="http://schemas.openxmlformats.org/drawingml/2006/main" r:embed="R6cf81268a59846ed"/>
          <a:srcRect xmlns:a="http://schemas.openxmlformats.org/drawingml/2006/main" l="24074" t="0" r="24074"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oundRect">
            <a:avLst/>
          </a:prstGeom>
        </p:spPr>
      </p:pic>
      <p:sp>
        <p:nvSpPr>
          <p:cNvPr id="2" name="">
            <a:extLst xmlns:a="http://schemas.openxmlformats.org/drawingml/2006/main">
              <a:ext uri="{FF2B5EF4-FFF2-40B4-BE49-F238E27FC236}">
                <a16:creationId xmlns:a16="http://schemas.microsoft.com/office/drawing/2014/main" id="{13749202-FB05-4B24-94CF-E15FDA401130}"/>
              </a:ext>
            </a:extLst>
          </p:cNvPr>
          <p:cNvSpPr>
            <a:spLocks xmlns:a="http://schemas.openxmlformats.org/drawingml/2006/main" noGrp="1"/>
          </p:cNvSpPr>
          <p:nvPr/>
        </p:nvSpPr>
        <p:spPr>
          <a:xfrm xmlns:a="http://schemas.openxmlformats.org/drawingml/2006/main">
            <a:off x="0" y="0"/>
            <a:ext cx="7381875" cy="6858000"/>
          </a:xfrm>
          <a:prstGeom xmlns:a="http://schemas.openxmlformats.org/drawingml/2006/main" prst="rect">
            <a:avLst/>
          </a:prstGeom>
          <a:solidFill xmlns:a="http://schemas.openxmlformats.org/drawingml/2006/main">
            <a:srgbClr val="183B2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F49710A-35C1-4849-9378-9F04A2BF358B}"/>
              </a:ext>
            </a:extLst>
          </p:cNvPr>
          <p:cNvSpPr>
            <a:spLocks xmlns:a="http://schemas.openxmlformats.org/drawingml/2006/main" noGrp="1"/>
          </p:cNvSpPr>
          <p:nvPr/>
        </p:nvSpPr>
        <p:spPr>
          <a:xfrm xmlns:a="http://schemas.openxmlformats.org/drawingml/2006/main">
            <a:off x="609600" y="781050"/>
            <a:ext cx="914400" cy="952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8730F6-360F-41C5-9B70-3697875CFA2E}"/>
              </a:ext>
            </a:extLst>
          </p:cNvPr>
          <p:cNvSpPr>
            <a:spLocks xmlns:a="http://schemas.openxmlformats.org/drawingml/2006/main" noGrp="1"/>
          </p:cNvSpPr>
          <p:nvPr/>
        </p:nvSpPr>
        <p:spPr>
          <a:xfrm xmlns:a="http://schemas.openxmlformats.org/drawingml/2006/main">
            <a:off x="609600" y="11239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FFF4BA"/>
                </a:solidFill>
              </a:defRPr>
            </a:pPr>
            <a:r>
              <a:rPr sz="1350" b="1" i="0">
                <a:solidFill>
                  <a:srgbClr val="FFF4BA"/>
                </a:solidFill>
              </a:rPr>
              <a:t>MODULE 10</a:t>
            </a:r>
          </a:p>
        </p:txBody>
      </p:sp>
      <p:sp>
        <p:nvSpPr>
          <p:cNvPr id="5" name="">
            <a:extLst xmlns:a="http://schemas.openxmlformats.org/drawingml/2006/main">
              <a:ext uri="{FF2B5EF4-FFF2-40B4-BE49-F238E27FC236}">
                <a16:creationId xmlns:a16="http://schemas.microsoft.com/office/drawing/2014/main" id="{1AB86340-9AB2-4C04-892F-2FE7BF248AB4}"/>
              </a:ext>
            </a:extLst>
          </p:cNvPr>
          <p:cNvSpPr>
            <a:spLocks xmlns:a="http://schemas.openxmlformats.org/drawingml/2006/main" noGrp="1"/>
          </p:cNvSpPr>
          <p:nvPr/>
        </p:nvSpPr>
        <p:spPr>
          <a:xfrm xmlns:a="http://schemas.openxmlformats.org/drawingml/2006/main">
            <a:off x="609600" y="1695450"/>
            <a:ext cx="5715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i="0">
                <a:solidFill>
                  <a:srgbClr val="FFFFFF"/>
                </a:solidFill>
              </a:defRPr>
            </a:pPr>
            <a:r>
              <a:rPr sz="4050" b="1" i="0">
                <a:solidFill>
                  <a:srgbClr val="FFFFFF"/>
                </a:solidFill>
              </a:rPr>
              <a:t>Harvest, Judge and Share</a:t>
            </a:r>
          </a:p>
        </p:txBody>
      </p:sp>
      <p:sp>
        <p:nvSpPr>
          <p:cNvPr id="6" name="">
            <a:extLst xmlns:a="http://schemas.openxmlformats.org/drawingml/2006/main">
              <a:ext uri="{FF2B5EF4-FFF2-40B4-BE49-F238E27FC236}">
                <a16:creationId xmlns:a16="http://schemas.microsoft.com/office/drawing/2014/main" id="{99A041F9-41CB-4E39-AB45-DB648CB99DD3}"/>
              </a:ext>
            </a:extLst>
          </p:cNvPr>
          <p:cNvSpPr>
            <a:spLocks xmlns:a="http://schemas.openxmlformats.org/drawingml/2006/main" noGrp="1"/>
          </p:cNvSpPr>
          <p:nvPr/>
        </p:nvSpPr>
        <p:spPr>
          <a:xfrm xmlns:a="http://schemas.openxmlformats.org/drawingml/2006/main">
            <a:off x="609600" y="3486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EAF2E6"/>
                </a:solidFill>
              </a:defRPr>
            </a:pPr>
            <a:r>
              <a:rPr sz="1875" b="0" i="0">
                <a:solidFill>
                  <a:srgbClr val="EAF2E6"/>
                </a:solidFill>
              </a:rPr>
              <a:t>Trace the product, evaluate the system and pitch a stronger next version</a:t>
            </a:r>
          </a:p>
        </p:txBody>
      </p:sp>
      <p:sp>
        <p:nvSpPr>
          <p:cNvPr id="7" name="">
            <a:extLst xmlns:a="http://schemas.openxmlformats.org/drawingml/2006/main">
              <a:ext uri="{FF2B5EF4-FFF2-40B4-BE49-F238E27FC236}">
                <a16:creationId xmlns:a16="http://schemas.microsoft.com/office/drawing/2014/main" id="{B252C3E8-0DBB-404C-BE3A-D62046E9CCE2}"/>
              </a:ext>
            </a:extLst>
          </p:cNvPr>
          <p:cNvSpPr>
            <a:spLocks xmlns:a="http://schemas.openxmlformats.org/drawingml/2006/main" noGrp="1"/>
          </p:cNvSpPr>
          <p:nvPr/>
        </p:nvSpPr>
        <p:spPr>
          <a:xfrm xmlns:a="http://schemas.openxmlformats.org/drawingml/2006/main">
            <a:off x="609600" y="58102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C8D8C6"/>
                </a:solidFill>
              </a:defRPr>
            </a:pPr>
            <a:r>
              <a:rPr sz="1125" b="1" i="0">
                <a:solidFill>
                  <a:srgbClr val="C8D8C6"/>
                </a:solidFill>
              </a:rPr>
              <a:t>Teacher-led classroom presentation</a:t>
            </a:r>
          </a:p>
        </p:txBody>
      </p:sp>
    </p:spTree>
    <p:extLst>
      <p:ext uri="{BB962C8B-B14F-4D97-AF65-F5344CB8AC3E}">
        <p14:creationId xmlns:p14="http://schemas.microsoft.com/office/powerpoint/2010/main" val="610439312"/>
      </p:ext>
    </p:extLst>
  </p:cSld>
</p:sld>
</file>

<file path=ppt/slides/slide2.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1B8F4CF4-5044-41D3-826C-3CA86A393C7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362E7A-8A61-4F27-BBA9-9E12B13F732C}"/>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TODAY’S LEARNING PATH</a:t>
            </a:r>
          </a:p>
        </p:txBody>
      </p:sp>
      <p:sp>
        <p:nvSpPr>
          <p:cNvPr id="3" name="">
            <a:extLst xmlns:a="http://schemas.openxmlformats.org/drawingml/2006/main">
              <a:ext uri="{FF2B5EF4-FFF2-40B4-BE49-F238E27FC236}">
                <a16:creationId xmlns:a16="http://schemas.microsoft.com/office/drawing/2014/main" id="{7AE51379-1F1E-45A4-A240-D8CB2E2F8165}"/>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10  •  HARVEST, JUDGE AND SHARE</a:t>
            </a:r>
          </a:p>
        </p:txBody>
      </p:sp>
      <p:sp>
        <p:nvSpPr>
          <p:cNvPr id="4" name="">
            <a:extLst xmlns:a="http://schemas.openxmlformats.org/drawingml/2006/main">
              <a:ext uri="{FF2B5EF4-FFF2-40B4-BE49-F238E27FC236}">
                <a16:creationId xmlns:a16="http://schemas.microsoft.com/office/drawing/2014/main" id="{41A3CAAD-D09C-481E-95B3-C8BE2D28EE1A}"/>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02</a:t>
            </a:r>
          </a:p>
        </p:txBody>
      </p:sp>
      <p:sp>
        <p:nvSpPr>
          <p:cNvPr id="5" name="">
            <a:extLst xmlns:a="http://schemas.openxmlformats.org/drawingml/2006/main">
              <a:ext uri="{FF2B5EF4-FFF2-40B4-BE49-F238E27FC236}">
                <a16:creationId xmlns:a16="http://schemas.microsoft.com/office/drawing/2014/main" id="{25EB2688-6FBD-41E0-AE15-248E1EE652F8}"/>
              </a:ext>
            </a:extLst>
          </p:cNvPr>
          <p:cNvSpPr>
            <a:spLocks xmlns:a="http://schemas.openxmlformats.org/drawingml/2006/main" noGrp="1"/>
          </p:cNvSpPr>
          <p:nvPr/>
        </p:nvSpPr>
        <p:spPr>
          <a:xfrm xmlns:a="http://schemas.openxmlformats.org/drawingml/2006/main">
            <a:off x="590550" y="800100"/>
            <a:ext cx="638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Where are we going?</a:t>
            </a:r>
          </a:p>
        </p:txBody>
      </p:sp>
      <p:sp>
        <p:nvSpPr>
          <p:cNvPr id="6" name="">
            <a:extLst xmlns:a="http://schemas.openxmlformats.org/drawingml/2006/main">
              <a:ext uri="{FF2B5EF4-FFF2-40B4-BE49-F238E27FC236}">
                <a16:creationId xmlns:a16="http://schemas.microsoft.com/office/drawing/2014/main" id="{6D77F9E2-0795-4BC5-9363-6002A3A1F205}"/>
              </a:ext>
            </a:extLst>
          </p:cNvPr>
          <p:cNvSpPr>
            <a:spLocks xmlns:a="http://schemas.openxmlformats.org/drawingml/2006/main" noGrp="1"/>
          </p:cNvSpPr>
          <p:nvPr/>
        </p:nvSpPr>
        <p:spPr>
          <a:xfrm xmlns:a="http://schemas.openxmlformats.org/drawingml/2006/main">
            <a:off x="590550" y="18097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F91CE64E-F641-4888-AAD0-ECB531B7EFBB}"/>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0788B5F-FA4C-4312-94CD-A39A70E76ECE}"/>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9" name="">
            <a:extLst xmlns:a="http://schemas.openxmlformats.org/drawingml/2006/main">
              <a:ext uri="{FF2B5EF4-FFF2-40B4-BE49-F238E27FC236}">
                <a16:creationId xmlns:a16="http://schemas.microsoft.com/office/drawing/2014/main" id="{2CDC3CFC-27F3-46A3-B34D-3B7DC1854182}"/>
              </a:ext>
            </a:extLst>
          </p:cNvPr>
          <p:cNvSpPr>
            <a:spLocks xmlns:a="http://schemas.openxmlformats.org/drawingml/2006/main" noGrp="1"/>
          </p:cNvSpPr>
          <p:nvPr/>
        </p:nvSpPr>
        <p:spPr>
          <a:xfrm xmlns:a="http://schemas.openxmlformats.org/drawingml/2006/main">
            <a:off x="1466850" y="19716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Harvest and trace the product</a:t>
            </a:r>
          </a:p>
        </p:txBody>
      </p:sp>
      <p:sp>
        <p:nvSpPr>
          <p:cNvPr id="10" name="">
            <a:extLst xmlns:a="http://schemas.openxmlformats.org/drawingml/2006/main">
              <a:ext uri="{FF2B5EF4-FFF2-40B4-BE49-F238E27FC236}">
                <a16:creationId xmlns:a16="http://schemas.microsoft.com/office/drawing/2014/main" id="{9CEC9730-9514-41A2-BAEE-AB0A5504F6F7}"/>
              </a:ext>
            </a:extLst>
          </p:cNvPr>
          <p:cNvSpPr>
            <a:spLocks xmlns:a="http://schemas.openxmlformats.org/drawingml/2006/main" noGrp="1"/>
          </p:cNvSpPr>
          <p:nvPr/>
        </p:nvSpPr>
        <p:spPr>
          <a:xfrm xmlns:a="http://schemas.openxmlformats.org/drawingml/2006/main">
            <a:off x="590550" y="30289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1" name="">
            <a:extLst xmlns:a="http://schemas.openxmlformats.org/drawingml/2006/main">
              <a:ext uri="{FF2B5EF4-FFF2-40B4-BE49-F238E27FC236}">
                <a16:creationId xmlns:a16="http://schemas.microsoft.com/office/drawing/2014/main" id="{040978DD-4F3E-4827-AE93-0B05CE781E0C}"/>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D8F593B-05B3-4F5E-930F-56920E88DAF1}"/>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2</a:t>
            </a:r>
          </a:p>
        </p:txBody>
      </p:sp>
      <p:sp>
        <p:nvSpPr>
          <p:cNvPr id="13" name="">
            <a:extLst xmlns:a="http://schemas.openxmlformats.org/drawingml/2006/main">
              <a:ext uri="{FF2B5EF4-FFF2-40B4-BE49-F238E27FC236}">
                <a16:creationId xmlns:a16="http://schemas.microsoft.com/office/drawing/2014/main" id="{3B653746-A5A0-41E7-9108-E32BC850C10B}"/>
              </a:ext>
            </a:extLst>
          </p:cNvPr>
          <p:cNvSpPr>
            <a:spLocks xmlns:a="http://schemas.openxmlformats.org/drawingml/2006/main" noGrp="1"/>
          </p:cNvSpPr>
          <p:nvPr/>
        </p:nvSpPr>
        <p:spPr>
          <a:xfrm xmlns:a="http://schemas.openxmlformats.org/drawingml/2006/main">
            <a:off x="1466850" y="31908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Judge quality with evidence</a:t>
            </a:r>
          </a:p>
        </p:txBody>
      </p:sp>
      <p:sp>
        <p:nvSpPr>
          <p:cNvPr id="14" name="">
            <a:extLst xmlns:a="http://schemas.openxmlformats.org/drawingml/2006/main">
              <a:ext uri="{FF2B5EF4-FFF2-40B4-BE49-F238E27FC236}">
                <a16:creationId xmlns:a16="http://schemas.microsoft.com/office/drawing/2014/main" id="{EB7E51AE-2FA5-4A74-BB9D-EEBBECC25AE8}"/>
              </a:ext>
            </a:extLst>
          </p:cNvPr>
          <p:cNvSpPr>
            <a:spLocks xmlns:a="http://schemas.openxmlformats.org/drawingml/2006/main" noGrp="1"/>
          </p:cNvSpPr>
          <p:nvPr/>
        </p:nvSpPr>
        <p:spPr>
          <a:xfrm xmlns:a="http://schemas.openxmlformats.org/drawingml/2006/main">
            <a:off x="590550" y="42481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5" name="">
            <a:extLst xmlns:a="http://schemas.openxmlformats.org/drawingml/2006/main">
              <a:ext uri="{FF2B5EF4-FFF2-40B4-BE49-F238E27FC236}">
                <a16:creationId xmlns:a16="http://schemas.microsoft.com/office/drawing/2014/main" id="{DF2E6782-9AE4-4FF5-B6B4-45A180BF1030}"/>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C5E700A-63CF-411A-9831-3142311C853F}"/>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3</a:t>
            </a:r>
          </a:p>
        </p:txBody>
      </p:sp>
      <p:sp>
        <p:nvSpPr>
          <p:cNvPr id="17" name="">
            <a:extLst xmlns:a="http://schemas.openxmlformats.org/drawingml/2006/main">
              <a:ext uri="{FF2B5EF4-FFF2-40B4-BE49-F238E27FC236}">
                <a16:creationId xmlns:a16="http://schemas.microsoft.com/office/drawing/2014/main" id="{BEF2D17E-BF1A-4562-913D-6FE8BF21C70D}"/>
              </a:ext>
            </a:extLst>
          </p:cNvPr>
          <p:cNvSpPr>
            <a:spLocks xmlns:a="http://schemas.openxmlformats.org/drawingml/2006/main" noGrp="1"/>
          </p:cNvSpPr>
          <p:nvPr/>
        </p:nvSpPr>
        <p:spPr>
          <a:xfrm xmlns:a="http://schemas.openxmlformats.org/drawingml/2006/main">
            <a:off x="1466850" y="44100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Pitch the next version</a:t>
            </a:r>
          </a:p>
        </p:txBody>
      </p:sp>
      <p:sp>
        <p:nvSpPr>
          <p:cNvPr id="18" name="">
            <a:extLst xmlns:a="http://schemas.openxmlformats.org/drawingml/2006/main">
              <a:ext uri="{FF2B5EF4-FFF2-40B4-BE49-F238E27FC236}">
                <a16:creationId xmlns:a16="http://schemas.microsoft.com/office/drawing/2014/main" id="{FFD3B524-69CB-425E-AF8C-B981D2939CE4}"/>
              </a:ext>
            </a:extLst>
          </p:cNvPr>
          <p:cNvSpPr>
            <a:spLocks xmlns:a="http://schemas.openxmlformats.org/drawingml/2006/main" noGrp="1"/>
          </p:cNvSpPr>
          <p:nvPr/>
        </p:nvSpPr>
        <p:spPr>
          <a:xfrm xmlns:a="http://schemas.openxmlformats.org/drawingml/2006/main">
            <a:off x="7905750" y="1809750"/>
            <a:ext cx="3619500" cy="3333750"/>
          </a:xfrm>
          <a:prstGeom xmlns:a="http://schemas.openxmlformats.org/drawingml/2006/main" prst="roundRect">
            <a:avLst>
              <a:gd name="adj" fmla="val 3429"/>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470F1D0-BE70-4933-B347-3AE7EEB8F918}"/>
              </a:ext>
            </a:extLst>
          </p:cNvPr>
          <p:cNvSpPr>
            <a:spLocks xmlns:a="http://schemas.openxmlformats.org/drawingml/2006/main" noGrp="1"/>
          </p:cNvSpPr>
          <p:nvPr/>
        </p:nvSpPr>
        <p:spPr>
          <a:xfrm xmlns:a="http://schemas.openxmlformats.org/drawingml/2006/main">
            <a:off x="8239125" y="2133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FFF4BA"/>
                </a:solidFill>
              </a:defRPr>
            </a:pPr>
            <a:r>
              <a:rPr sz="1125" b="1" i="0">
                <a:solidFill>
                  <a:srgbClr val="FFF4BA"/>
                </a:solidFill>
              </a:rPr>
              <a:t>RETRIEVAL WARM-UP</a:t>
            </a:r>
          </a:p>
        </p:txBody>
      </p:sp>
      <p:sp>
        <p:nvSpPr>
          <p:cNvPr id="20" name="">
            <a:extLst xmlns:a="http://schemas.openxmlformats.org/drawingml/2006/main">
              <a:ext uri="{FF2B5EF4-FFF2-40B4-BE49-F238E27FC236}">
                <a16:creationId xmlns:a16="http://schemas.microsoft.com/office/drawing/2014/main" id="{30ECE6A8-8962-4893-A312-D5BEF2DB0F2A}"/>
              </a:ext>
            </a:extLst>
          </p:cNvPr>
          <p:cNvSpPr>
            <a:spLocks xmlns:a="http://schemas.openxmlformats.org/drawingml/2006/main" noGrp="1"/>
          </p:cNvSpPr>
          <p:nvPr/>
        </p:nvSpPr>
        <p:spPr>
          <a:xfrm xmlns:a="http://schemas.openxmlformats.org/drawingml/2006/main">
            <a:off x="8239125" y="261937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i="0">
                <a:solidFill>
                  <a:srgbClr val="FFFFFF"/>
                </a:solidFill>
              </a:defRPr>
            </a:pPr>
            <a:r>
              <a:rPr sz="2100" b="1" i="0">
                <a:solidFill>
                  <a:srgbClr val="FFFFFF"/>
                </a:solidFill>
              </a:rPr>
              <a:t>What do you already know?</a:t>
            </a:r>
          </a:p>
        </p:txBody>
      </p:sp>
      <p:sp>
        <p:nvSpPr>
          <p:cNvPr id="21" name="">
            <a:extLst xmlns:a="http://schemas.openxmlformats.org/drawingml/2006/main">
              <a:ext uri="{FF2B5EF4-FFF2-40B4-BE49-F238E27FC236}">
                <a16:creationId xmlns:a16="http://schemas.microsoft.com/office/drawing/2014/main" id="{54722764-7D09-4DEE-95E7-F095E13CE646}"/>
              </a:ext>
            </a:extLst>
          </p:cNvPr>
          <p:cNvSpPr>
            <a:spLocks xmlns:a="http://schemas.openxmlformats.org/drawingml/2006/main" noGrp="1"/>
          </p:cNvSpPr>
          <p:nvPr/>
        </p:nvSpPr>
        <p:spPr>
          <a:xfrm xmlns:a="http://schemas.openxmlformats.org/drawingml/2006/main">
            <a:off x="8239125" y="342900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EAF2E6"/>
                </a:solidFill>
              </a:defRPr>
            </a:pPr>
            <a:r>
              <a:rPr sz="1500" b="0" i="0">
                <a:solidFill>
                  <a:srgbClr val="EAF2E6"/>
                </a:solidFill>
              </a:rPr>
              <a:t>1. Define one key word from the module.</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2. Predict one practical or design decision.</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3. Name one question you have.</a:t>
            </a:r>
          </a:p>
        </p:txBody>
      </p:sp>
    </p:spTree>
    <p:extLst>
      <p:ext uri="{BB962C8B-B14F-4D97-AF65-F5344CB8AC3E}">
        <p14:creationId xmlns:p14="http://schemas.microsoft.com/office/powerpoint/2010/main" val="1931865444"/>
      </p:ext>
    </p:extLst>
  </p:cSld>
</p:sld>
</file>

<file path=ppt/slides/slide3.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BBA6908-9D20-4316-B56B-FD722C3D2A4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3C275F-C35F-429D-AD2F-5064346B002E}"/>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10.1 HARVEST AND TRACE THE PRODUCT</a:t>
            </a:r>
          </a:p>
        </p:txBody>
      </p:sp>
      <p:sp>
        <p:nvSpPr>
          <p:cNvPr id="3" name="">
            <a:extLst xmlns:a="http://schemas.openxmlformats.org/drawingml/2006/main">
              <a:ext uri="{FF2B5EF4-FFF2-40B4-BE49-F238E27FC236}">
                <a16:creationId xmlns:a16="http://schemas.microsoft.com/office/drawing/2014/main" id="{5ADD31E4-6B5E-40D0-8F8F-B1C028966B13}"/>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10  •  HARVEST, JUDGE AND SHARE</a:t>
            </a:r>
          </a:p>
        </p:txBody>
      </p:sp>
      <p:sp>
        <p:nvSpPr>
          <p:cNvPr id="4" name="">
            <a:extLst xmlns:a="http://schemas.openxmlformats.org/drawingml/2006/main">
              <a:ext uri="{FF2B5EF4-FFF2-40B4-BE49-F238E27FC236}">
                <a16:creationId xmlns:a16="http://schemas.microsoft.com/office/drawing/2014/main" id="{B97C7D5C-5D00-4334-AB77-70359E892B3F}"/>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03</a:t>
            </a:r>
          </a:p>
        </p:txBody>
      </p:sp>
      <p:sp>
        <p:nvSpPr>
          <p:cNvPr id="5" name="">
            <a:extLst xmlns:a="http://schemas.openxmlformats.org/drawingml/2006/main">
              <a:ext uri="{FF2B5EF4-FFF2-40B4-BE49-F238E27FC236}">
                <a16:creationId xmlns:a16="http://schemas.microsoft.com/office/drawing/2014/main" id="{8996919A-8990-46C3-BC1D-525BF1491AB4}"/>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Harvest and trace the product</a:t>
            </a:r>
          </a:p>
        </p:txBody>
      </p:sp>
      <p:sp>
        <p:nvSpPr>
          <p:cNvPr id="6" name="">
            <a:extLst xmlns:a="http://schemas.openxmlformats.org/drawingml/2006/main">
              <a:ext uri="{FF2B5EF4-FFF2-40B4-BE49-F238E27FC236}">
                <a16:creationId xmlns:a16="http://schemas.microsoft.com/office/drawing/2014/main" id="{6AE2DDD0-1F7D-4D50-877B-8BD26CEB6635}"/>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AE84C2D5-BAF0-4AAC-8C90-0DD811C528CD}"/>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E187D1D-DE2C-4FC6-AC99-25B530B1BBED}"/>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Current FSANZ traceability uses supplier and customer details, dates, quantities and lot or batch identifiers.</a:t>
            </a:r>
          </a:p>
        </p:txBody>
      </p:sp>
      <p:sp>
        <p:nvSpPr>
          <p:cNvPr id="9" name="">
            <a:extLst xmlns:a="http://schemas.openxmlformats.org/drawingml/2006/main">
              <a:ext uri="{FF2B5EF4-FFF2-40B4-BE49-F238E27FC236}">
                <a16:creationId xmlns:a16="http://schemas.microsoft.com/office/drawing/2014/main" id="{0649D47F-57A1-43D5-BC52-0ED2D4C7D714}"/>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574CCE1-E156-4BBE-AAE7-29110854C2A8}"/>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CSIRO reports emerging sensor labels that record fresh-produce temperature and location.</a:t>
            </a:r>
          </a:p>
        </p:txBody>
      </p:sp>
      <p:sp>
        <p:nvSpPr>
          <p:cNvPr id="11" name="">
            <a:extLst xmlns:a="http://schemas.openxmlformats.org/drawingml/2006/main">
              <a:ext uri="{FF2B5EF4-FFF2-40B4-BE49-F238E27FC236}">
                <a16:creationId xmlns:a16="http://schemas.microsoft.com/office/drawing/2014/main" id="{788726F0-1D1C-4A7E-BDFD-30F657A90658}"/>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CBD7A15-22D1-4439-8578-A2E87E19F73A}"/>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Records trace identity and movement; sensors expose events, but neither guarantees quality.</a:t>
            </a:r>
          </a:p>
        </p:txBody>
      </p:sp>
      <p:pic>
        <p:nvPicPr>
          <p:cNvPr id="30" name="" descr="A student records a leafy crop sample outdoors beside photo cards showing growing, collection, packing, transport and retail stages."/>
          <p:cNvPicPr>
            <a:picLocks xmlns:a="http://schemas.openxmlformats.org/drawingml/2006/main" noChangeAspect="1"/>
          </p:cNvPicPr>
          <p:nvPr/>
        </p:nvPicPr>
        <p:blipFill>
          <a:blip xmlns:r="http://schemas.openxmlformats.org/officeDocument/2006/relationships" xmlns:a="http://schemas.openxmlformats.org/drawingml/2006/main" r:embed="R132bbe626b0048e7"/>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15DE23A0-5D6C-4B7D-A748-52AAC5646927}"/>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519B34D-C6B4-4B39-9A8A-869A6CAD7D1D}"/>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“Every agricultural product follows the same supply-chain stages and ends as food.”</a:t>
            </a:r>
          </a:p>
        </p:txBody>
      </p:sp>
    </p:spTree>
    <p:extLst>
      <p:ext uri="{BB962C8B-B14F-4D97-AF65-F5344CB8AC3E}">
        <p14:creationId xmlns:p14="http://schemas.microsoft.com/office/powerpoint/2010/main" val="538513134"/>
      </p:ext>
    </p:extLst>
  </p:cSld>
</p:sld>
</file>

<file path=ppt/slides/slide4.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D115EBC-1626-4BE2-BF34-637DDED2CE8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1F4BFA-2790-4C1C-B857-868E53FFB8D0}"/>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10.2 JUDGE QUALITY WITH EVIDENCE</a:t>
            </a:r>
          </a:p>
        </p:txBody>
      </p:sp>
      <p:sp>
        <p:nvSpPr>
          <p:cNvPr id="3" name="">
            <a:extLst xmlns:a="http://schemas.openxmlformats.org/drawingml/2006/main">
              <a:ext uri="{FF2B5EF4-FFF2-40B4-BE49-F238E27FC236}">
                <a16:creationId xmlns:a16="http://schemas.microsoft.com/office/drawing/2014/main" id="{C5257280-D021-4942-8A07-C61FB1C31B19}"/>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10  •  HARVEST, JUDGE AND SHARE</a:t>
            </a:r>
          </a:p>
        </p:txBody>
      </p:sp>
      <p:sp>
        <p:nvSpPr>
          <p:cNvPr id="4" name="">
            <a:extLst xmlns:a="http://schemas.openxmlformats.org/drawingml/2006/main">
              <a:ext uri="{FF2B5EF4-FFF2-40B4-BE49-F238E27FC236}">
                <a16:creationId xmlns:a16="http://schemas.microsoft.com/office/drawing/2014/main" id="{E4CE135F-1748-46A3-9511-44059FBB59B2}"/>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04</a:t>
            </a:r>
          </a:p>
        </p:txBody>
      </p:sp>
      <p:sp>
        <p:nvSpPr>
          <p:cNvPr id="5" name="">
            <a:extLst xmlns:a="http://schemas.openxmlformats.org/drawingml/2006/main">
              <a:ext uri="{FF2B5EF4-FFF2-40B4-BE49-F238E27FC236}">
                <a16:creationId xmlns:a16="http://schemas.microsoft.com/office/drawing/2014/main" id="{FF115B55-C74B-444C-ADDC-901D77CE760E}"/>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Judge quality with evidence</a:t>
            </a:r>
          </a:p>
        </p:txBody>
      </p:sp>
      <p:sp>
        <p:nvSpPr>
          <p:cNvPr id="6" name="">
            <a:extLst xmlns:a="http://schemas.openxmlformats.org/drawingml/2006/main">
              <a:ext uri="{FF2B5EF4-FFF2-40B4-BE49-F238E27FC236}">
                <a16:creationId xmlns:a16="http://schemas.microsoft.com/office/drawing/2014/main" id="{C03FD588-8FF0-4079-90FB-3EB8388BDF70}"/>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0D08901F-B3EB-4016-95B2-86824A4DB77B}"/>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59799C0-E879-4CD9-BC82-09FE0FFDA5C6}"/>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Judge original criteria using several relevant evidence types, separate product quality from system quality and state limitations honestly.</a:t>
            </a:r>
          </a:p>
        </p:txBody>
      </p:sp>
      <p:sp>
        <p:nvSpPr>
          <p:cNvPr id="9" name="">
            <a:extLst xmlns:a="http://schemas.openxmlformats.org/drawingml/2006/main">
              <a:ext uri="{FF2B5EF4-FFF2-40B4-BE49-F238E27FC236}">
                <a16:creationId xmlns:a16="http://schemas.microsoft.com/office/drawing/2014/main" id="{E1FF28D2-ADEE-4CFB-963D-55DEEA77CECB}"/>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FAB91E1-C68D-4636-A4AE-40A5FE5EC432}"/>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Yield is one possible product measure; system quality requires evidence against the full design criteria and context.</a:t>
            </a:r>
          </a:p>
        </p:txBody>
      </p:sp>
      <p:sp>
        <p:nvSpPr>
          <p:cNvPr id="11" name="">
            <a:extLst xmlns:a="http://schemas.openxmlformats.org/drawingml/2006/main">
              <a:ext uri="{FF2B5EF4-FFF2-40B4-BE49-F238E27FC236}">
                <a16:creationId xmlns:a16="http://schemas.microsoft.com/office/drawing/2014/main" id="{C945DED4-4BED-4D60-8FAF-49403E5A9D2E}"/>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726D5EE-4B8A-475A-9992-86A33529097F}"/>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How well a product or system is fit for its intended purpose.</a:t>
            </a:r>
          </a:p>
        </p:txBody>
      </p:sp>
      <p:pic>
        <p:nvPicPr>
          <p:cNvPr id="30" name="" descr="A student matches crop evidence and water-system test photographs to a central criteria grid using coloured counters."/>
          <p:cNvPicPr>
            <a:picLocks xmlns:a="http://schemas.openxmlformats.org/drawingml/2006/main" noChangeAspect="1"/>
          </p:cNvPicPr>
          <p:nvPr/>
        </p:nvPicPr>
        <p:blipFill>
          <a:blip xmlns:r="http://schemas.openxmlformats.org/officeDocument/2006/relationships" xmlns:a="http://schemas.openxmlformats.org/drawingml/2006/main" r:embed="Rfd2f5cb656404adc"/>
          <a:stretch xmlns:a="http://schemas.openxmlformats.org/drawingml/2006/main"/>
        </p:blipFill>
        <p:spPr>
          <a:xfrm xmlns:a="http://schemas.openxmlformats.org/drawingml/2006/main">
            <a:off x="7667625" y="1838325"/>
            <a:ext cx="3857625" cy="222885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7FB14B24-619E-4F5C-BE6E-59540C6AE3E6}"/>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3ECA5EF-526F-4495-874E-C1F21D7DF077}"/>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“The crop with the largest yield automatically has the highest-quality production system.”</a:t>
            </a:r>
          </a:p>
        </p:txBody>
      </p:sp>
    </p:spTree>
    <p:extLst>
      <p:ext uri="{BB962C8B-B14F-4D97-AF65-F5344CB8AC3E}">
        <p14:creationId xmlns:p14="http://schemas.microsoft.com/office/powerpoint/2010/main" val="1240067125"/>
      </p:ext>
    </p:extLst>
  </p:cSld>
</p:sld>
</file>

<file path=ppt/slides/slide5.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ECB8BF3-EB95-4EDC-8244-D9581D3F89B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5CFED67-6BB4-47BF-ACB4-C56B380FC2C4}"/>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10.3 PITCH THE NEXT VERSION</a:t>
            </a:r>
          </a:p>
        </p:txBody>
      </p:sp>
      <p:sp>
        <p:nvSpPr>
          <p:cNvPr id="3" name="">
            <a:extLst xmlns:a="http://schemas.openxmlformats.org/drawingml/2006/main">
              <a:ext uri="{FF2B5EF4-FFF2-40B4-BE49-F238E27FC236}">
                <a16:creationId xmlns:a16="http://schemas.microsoft.com/office/drawing/2014/main" id="{D695197A-C1C5-4DC9-9B2D-0334A3FA51F1}"/>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10  •  HARVEST, JUDGE AND SHARE</a:t>
            </a:r>
          </a:p>
        </p:txBody>
      </p:sp>
      <p:sp>
        <p:nvSpPr>
          <p:cNvPr id="4" name="">
            <a:extLst xmlns:a="http://schemas.openxmlformats.org/drawingml/2006/main">
              <a:ext uri="{FF2B5EF4-FFF2-40B4-BE49-F238E27FC236}">
                <a16:creationId xmlns:a16="http://schemas.microsoft.com/office/drawing/2014/main" id="{9AD5BD9F-BE98-42C1-9F70-600F2EFA0EC5}"/>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05</a:t>
            </a:r>
          </a:p>
        </p:txBody>
      </p:sp>
      <p:sp>
        <p:nvSpPr>
          <p:cNvPr id="5" name="">
            <a:extLst xmlns:a="http://schemas.openxmlformats.org/drawingml/2006/main">
              <a:ext uri="{FF2B5EF4-FFF2-40B4-BE49-F238E27FC236}">
                <a16:creationId xmlns:a16="http://schemas.microsoft.com/office/drawing/2014/main" id="{AF5A20EF-4044-40FE-BD23-575EFE983394}"/>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Pitch the next version</a:t>
            </a:r>
          </a:p>
        </p:txBody>
      </p:sp>
      <p:sp>
        <p:nvSpPr>
          <p:cNvPr id="6" name="">
            <a:extLst xmlns:a="http://schemas.openxmlformats.org/drawingml/2006/main">
              <a:ext uri="{FF2B5EF4-FFF2-40B4-BE49-F238E27FC236}">
                <a16:creationId xmlns:a16="http://schemas.microsoft.com/office/drawing/2014/main" id="{14AEB7D8-D91D-44FC-A7EE-9FF96313F73E}"/>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BE7CBD7D-1175-42FE-8DCC-6A7523AA47C0}"/>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288CC30-2012-4EF8-8568-B3B5FCE41F7D}"/>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strong pitch uses claim, evidence and reasoning.</a:t>
            </a:r>
          </a:p>
        </p:txBody>
      </p:sp>
      <p:sp>
        <p:nvSpPr>
          <p:cNvPr id="9" name="">
            <a:extLst xmlns:a="http://schemas.openxmlformats.org/drawingml/2006/main">
              <a:ext uri="{FF2B5EF4-FFF2-40B4-BE49-F238E27FC236}">
                <a16:creationId xmlns:a16="http://schemas.microsoft.com/office/drawing/2014/main" id="{18F67B5C-A381-4291-A29C-F4B9FF9531D5}"/>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68A5E07-3835-4181-92E1-7CD4FA9BE233}"/>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Credibility comes from relevant evidence, honest limitations and a testable next step.</a:t>
            </a:r>
          </a:p>
        </p:txBody>
      </p:sp>
      <p:sp>
        <p:nvSpPr>
          <p:cNvPr id="11" name="">
            <a:extLst xmlns:a="http://schemas.openxmlformats.org/drawingml/2006/main">
              <a:ext uri="{FF2B5EF4-FFF2-40B4-BE49-F238E27FC236}">
                <a16:creationId xmlns:a16="http://schemas.microsoft.com/office/drawing/2014/main" id="{822ECB45-E82A-4E9E-8B2E-9135F941D7E1}"/>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5060A50-E2E7-4D56-9B95-03AFD65CE696}"/>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concise argument intended to support a design decision or next step.</a:t>
            </a:r>
          </a:p>
        </p:txBody>
      </p:sp>
      <p:pic>
        <p:nvPicPr>
          <p:cNvPr id="30" name="" descr="A student presents beside an uneven crop box, an evidence board and a revised design sketch while a peer asks a question."/>
          <p:cNvPicPr>
            <a:picLocks xmlns:a="http://schemas.openxmlformats.org/drawingml/2006/main" noChangeAspect="1"/>
          </p:cNvPicPr>
          <p:nvPr/>
        </p:nvPicPr>
        <p:blipFill>
          <a:blip xmlns:r="http://schemas.openxmlformats.org/officeDocument/2006/relationships" xmlns:a="http://schemas.openxmlformats.org/drawingml/2006/main" r:embed="R31de8b6052e8476d"/>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223E4838-9D7C-4A1E-9061-19A5054E6F31}"/>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557EA99-DED0-4192-B431-F2A2596F1BFC}"/>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“A persuasive pitch should hide negative results and speak with total certainty.”</a:t>
            </a:r>
          </a:p>
        </p:txBody>
      </p:sp>
    </p:spTree>
    <p:extLst>
      <p:ext uri="{BB962C8B-B14F-4D97-AF65-F5344CB8AC3E}">
        <p14:creationId xmlns:p14="http://schemas.microsoft.com/office/powerpoint/2010/main" val="1421097337"/>
      </p:ext>
    </p:extLst>
  </p:cSld>
</p:sld>
</file>

<file path=ppt/slides/slide6.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AD12FF6-61AD-485F-8D62-B7E94BC1D74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F9E281-A72A-4F9C-A9FF-FD61BAEA633F}"/>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CHECK FOR UNDERSTANDING</a:t>
            </a:r>
          </a:p>
        </p:txBody>
      </p:sp>
      <p:sp>
        <p:nvSpPr>
          <p:cNvPr id="3" name="">
            <a:extLst xmlns:a="http://schemas.openxmlformats.org/drawingml/2006/main">
              <a:ext uri="{FF2B5EF4-FFF2-40B4-BE49-F238E27FC236}">
                <a16:creationId xmlns:a16="http://schemas.microsoft.com/office/drawing/2014/main" id="{EDD68B3D-05E6-412A-A835-A106F1A7E68F}"/>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10  •  HARVEST, JUDGE AND SHARE</a:t>
            </a:r>
          </a:p>
        </p:txBody>
      </p:sp>
      <p:sp>
        <p:nvSpPr>
          <p:cNvPr id="4" name="">
            <a:extLst xmlns:a="http://schemas.openxmlformats.org/drawingml/2006/main">
              <a:ext uri="{FF2B5EF4-FFF2-40B4-BE49-F238E27FC236}">
                <a16:creationId xmlns:a16="http://schemas.microsoft.com/office/drawing/2014/main" id="{A4BA74C2-B673-43CC-9085-16C239FA0FE7}"/>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06</a:t>
            </a:r>
          </a:p>
        </p:txBody>
      </p:sp>
      <p:sp>
        <p:nvSpPr>
          <p:cNvPr id="5" name="">
            <a:extLst xmlns:a="http://schemas.openxmlformats.org/drawingml/2006/main">
              <a:ext uri="{FF2B5EF4-FFF2-40B4-BE49-F238E27FC236}">
                <a16:creationId xmlns:a16="http://schemas.microsoft.com/office/drawing/2014/main" id="{9799D8D8-D12A-4C47-80AE-B42D14199EEC}"/>
              </a:ext>
            </a:extLst>
          </p:cNvPr>
          <p:cNvSpPr>
            <a:spLocks xmlns:a="http://schemas.openxmlformats.org/drawingml/2006/main" noGrp="1"/>
          </p:cNvSpPr>
          <p:nvPr/>
        </p:nvSpPr>
        <p:spPr>
          <a:xfrm xmlns:a="http://schemas.openxmlformats.org/drawingml/2006/main">
            <a:off x="590550" y="78105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000" b="1" i="0">
                <a:solidFill>
                  <a:srgbClr val="FFFFFF"/>
                </a:solidFill>
              </a:defRPr>
            </a:pPr>
            <a:r>
              <a:rPr sz="3000" b="1" i="0">
                <a:solidFill>
                  <a:srgbClr val="FFFFFF"/>
                </a:solidFill>
              </a:rPr>
              <a:t>Stop. Think. Explain.</a:t>
            </a:r>
          </a:p>
        </p:txBody>
      </p:sp>
      <p:sp>
        <p:nvSpPr>
          <p:cNvPr id="6" name="">
            <a:extLst xmlns:a="http://schemas.openxmlformats.org/drawingml/2006/main">
              <a:ext uri="{FF2B5EF4-FFF2-40B4-BE49-F238E27FC236}">
                <a16:creationId xmlns:a16="http://schemas.microsoft.com/office/drawing/2014/main" id="{F5F0212C-CFF6-4B73-9728-4C3D6B670772}"/>
              </a:ext>
            </a:extLst>
          </p:cNvPr>
          <p:cNvSpPr>
            <a:spLocks xmlns:a="http://schemas.openxmlformats.org/drawingml/2006/main" noGrp="1"/>
          </p:cNvSpPr>
          <p:nvPr/>
        </p:nvSpPr>
        <p:spPr>
          <a:xfrm xmlns:a="http://schemas.openxmlformats.org/drawingml/2006/main">
            <a:off x="590550" y="14668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DDE9DB"/>
                </a:solidFill>
              </a:defRPr>
            </a:pPr>
            <a:r>
              <a:rPr sz="1500" b="0" i="0">
                <a:solidFill>
                  <a:srgbClr val="DDE9DB"/>
                </a:solidFill>
              </a:rPr>
              <a:t>Answer silently first, then justify with a partner.</a:t>
            </a:r>
          </a:p>
        </p:txBody>
      </p:sp>
      <p:sp>
        <p:nvSpPr>
          <p:cNvPr id="7" name="">
            <a:extLst xmlns:a="http://schemas.openxmlformats.org/drawingml/2006/main">
              <a:ext uri="{FF2B5EF4-FFF2-40B4-BE49-F238E27FC236}">
                <a16:creationId xmlns:a16="http://schemas.microsoft.com/office/drawing/2014/main" id="{E59FFC74-6E42-4667-AE3C-294F29EF5210}"/>
              </a:ext>
            </a:extLst>
          </p:cNvPr>
          <p:cNvSpPr>
            <a:spLocks xmlns:a="http://schemas.openxmlformats.org/drawingml/2006/main" noGrp="1"/>
          </p:cNvSpPr>
          <p:nvPr/>
        </p:nvSpPr>
        <p:spPr>
          <a:xfrm xmlns:a="http://schemas.openxmlformats.org/drawingml/2006/main">
            <a:off x="590550" y="21907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8" name="">
            <a:extLst xmlns:a="http://schemas.openxmlformats.org/drawingml/2006/main">
              <a:ext uri="{FF2B5EF4-FFF2-40B4-BE49-F238E27FC236}">
                <a16:creationId xmlns:a16="http://schemas.microsoft.com/office/drawing/2014/main" id="{4E800152-4609-4F4C-9DBD-D91E04AE1C3D}"/>
              </a:ext>
            </a:extLst>
          </p:cNvPr>
          <p:cNvSpPr>
            <a:spLocks xmlns:a="http://schemas.openxmlformats.org/drawingml/2006/main" noGrp="1"/>
          </p:cNvSpPr>
          <p:nvPr/>
        </p:nvSpPr>
        <p:spPr>
          <a:xfrm xmlns:a="http://schemas.openxmlformats.org/drawingml/2006/main">
            <a:off x="819150" y="24098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1</a:t>
            </a:r>
          </a:p>
        </p:txBody>
      </p:sp>
      <p:sp>
        <p:nvSpPr>
          <p:cNvPr id="9" name="">
            <a:extLst xmlns:a="http://schemas.openxmlformats.org/drawingml/2006/main">
              <a:ext uri="{FF2B5EF4-FFF2-40B4-BE49-F238E27FC236}">
                <a16:creationId xmlns:a16="http://schemas.microsoft.com/office/drawing/2014/main" id="{034E336F-0DF9-4BF6-AFD0-CA6A9DF4D4FC}"/>
              </a:ext>
            </a:extLst>
          </p:cNvPr>
          <p:cNvSpPr>
            <a:spLocks xmlns:a="http://schemas.openxmlformats.org/drawingml/2006/main" noGrp="1"/>
          </p:cNvSpPr>
          <p:nvPr/>
        </p:nvSpPr>
        <p:spPr>
          <a:xfrm xmlns:a="http://schemas.openxmlformats.org/drawingml/2006/main">
            <a:off x="1428750" y="23241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What is harvest?</a:t>
            </a:r>
          </a:p>
        </p:txBody>
      </p:sp>
      <p:sp>
        <p:nvSpPr>
          <p:cNvPr id="10" name="">
            <a:extLst xmlns:a="http://schemas.openxmlformats.org/drawingml/2006/main">
              <a:ext uri="{FF2B5EF4-FFF2-40B4-BE49-F238E27FC236}">
                <a16:creationId xmlns:a16="http://schemas.microsoft.com/office/drawing/2014/main" id="{B6553C64-DA02-4289-A16A-EED861DE006C}"/>
              </a:ext>
            </a:extLst>
          </p:cNvPr>
          <p:cNvSpPr>
            <a:spLocks xmlns:a="http://schemas.openxmlformats.org/drawingml/2006/main" noGrp="1"/>
          </p:cNvSpPr>
          <p:nvPr/>
        </p:nvSpPr>
        <p:spPr>
          <a:xfrm xmlns:a="http://schemas.openxmlformats.org/drawingml/2006/main">
            <a:off x="590550" y="3429000"/>
            <a:ext cx="10953750" cy="952500"/>
          </a:xfrm>
          <a:prstGeom xmlns:a="http://schemas.openxmlformats.org/drawingml/2006/main" prst="roundRect">
            <a:avLst>
              <a:gd name="adj" fmla="val 12000"/>
            </a:avLst>
          </a:prstGeom>
          <a:solidFill xmlns:a="http://schemas.openxmlformats.org/drawingml/2006/main">
            <a:srgbClr val="284B30"/>
          </a:solidFill>
          <a:ln xmlns:a="http://schemas.openxmlformats.org/drawingml/2006/main" w="9525">
            <a:solidFill>
              <a:srgbClr val="4D7254"/>
            </a:solidFill>
            <a:prstDash val="solid"/>
          </a:ln>
        </p:spPr>
      </p:sp>
      <p:sp>
        <p:nvSpPr>
          <p:cNvPr id="11" name="">
            <a:extLst xmlns:a="http://schemas.openxmlformats.org/drawingml/2006/main">
              <a:ext uri="{FF2B5EF4-FFF2-40B4-BE49-F238E27FC236}">
                <a16:creationId xmlns:a16="http://schemas.microsoft.com/office/drawing/2014/main" id="{966F4AB9-1BFD-4243-9744-D743821A7FEA}"/>
              </a:ext>
            </a:extLst>
          </p:cNvPr>
          <p:cNvSpPr>
            <a:spLocks xmlns:a="http://schemas.openxmlformats.org/drawingml/2006/main" noGrp="1"/>
          </p:cNvSpPr>
          <p:nvPr/>
        </p:nvSpPr>
        <p:spPr>
          <a:xfrm xmlns:a="http://schemas.openxmlformats.org/drawingml/2006/main">
            <a:off x="819150" y="364807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2</a:t>
            </a:r>
          </a:p>
        </p:txBody>
      </p:sp>
      <p:sp>
        <p:nvSpPr>
          <p:cNvPr id="12" name="">
            <a:extLst xmlns:a="http://schemas.openxmlformats.org/drawingml/2006/main">
              <a:ext uri="{FF2B5EF4-FFF2-40B4-BE49-F238E27FC236}">
                <a16:creationId xmlns:a16="http://schemas.microsoft.com/office/drawing/2014/main" id="{497BB33D-8E43-4A7C-9BAE-BF57DD6507EC}"/>
              </a:ext>
            </a:extLst>
          </p:cNvPr>
          <p:cNvSpPr>
            <a:spLocks xmlns:a="http://schemas.openxmlformats.org/drawingml/2006/main" noGrp="1"/>
          </p:cNvSpPr>
          <p:nvPr/>
        </p:nvSpPr>
        <p:spPr>
          <a:xfrm xmlns:a="http://schemas.openxmlformats.org/drawingml/2006/main">
            <a:off x="1428750" y="356235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What does quality mean in design evaluation?</a:t>
            </a:r>
          </a:p>
        </p:txBody>
      </p:sp>
      <p:sp>
        <p:nvSpPr>
          <p:cNvPr id="13" name="">
            <a:extLst xmlns:a="http://schemas.openxmlformats.org/drawingml/2006/main">
              <a:ext uri="{FF2B5EF4-FFF2-40B4-BE49-F238E27FC236}">
                <a16:creationId xmlns:a16="http://schemas.microsoft.com/office/drawing/2014/main" id="{E59ED128-F90E-4B36-8554-7A4DB1C88D3D}"/>
              </a:ext>
            </a:extLst>
          </p:cNvPr>
          <p:cNvSpPr>
            <a:spLocks xmlns:a="http://schemas.openxmlformats.org/drawingml/2006/main" noGrp="1"/>
          </p:cNvSpPr>
          <p:nvPr/>
        </p:nvSpPr>
        <p:spPr>
          <a:xfrm xmlns:a="http://schemas.openxmlformats.org/drawingml/2006/main">
            <a:off x="590550" y="46672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14" name="">
            <a:extLst xmlns:a="http://schemas.openxmlformats.org/drawingml/2006/main">
              <a:ext uri="{FF2B5EF4-FFF2-40B4-BE49-F238E27FC236}">
                <a16:creationId xmlns:a16="http://schemas.microsoft.com/office/drawing/2014/main" id="{CC93FEDB-ED09-4E83-B852-DCE3C643E201}"/>
              </a:ext>
            </a:extLst>
          </p:cNvPr>
          <p:cNvSpPr>
            <a:spLocks xmlns:a="http://schemas.openxmlformats.org/drawingml/2006/main" noGrp="1"/>
          </p:cNvSpPr>
          <p:nvPr/>
        </p:nvSpPr>
        <p:spPr>
          <a:xfrm xmlns:a="http://schemas.openxmlformats.org/drawingml/2006/main">
            <a:off x="819150" y="48863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3</a:t>
            </a:r>
          </a:p>
        </p:txBody>
      </p:sp>
      <p:sp>
        <p:nvSpPr>
          <p:cNvPr id="15" name="">
            <a:extLst xmlns:a="http://schemas.openxmlformats.org/drawingml/2006/main">
              <a:ext uri="{FF2B5EF4-FFF2-40B4-BE49-F238E27FC236}">
                <a16:creationId xmlns:a16="http://schemas.microsoft.com/office/drawing/2014/main" id="{22DBE283-1C75-47A9-AE3A-A2797E82E168}"/>
              </a:ext>
            </a:extLst>
          </p:cNvPr>
          <p:cNvSpPr>
            <a:spLocks xmlns:a="http://schemas.openxmlformats.org/drawingml/2006/main" noGrp="1"/>
          </p:cNvSpPr>
          <p:nvPr/>
        </p:nvSpPr>
        <p:spPr>
          <a:xfrm xmlns:a="http://schemas.openxmlformats.org/drawingml/2006/main">
            <a:off x="1428750" y="48006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What is the main purpose of a design pitch?</a:t>
            </a:r>
          </a:p>
        </p:txBody>
      </p:sp>
    </p:spTree>
    <p:extLst>
      <p:ext uri="{BB962C8B-B14F-4D97-AF65-F5344CB8AC3E}">
        <p14:creationId xmlns:p14="http://schemas.microsoft.com/office/powerpoint/2010/main" val="1561749631"/>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091DD37-2E16-4587-9BE8-17158189546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FB6E4EC-D168-4A0B-B68D-F948ED392E5B}"/>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MODEL A LONGER RESPONSE</a:t>
            </a:r>
          </a:p>
        </p:txBody>
      </p:sp>
      <p:sp>
        <p:nvSpPr>
          <p:cNvPr id="3" name="">
            <a:extLst xmlns:a="http://schemas.openxmlformats.org/drawingml/2006/main">
              <a:ext uri="{FF2B5EF4-FFF2-40B4-BE49-F238E27FC236}">
                <a16:creationId xmlns:a16="http://schemas.microsoft.com/office/drawing/2014/main" id="{CE13D0F5-0161-442C-97FC-1A7E13FD76DF}"/>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10  •  HARVEST, JUDGE AND SHARE</a:t>
            </a:r>
          </a:p>
        </p:txBody>
      </p:sp>
      <p:sp>
        <p:nvSpPr>
          <p:cNvPr id="4" name="">
            <a:extLst xmlns:a="http://schemas.openxmlformats.org/drawingml/2006/main">
              <a:ext uri="{FF2B5EF4-FFF2-40B4-BE49-F238E27FC236}">
                <a16:creationId xmlns:a16="http://schemas.microsoft.com/office/drawing/2014/main" id="{BA3B049A-7339-4CEE-B3FD-67F9F6E338B9}"/>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07</a:t>
            </a:r>
          </a:p>
        </p:txBody>
      </p:sp>
      <p:sp>
        <p:nvSpPr>
          <p:cNvPr id="5" name="">
            <a:extLst xmlns:a="http://schemas.openxmlformats.org/drawingml/2006/main">
              <a:ext uri="{FF2B5EF4-FFF2-40B4-BE49-F238E27FC236}">
                <a16:creationId xmlns:a16="http://schemas.microsoft.com/office/drawing/2014/main" id="{4D6845EF-2C8B-4D2A-9CB9-FCD63E075F7B}"/>
              </a:ext>
            </a:extLst>
          </p:cNvPr>
          <p:cNvSpPr>
            <a:spLocks xmlns:a="http://schemas.openxmlformats.org/drawingml/2006/main" noGrp="1"/>
          </p:cNvSpPr>
          <p:nvPr/>
        </p:nvSpPr>
        <p:spPr>
          <a:xfrm xmlns:a="http://schemas.openxmlformats.org/drawingml/2006/main">
            <a:off x="590550" y="781050"/>
            <a:ext cx="752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Read → Select → Explain → Check</a:t>
            </a:r>
          </a:p>
        </p:txBody>
      </p:sp>
      <p:sp>
        <p:nvSpPr>
          <p:cNvPr id="6" name="">
            <a:extLst xmlns:a="http://schemas.openxmlformats.org/drawingml/2006/main">
              <a:ext uri="{FF2B5EF4-FFF2-40B4-BE49-F238E27FC236}">
                <a16:creationId xmlns:a16="http://schemas.microsoft.com/office/drawing/2014/main" id="{0653F7B7-B640-4C33-81B6-CF1E13312651}"/>
              </a:ext>
            </a:extLst>
          </p:cNvPr>
          <p:cNvSpPr>
            <a:spLocks xmlns:a="http://schemas.openxmlformats.org/drawingml/2006/main" noGrp="1"/>
          </p:cNvSpPr>
          <p:nvPr/>
        </p:nvSpPr>
        <p:spPr>
          <a:xfrm xmlns:a="http://schemas.openxmlformats.org/drawingml/2006/main">
            <a:off x="590550" y="1676400"/>
            <a:ext cx="561975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E298DBFD-7476-4155-A622-1AEF3152A033}"/>
              </a:ext>
            </a:extLst>
          </p:cNvPr>
          <p:cNvSpPr>
            <a:spLocks xmlns:a="http://schemas.openxmlformats.org/drawingml/2006/main" noGrp="1"/>
          </p:cNvSpPr>
          <p:nvPr/>
        </p:nvSpPr>
        <p:spPr>
          <a:xfrm xmlns:a="http://schemas.openxmlformats.org/drawingml/2006/main">
            <a:off x="838200" y="18859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THE QUESTION</a:t>
            </a:r>
          </a:p>
        </p:txBody>
      </p:sp>
      <p:sp>
        <p:nvSpPr>
          <p:cNvPr id="8" name="">
            <a:extLst xmlns:a="http://schemas.openxmlformats.org/drawingml/2006/main">
              <a:ext uri="{FF2B5EF4-FFF2-40B4-BE49-F238E27FC236}">
                <a16:creationId xmlns:a16="http://schemas.microsoft.com/office/drawing/2014/main" id="{8784E5CB-B06A-425C-9803-325F4CC55C4B}"/>
              </a:ext>
            </a:extLst>
          </p:cNvPr>
          <p:cNvSpPr>
            <a:spLocks xmlns:a="http://schemas.openxmlformats.org/drawingml/2006/main" noGrp="1"/>
          </p:cNvSpPr>
          <p:nvPr/>
        </p:nvSpPr>
        <p:spPr>
          <a:xfrm xmlns:a="http://schemas.openxmlformats.org/drawingml/2006/main">
            <a:off x="838200" y="2266950"/>
            <a:ext cx="5095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183B23"/>
                </a:solidFill>
              </a:defRPr>
            </a:pPr>
            <a:r>
              <a:rPr sz="1725" b="1" i="0">
                <a:solidFill>
                  <a:srgbClr val="183B23"/>
                </a:solidFill>
              </a:rPr>
              <a:t>Use claim–evidence–reasoning to pitch a testable next version of Farm in a Box.</a:t>
            </a:r>
          </a:p>
        </p:txBody>
      </p:sp>
      <p:sp>
        <p:nvSpPr>
          <p:cNvPr id="9" name="">
            <a:extLst xmlns:a="http://schemas.openxmlformats.org/drawingml/2006/main">
              <a:ext uri="{FF2B5EF4-FFF2-40B4-BE49-F238E27FC236}">
                <a16:creationId xmlns:a16="http://schemas.microsoft.com/office/drawing/2014/main" id="{F7C28157-5E57-4470-AD05-2426CD0B4C4E}"/>
              </a:ext>
            </a:extLst>
          </p:cNvPr>
          <p:cNvSpPr>
            <a:spLocks xmlns:a="http://schemas.openxmlformats.org/drawingml/2006/main" noGrp="1"/>
          </p:cNvSpPr>
          <p:nvPr/>
        </p:nvSpPr>
        <p:spPr>
          <a:xfrm xmlns:a="http://schemas.openxmlformats.org/drawingml/2006/main">
            <a:off x="6534150" y="1676400"/>
            <a:ext cx="5010150" cy="1762125"/>
          </a:xfrm>
          <a:prstGeom xmlns:a="http://schemas.openxmlformats.org/drawingml/2006/main" prst="roundRect">
            <a:avLst>
              <a:gd name="adj" fmla="val 6486"/>
            </a:avLst>
          </a:prstGeom>
          <a:solidFill xmlns:a="http://schemas.openxmlformats.org/drawingml/2006/main">
            <a:srgbClr val="E8EFE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2683FDD-D64D-4C11-AF02-061F6F70F149}"/>
              </a:ext>
            </a:extLst>
          </p:cNvPr>
          <p:cNvSpPr>
            <a:spLocks xmlns:a="http://schemas.openxmlformats.org/drawingml/2006/main" noGrp="1"/>
          </p:cNvSpPr>
          <p:nvPr/>
        </p:nvSpPr>
        <p:spPr>
          <a:xfrm xmlns:a="http://schemas.openxmlformats.org/drawingml/2006/main">
            <a:off x="6781800" y="1885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WHAT IS THIS ASKING?</a:t>
            </a:r>
          </a:p>
        </p:txBody>
      </p:sp>
      <p:sp>
        <p:nvSpPr>
          <p:cNvPr id="11" name="">
            <a:extLst xmlns:a="http://schemas.openxmlformats.org/drawingml/2006/main">
              <a:ext uri="{FF2B5EF4-FFF2-40B4-BE49-F238E27FC236}">
                <a16:creationId xmlns:a16="http://schemas.microsoft.com/office/drawing/2014/main" id="{0557DF57-0DC8-47D3-BB95-0D64BBE747A0}"/>
              </a:ext>
            </a:extLst>
          </p:cNvPr>
          <p:cNvSpPr>
            <a:spLocks xmlns:a="http://schemas.openxmlformats.org/drawingml/2006/main" noGrp="1"/>
          </p:cNvSpPr>
          <p:nvPr/>
        </p:nvSpPr>
        <p:spPr>
          <a:xfrm xmlns:a="http://schemas.openxmlformats.org/drawingml/2006/main">
            <a:off x="6781800" y="2266950"/>
            <a:ext cx="4514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i="0">
                <a:solidFill>
                  <a:srgbClr val="243024"/>
                </a:solidFill>
              </a:defRPr>
            </a:pPr>
            <a:r>
              <a:rPr sz="1575" b="0" i="0">
                <a:solidFill>
                  <a:srgbClr val="243024"/>
                </a:solidFill>
              </a:rPr>
              <a:t>Uses a clear claim–evidence–reasoning chain. Includes one honest limitation and avoids guarantees or invented local facts.</a:t>
            </a:r>
          </a:p>
        </p:txBody>
      </p:sp>
      <p:sp>
        <p:nvSpPr>
          <p:cNvPr id="12" name="">
            <a:extLst xmlns:a="http://schemas.openxmlformats.org/drawingml/2006/main">
              <a:ext uri="{FF2B5EF4-FFF2-40B4-BE49-F238E27FC236}">
                <a16:creationId xmlns:a16="http://schemas.microsoft.com/office/drawing/2014/main" id="{89565018-7E8F-4B8C-9850-F3BE684A4128}"/>
              </a:ext>
            </a:extLst>
          </p:cNvPr>
          <p:cNvSpPr>
            <a:spLocks xmlns:a="http://schemas.openxmlformats.org/drawingml/2006/main" noGrp="1"/>
          </p:cNvSpPr>
          <p:nvPr/>
        </p:nvSpPr>
        <p:spPr>
          <a:xfrm xmlns:a="http://schemas.openxmlformats.org/drawingml/2006/main">
            <a:off x="5905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8639467-9C1C-4BEC-8E72-BCE13F784B93}"/>
              </a:ext>
            </a:extLst>
          </p:cNvPr>
          <p:cNvSpPr>
            <a:spLocks xmlns:a="http://schemas.openxmlformats.org/drawingml/2006/main" noGrp="1"/>
          </p:cNvSpPr>
          <p:nvPr/>
        </p:nvSpPr>
        <p:spPr>
          <a:xfrm xmlns:a="http://schemas.openxmlformats.org/drawingml/2006/main">
            <a:off x="8191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1  SELECT</a:t>
            </a:r>
          </a:p>
        </p:txBody>
      </p:sp>
      <p:sp>
        <p:nvSpPr>
          <p:cNvPr id="14" name="">
            <a:extLst xmlns:a="http://schemas.openxmlformats.org/drawingml/2006/main">
              <a:ext uri="{FF2B5EF4-FFF2-40B4-BE49-F238E27FC236}">
                <a16:creationId xmlns:a16="http://schemas.microsoft.com/office/drawing/2014/main" id="{EFD052E9-F2FE-4190-8639-C38C535757AF}"/>
              </a:ext>
            </a:extLst>
          </p:cNvPr>
          <p:cNvSpPr>
            <a:spLocks xmlns:a="http://schemas.openxmlformats.org/drawingml/2006/main" noGrp="1"/>
          </p:cNvSpPr>
          <p:nvPr/>
        </p:nvSpPr>
        <p:spPr>
          <a:xfrm xmlns:a="http://schemas.openxmlformats.org/drawingml/2006/main">
            <a:off x="8191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Select the exact theory, observation or record that answers the question.</a:t>
            </a:r>
          </a:p>
        </p:txBody>
      </p:sp>
      <p:sp>
        <p:nvSpPr>
          <p:cNvPr id="15" name="">
            <a:extLst xmlns:a="http://schemas.openxmlformats.org/drawingml/2006/main">
              <a:ext uri="{FF2B5EF4-FFF2-40B4-BE49-F238E27FC236}">
                <a16:creationId xmlns:a16="http://schemas.microsoft.com/office/drawing/2014/main" id="{2270602C-6EC8-4684-987B-8399F90EB75B}"/>
              </a:ext>
            </a:extLst>
          </p:cNvPr>
          <p:cNvSpPr>
            <a:spLocks xmlns:a="http://schemas.openxmlformats.org/drawingml/2006/main" noGrp="1"/>
          </p:cNvSpPr>
          <p:nvPr/>
        </p:nvSpPr>
        <p:spPr>
          <a:xfrm xmlns:a="http://schemas.openxmlformats.org/drawingml/2006/main">
            <a:off x="4305300" y="3876675"/>
            <a:ext cx="3371850" cy="1428750"/>
          </a:xfrm>
          <a:prstGeom xmlns:a="http://schemas.openxmlformats.org/drawingml/2006/main" prst="roundRect">
            <a:avLst>
              <a:gd name="adj" fmla="val 8000"/>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D969E87-9AA3-4FCB-A452-6A443801B174}"/>
              </a:ext>
            </a:extLst>
          </p:cNvPr>
          <p:cNvSpPr>
            <a:spLocks xmlns:a="http://schemas.openxmlformats.org/drawingml/2006/main" noGrp="1"/>
          </p:cNvSpPr>
          <p:nvPr/>
        </p:nvSpPr>
        <p:spPr>
          <a:xfrm xmlns:a="http://schemas.openxmlformats.org/drawingml/2006/main">
            <a:off x="453390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183B23"/>
                </a:solidFill>
              </a:defRPr>
            </a:pPr>
            <a:r>
              <a:rPr sz="1050" b="1" i="0">
                <a:solidFill>
                  <a:srgbClr val="183B23"/>
                </a:solidFill>
              </a:rPr>
              <a:t>2  EXPLAIN</a:t>
            </a:r>
          </a:p>
        </p:txBody>
      </p:sp>
      <p:sp>
        <p:nvSpPr>
          <p:cNvPr id="17" name="">
            <a:extLst xmlns:a="http://schemas.openxmlformats.org/drawingml/2006/main">
              <a:ext uri="{FF2B5EF4-FFF2-40B4-BE49-F238E27FC236}">
                <a16:creationId xmlns:a16="http://schemas.microsoft.com/office/drawing/2014/main" id="{823FBF81-502D-4C87-BD7E-25F70074E8A1}"/>
              </a:ext>
            </a:extLst>
          </p:cNvPr>
          <p:cNvSpPr>
            <a:spLocks xmlns:a="http://schemas.openxmlformats.org/drawingml/2006/main" noGrp="1"/>
          </p:cNvSpPr>
          <p:nvPr/>
        </p:nvSpPr>
        <p:spPr>
          <a:xfrm xmlns:a="http://schemas.openxmlformats.org/drawingml/2006/main">
            <a:off x="453390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183B23"/>
                </a:solidFill>
              </a:defRPr>
            </a:pPr>
            <a:r>
              <a:rPr sz="1350" b="0" i="0">
                <a:solidFill>
                  <a:srgbClr val="183B23"/>
                </a:solidFill>
              </a:rPr>
              <a:t>Use subject vocabulary and show the because, so or therefore connection.</a:t>
            </a:r>
          </a:p>
        </p:txBody>
      </p:sp>
      <p:sp>
        <p:nvSpPr>
          <p:cNvPr id="18" name="">
            <a:extLst xmlns:a="http://schemas.openxmlformats.org/drawingml/2006/main">
              <a:ext uri="{FF2B5EF4-FFF2-40B4-BE49-F238E27FC236}">
                <a16:creationId xmlns:a16="http://schemas.microsoft.com/office/drawing/2014/main" id="{37DB151A-8072-416E-826E-4F2B224D2E03}"/>
              </a:ext>
            </a:extLst>
          </p:cNvPr>
          <p:cNvSpPr>
            <a:spLocks xmlns:a="http://schemas.openxmlformats.org/drawingml/2006/main" noGrp="1"/>
          </p:cNvSpPr>
          <p:nvPr/>
        </p:nvSpPr>
        <p:spPr>
          <a:xfrm xmlns:a="http://schemas.openxmlformats.org/drawingml/2006/main">
            <a:off x="80200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F73689D-5145-45FC-8AEA-C7FBFB0106DF}"/>
              </a:ext>
            </a:extLst>
          </p:cNvPr>
          <p:cNvSpPr>
            <a:spLocks xmlns:a="http://schemas.openxmlformats.org/drawingml/2006/main" noGrp="1"/>
          </p:cNvSpPr>
          <p:nvPr/>
        </p:nvSpPr>
        <p:spPr>
          <a:xfrm xmlns:a="http://schemas.openxmlformats.org/drawingml/2006/main">
            <a:off x="82486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3  CHECK</a:t>
            </a:r>
          </a:p>
        </p:txBody>
      </p:sp>
      <p:sp>
        <p:nvSpPr>
          <p:cNvPr id="20" name="">
            <a:extLst xmlns:a="http://schemas.openxmlformats.org/drawingml/2006/main">
              <a:ext uri="{FF2B5EF4-FFF2-40B4-BE49-F238E27FC236}">
                <a16:creationId xmlns:a16="http://schemas.microsoft.com/office/drawing/2014/main" id="{3808F207-0410-446C-8BB2-7738187CEB3A}"/>
              </a:ext>
            </a:extLst>
          </p:cNvPr>
          <p:cNvSpPr>
            <a:spLocks xmlns:a="http://schemas.openxmlformats.org/drawingml/2006/main" noGrp="1"/>
          </p:cNvSpPr>
          <p:nvPr/>
        </p:nvSpPr>
        <p:spPr>
          <a:xfrm xmlns:a="http://schemas.openxmlformats.org/drawingml/2006/main">
            <a:off x="82486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Answer every part, state limits honestly and remove unsupported local claims.</a:t>
            </a:r>
          </a:p>
        </p:txBody>
      </p:sp>
      <p:sp>
        <p:nvSpPr>
          <p:cNvPr id="21" name="">
            <a:extLst xmlns:a="http://schemas.openxmlformats.org/drawingml/2006/main">
              <a:ext uri="{FF2B5EF4-FFF2-40B4-BE49-F238E27FC236}">
                <a16:creationId xmlns:a16="http://schemas.microsoft.com/office/drawing/2014/main" id="{36F468BC-0C59-430D-9626-0F62D42D1218}"/>
              </a:ext>
            </a:extLst>
          </p:cNvPr>
          <p:cNvSpPr>
            <a:spLocks xmlns:a="http://schemas.openxmlformats.org/drawingml/2006/main" noGrp="1"/>
          </p:cNvSpPr>
          <p:nvPr/>
        </p:nvSpPr>
        <p:spPr>
          <a:xfrm xmlns:a="http://schemas.openxmlformats.org/drawingml/2006/main">
            <a:off x="590550" y="5619750"/>
            <a:ext cx="1095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B6402D"/>
                </a:solidFill>
              </a:defRPr>
            </a:pPr>
            <a:r>
              <a:rPr sz="1350" b="1" i="0">
                <a:solidFill>
                  <a:srgbClr val="B6402D"/>
                </a:solidFill>
              </a:rPr>
              <a:t>Sentence starter: Our strongest evidence shows … because …; however, the current record is limited by …</a:t>
            </a:r>
          </a:p>
        </p:txBody>
      </p:sp>
    </p:spTree>
    <p:extLst>
      <p:ext uri="{BB962C8B-B14F-4D97-AF65-F5344CB8AC3E}">
        <p14:creationId xmlns:p14="http://schemas.microsoft.com/office/powerpoint/2010/main" val="240732943"/>
      </p:ext>
    </p:extLst>
  </p:cSld>
</p:sld>
</file>

<file path=ppt/slides/slide8.xml><?xml version="1.0" encoding="utf-8"?>
<p:sld xmlns:p="http://schemas.openxmlformats.org/presentationml/2006/main">
  <p:cSld>
    <p:bg>
      <p:bgPr>
        <a:solidFill xmlns:a="http://schemas.openxmlformats.org/drawingml/2006/main">
          <a:srgbClr val="B640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B8F892D-4D15-4CE7-815E-8A918BA0213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0C4F96-93D9-4014-94DA-ACA5D8D10AA6}"/>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EXIT TICKET</a:t>
            </a:r>
          </a:p>
        </p:txBody>
      </p:sp>
      <p:sp>
        <p:nvSpPr>
          <p:cNvPr id="3" name="">
            <a:extLst xmlns:a="http://schemas.openxmlformats.org/drawingml/2006/main">
              <a:ext uri="{FF2B5EF4-FFF2-40B4-BE49-F238E27FC236}">
                <a16:creationId xmlns:a16="http://schemas.microsoft.com/office/drawing/2014/main" id="{B501A794-A08D-4135-822A-EE07B0336D90}"/>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10  •  HARVEST, JUDGE AND SHARE</a:t>
            </a:r>
          </a:p>
        </p:txBody>
      </p:sp>
      <p:sp>
        <p:nvSpPr>
          <p:cNvPr id="4" name="">
            <a:extLst xmlns:a="http://schemas.openxmlformats.org/drawingml/2006/main">
              <a:ext uri="{FF2B5EF4-FFF2-40B4-BE49-F238E27FC236}">
                <a16:creationId xmlns:a16="http://schemas.microsoft.com/office/drawing/2014/main" id="{9FC44ED9-44FF-4F44-903A-FFA902E03961}"/>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08</a:t>
            </a:r>
          </a:p>
        </p:txBody>
      </p:sp>
      <p:sp>
        <p:nvSpPr>
          <p:cNvPr id="5" name="">
            <a:extLst xmlns:a="http://schemas.openxmlformats.org/drawingml/2006/main">
              <a:ext uri="{FF2B5EF4-FFF2-40B4-BE49-F238E27FC236}">
                <a16:creationId xmlns:a16="http://schemas.microsoft.com/office/drawing/2014/main" id="{65149B0F-72B9-4728-A590-8BECAFC5F70E}"/>
              </a:ext>
            </a:extLst>
          </p:cNvPr>
          <p:cNvSpPr>
            <a:spLocks xmlns:a="http://schemas.openxmlformats.org/drawingml/2006/main" noGrp="1"/>
          </p:cNvSpPr>
          <p:nvPr/>
        </p:nvSpPr>
        <p:spPr>
          <a:xfrm xmlns:a="http://schemas.openxmlformats.org/drawingml/2006/main">
            <a:off x="590550" y="83820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i="0">
                <a:solidFill>
                  <a:srgbClr val="FFFFFF"/>
                </a:solidFill>
              </a:defRPr>
            </a:pPr>
            <a:r>
              <a:rPr sz="3150" b="1" i="0">
                <a:solidFill>
                  <a:srgbClr val="FFFFFF"/>
                </a:solidFill>
              </a:rPr>
              <a:t>Before you pack up…</a:t>
            </a:r>
          </a:p>
        </p:txBody>
      </p:sp>
      <p:sp>
        <p:nvSpPr>
          <p:cNvPr id="6" name="">
            <a:extLst xmlns:a="http://schemas.openxmlformats.org/drawingml/2006/main">
              <a:ext uri="{FF2B5EF4-FFF2-40B4-BE49-F238E27FC236}">
                <a16:creationId xmlns:a16="http://schemas.microsoft.com/office/drawing/2014/main" id="{811577FF-3B6A-4593-8626-937E06D6F1B9}"/>
              </a:ext>
            </a:extLst>
          </p:cNvPr>
          <p:cNvSpPr>
            <a:spLocks xmlns:a="http://schemas.openxmlformats.org/drawingml/2006/main" noGrp="1"/>
          </p:cNvSpPr>
          <p:nvPr/>
        </p:nvSpPr>
        <p:spPr>
          <a:xfrm xmlns:a="http://schemas.openxmlformats.org/drawingml/2006/main">
            <a:off x="590550" y="1952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5A3AB3C-708C-46D4-BD09-A3AA15529263}"/>
              </a:ext>
            </a:extLst>
          </p:cNvPr>
          <p:cNvSpPr>
            <a:spLocks xmlns:a="http://schemas.openxmlformats.org/drawingml/2006/main" noGrp="1"/>
          </p:cNvSpPr>
          <p:nvPr/>
        </p:nvSpPr>
        <p:spPr>
          <a:xfrm xmlns:a="http://schemas.openxmlformats.org/drawingml/2006/main">
            <a:off x="857250" y="2085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1. One idea I can now explain is…</a:t>
            </a:r>
          </a:p>
        </p:txBody>
      </p:sp>
      <p:sp>
        <p:nvSpPr>
          <p:cNvPr id="8" name="">
            <a:extLst xmlns:a="http://schemas.openxmlformats.org/drawingml/2006/main">
              <a:ext uri="{FF2B5EF4-FFF2-40B4-BE49-F238E27FC236}">
                <a16:creationId xmlns:a16="http://schemas.microsoft.com/office/drawing/2014/main" id="{05E852CD-C329-49F4-9944-701EAE9AFBF7}"/>
              </a:ext>
            </a:extLst>
          </p:cNvPr>
          <p:cNvSpPr>
            <a:spLocks xmlns:a="http://schemas.openxmlformats.org/drawingml/2006/main" noGrp="1"/>
          </p:cNvSpPr>
          <p:nvPr/>
        </p:nvSpPr>
        <p:spPr>
          <a:xfrm xmlns:a="http://schemas.openxmlformats.org/drawingml/2006/main">
            <a:off x="590550" y="3095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FC6538D-A6B0-4B07-BD9F-8EFB2E779BE2}"/>
              </a:ext>
            </a:extLst>
          </p:cNvPr>
          <p:cNvSpPr>
            <a:spLocks xmlns:a="http://schemas.openxmlformats.org/drawingml/2006/main" noGrp="1"/>
          </p:cNvSpPr>
          <p:nvPr/>
        </p:nvSpPr>
        <p:spPr>
          <a:xfrm xmlns:a="http://schemas.openxmlformats.org/drawingml/2006/main">
            <a:off x="857250" y="3228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2. One decision or practical action this changes is…</a:t>
            </a:r>
          </a:p>
        </p:txBody>
      </p:sp>
      <p:sp>
        <p:nvSpPr>
          <p:cNvPr id="10" name="">
            <a:extLst xmlns:a="http://schemas.openxmlformats.org/drawingml/2006/main">
              <a:ext uri="{FF2B5EF4-FFF2-40B4-BE49-F238E27FC236}">
                <a16:creationId xmlns:a16="http://schemas.microsoft.com/office/drawing/2014/main" id="{07FA5F8D-9DF2-4B78-A167-EC68F634F7EA}"/>
              </a:ext>
            </a:extLst>
          </p:cNvPr>
          <p:cNvSpPr>
            <a:spLocks xmlns:a="http://schemas.openxmlformats.org/drawingml/2006/main" noGrp="1"/>
          </p:cNvSpPr>
          <p:nvPr/>
        </p:nvSpPr>
        <p:spPr>
          <a:xfrm xmlns:a="http://schemas.openxmlformats.org/drawingml/2006/main">
            <a:off x="590550" y="4238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638837A-3ABE-4C8A-A0F8-D1E0C08ECF35}"/>
              </a:ext>
            </a:extLst>
          </p:cNvPr>
          <p:cNvSpPr>
            <a:spLocks xmlns:a="http://schemas.openxmlformats.org/drawingml/2006/main" noGrp="1"/>
          </p:cNvSpPr>
          <p:nvPr/>
        </p:nvSpPr>
        <p:spPr>
          <a:xfrm xmlns:a="http://schemas.openxmlformats.org/drawingml/2006/main">
            <a:off x="857250" y="4371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3. One local detail my teacher still needs to confirm is…</a:t>
            </a:r>
          </a:p>
        </p:txBody>
      </p:sp>
      <p:sp>
        <p:nvSpPr>
          <p:cNvPr id="12" name="">
            <a:extLst xmlns:a="http://schemas.openxmlformats.org/drawingml/2006/main">
              <a:ext uri="{FF2B5EF4-FFF2-40B4-BE49-F238E27FC236}">
                <a16:creationId xmlns:a16="http://schemas.microsoft.com/office/drawing/2014/main" id="{10EF9F82-D69A-4FA6-9926-2F652DEFE297}"/>
              </a:ext>
            </a:extLst>
          </p:cNvPr>
          <p:cNvSpPr>
            <a:spLocks xmlns:a="http://schemas.openxmlformats.org/drawingml/2006/main" noGrp="1"/>
          </p:cNvSpPr>
          <p:nvPr/>
        </p:nvSpPr>
        <p:spPr>
          <a:xfrm xmlns:a="http://schemas.openxmlformats.org/drawingml/2006/main">
            <a:off x="9715500" y="2476500"/>
            <a:ext cx="1619250" cy="1619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343270A-D9B1-4D78-8374-E21174E82694}"/>
              </a:ext>
            </a:extLst>
          </p:cNvPr>
          <p:cNvSpPr>
            <a:spLocks xmlns:a="http://schemas.openxmlformats.org/drawingml/2006/main" noGrp="1"/>
          </p:cNvSpPr>
          <p:nvPr/>
        </p:nvSpPr>
        <p:spPr>
          <a:xfrm xmlns:a="http://schemas.openxmlformats.org/drawingml/2006/main">
            <a:off x="9906000" y="2724150"/>
            <a:ext cx="1238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83B23"/>
                </a:solidFill>
              </a:defRPr>
            </a:pPr>
            <a:r>
              <a:rPr sz="1800" b="1" i="0">
                <a:solidFill>
                  <a:srgbClr val="183B23"/>
                </a:solidFill>
              </a:rPr>
              <a:t>SAVE</a:t>
            </a:r>
          </a:p>
          <a:p xmlns:a="http://schemas.openxmlformats.org/drawingml/2006/main">
            <a:pPr algn="ctr">
              <a:buNone/>
              <a:defRPr sz="1800" b="1" i="0">
                <a:solidFill>
                  <a:srgbClr val="183B23"/>
                </a:solidFill>
              </a:defRPr>
            </a:pPr>
            <a:r>
              <a:rPr sz="1800" b="1" i="0">
                <a:solidFill>
                  <a:srgbClr val="183B23"/>
                </a:solidFill>
              </a:rPr>
              <a:t>TO</a:t>
            </a:r>
          </a:p>
          <a:p xmlns:a="http://schemas.openxmlformats.org/drawingml/2006/main">
            <a:pPr algn="ctr">
              <a:buNone/>
              <a:defRPr sz="1800" b="1" i="0">
                <a:solidFill>
                  <a:srgbClr val="183B23"/>
                </a:solidFill>
              </a:defRPr>
            </a:pPr>
            <a:r>
              <a:rPr sz="1800" b="1" i="0">
                <a:solidFill>
                  <a:srgbClr val="183B23"/>
                </a:solidFill>
              </a:rPr>
              <a:t>FOLIO</a:t>
            </a:r>
          </a:p>
        </p:txBody>
      </p:sp>
    </p:spTree>
    <p:extLst>
      <p:ext uri="{BB962C8B-B14F-4D97-AF65-F5344CB8AC3E}">
        <p14:creationId xmlns:p14="http://schemas.microsoft.com/office/powerpoint/2010/main" val="1524098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2026-09-02T00:57:35.1460000Z</dcterms:created>
  <dcterms:modified xsi:type="dcterms:W3CDTF">2026-09-02T00:57:35.1460000Z</dcterms:modified>
</coreProperties>
</file>