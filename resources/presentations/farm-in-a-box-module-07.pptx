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cbd47c18794ffb" /><Relationship Type="http://schemas.openxmlformats.org/officeDocument/2006/relationships/extended-properties" Target="/docProps/app.xml" Id="R98543b5fd7a14356" /><Relationship Type="http://schemas.openxmlformats.org/officeDocument/2006/relationships/officeDocument" Target="/ppt/presentation.xml" Id="R07e23b7aa73c49b8" /></Relationships>
</file>

<file path=ppt/presentation.xml><?xml version="1.0" encoding="utf-8"?>
<p:presentation xmlns:p="http://schemas.openxmlformats.org/presentationml/2006/main">
  <p:sldMasterIdLst>
    <p:sldMasterId xmlns:r="http://schemas.openxmlformats.org/officeDocument/2006/relationships" id="2147483648" r:id="R489e69325ed64061"/>
  </p:sldMasterIdLst>
  <p:notesMasterIdLst>
    <p:notesMasterId xmlns:r="http://schemas.openxmlformats.org/officeDocument/2006/relationships" r:id="Reddf4d7a60684b71"/>
  </p:notesMasterIdLst>
  <p:sldIdLst>
    <p:sldId xmlns:r="http://schemas.openxmlformats.org/officeDocument/2006/relationships" id="256" r:id="R8de05dff4f0c44ab"/>
    <p:sldId xmlns:r="http://schemas.openxmlformats.org/officeDocument/2006/relationships" id="257" r:id="R463fd05588ac4be1"/>
    <p:sldId xmlns:r="http://schemas.openxmlformats.org/officeDocument/2006/relationships" id="258" r:id="R6afada262e214e17"/>
    <p:sldId xmlns:r="http://schemas.openxmlformats.org/officeDocument/2006/relationships" id="259" r:id="Rb1eb4cf8f06040fb"/>
    <p:sldId xmlns:r="http://schemas.openxmlformats.org/officeDocument/2006/relationships" id="260" r:id="R34ad78c60a6d4a2e"/>
    <p:sldId xmlns:r="http://schemas.openxmlformats.org/officeDocument/2006/relationships" id="261" r:id="R3cc40788c66c4790"/>
    <p:sldId xmlns:r="http://schemas.openxmlformats.org/officeDocument/2006/relationships" id="262" r:id="Rc565af4f3e734405"/>
    <p:sldId xmlns:r="http://schemas.openxmlformats.org/officeDocument/2006/relationships" id="263" r:id="R2a3c0bcfd4e44a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815d14219a4cdc" /><Relationship Type="http://schemas.openxmlformats.org/officeDocument/2006/relationships/slideMaster" Target="/ppt/slideMasters/slideMaster1.xml" Id="R489e69325ed64061" /><Relationship Type="http://schemas.openxmlformats.org/officeDocument/2006/relationships/notesMaster" Target="/ppt/notesMasters/notesMaster1.xml" Id="Reddf4d7a60684b71" /><Relationship Type="http://schemas.openxmlformats.org/officeDocument/2006/relationships/presProps" Target="/ppt/presProps.xml" Id="Raf2c5c01b90b4b64" /><Relationship Type="http://schemas.openxmlformats.org/officeDocument/2006/relationships/tableStyles" Target="/ppt/tableStyles.xml" Id="R1060a7e87e404540" /><Relationship Type="http://schemas.openxmlformats.org/officeDocument/2006/relationships/slide" Target="/ppt/slides/slide1.xml" Id="R8de05dff4f0c44ab" /><Relationship Type="http://schemas.openxmlformats.org/officeDocument/2006/relationships/slide" Target="/ppt/slides/slide2.xml" Id="R463fd05588ac4be1" /><Relationship Type="http://schemas.openxmlformats.org/officeDocument/2006/relationships/slide" Target="/ppt/slides/slide3.xml" Id="R6afada262e214e17" /><Relationship Type="http://schemas.openxmlformats.org/officeDocument/2006/relationships/slide" Target="/ppt/slides/slide4.xml" Id="Rb1eb4cf8f06040fb" /><Relationship Type="http://schemas.openxmlformats.org/officeDocument/2006/relationships/slide" Target="/ppt/slides/slide5.xml" Id="R34ad78c60a6d4a2e" /><Relationship Type="http://schemas.openxmlformats.org/officeDocument/2006/relationships/slide" Target="/ppt/slides/slide6.xml" Id="R3cc40788c66c4790" /><Relationship Type="http://schemas.openxmlformats.org/officeDocument/2006/relationships/slide" Target="/ppt/slides/slide7.xml" Id="Rc565af4f3e734405" /><Relationship Type="http://schemas.openxmlformats.org/officeDocument/2006/relationships/slide" Target="/ppt/slides/slide8.xml" Id="R2a3c0bcfd4e44a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178f6c98ba47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34c83fcbf14238" /><Relationship Type="http://schemas.openxmlformats.org/officeDocument/2006/relationships/notesMaster" Target="/ppt/notesMasters/notesMaster1.xml" Id="R66621095ac4c4e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a9a3b7941c4442" /><Relationship Type="http://schemas.openxmlformats.org/officeDocument/2006/relationships/notesMaster" Target="/ppt/notesMasters/notesMaster1.xml" Id="R348899e22c5144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12135dbdef48b0" /><Relationship Type="http://schemas.openxmlformats.org/officeDocument/2006/relationships/notesMaster" Target="/ppt/notesMasters/notesMaster1.xml" Id="R6e2532f35bba4f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09321c0fc94129" /><Relationship Type="http://schemas.openxmlformats.org/officeDocument/2006/relationships/notesMaster" Target="/ppt/notesMasters/notesMaster1.xml" Id="Re65b1a138e1f4a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56390dc2be4915" /><Relationship Type="http://schemas.openxmlformats.org/officeDocument/2006/relationships/notesMaster" Target="/ppt/notesMasters/notesMaster1.xml" Id="R96ac70ceeb6842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86ba64f13a45dc" /><Relationship Type="http://schemas.openxmlformats.org/officeDocument/2006/relationships/notesMaster" Target="/ppt/notesMasters/notesMaster1.xml" Id="R0290960ea65a41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5f54b43937463c" /><Relationship Type="http://schemas.openxmlformats.org/officeDocument/2006/relationships/notesMaster" Target="/ppt/notesMasters/notesMaster1.xml" Id="R4994e46c22644f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ab441a1f0b4dd9" /><Relationship Type="http://schemas.openxmlformats.org/officeDocument/2006/relationships/notesMaster" Target="/ppt/notesMasters/notesMaster1.xml" Id="R8d7b934a0eae4b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Design the Farm in a Box as the next step in the Farm in a Box learning sequence.</a:t>
            </a:r>
          </a:p>
          <a:p xmlns:a="http://schemas.openxmlformats.org/drawingml/2006/main">
            <a:r>
              <a:t>Student outcome for this deck: Turn needs and limits into a justified production plan</a:t>
            </a:r>
          </a:p>
          <a:p xmlns:a="http://schemas.openxmlformats.org/drawingml/2006/main">
            <a:r>
              <a:t>Opening prompt: ask students what evidence in the image makes this an agriculture system rather than a decorative container.</a:t>
            </a:r>
          </a:p>
          <a:p xmlns:a="http://schemas.openxmlformats.org/drawingml/2006/main">
            <a:r>
              <a:t>Boundary: crop, site, materials, tools, method and local safety controls remain Teacher to confirm.</a:t>
            </a:r>
          </a:p>
          <a:p xmlns:a="http://schemas.openxmlformats.org/drawingml/2006/main">
            <a:r>
              <a:t>Transition: preview the three named learning areas without answering the warm-up for students.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Course design brief: resources/core/design-brief-v1.0.json.</a:t>
            </a:r>
          </a:p>
          <a:p xmlns:a="http://schemas.openxmlformats.org/drawingml/2006/main">
            <a:r>
              <a:t>- Generated title visual: assets/m07-s03-production-plan.png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quiet thinking time before taking responses.</a:t>
            </a:r>
          </a:p>
          <a:p xmlns:a="http://schemas.openxmlformats.org/drawingml/2006/main">
            <a:r>
              <a:t>The three named areas are Turn the brief into criteria; Generate, compare and refine; Plan the build and control risk.</a:t>
            </a:r>
          </a:p>
          <a:p xmlns:a="http://schemas.openxmlformats.org/drawingml/2006/main">
            <a:r>
              <a:t>Keep initial answers provisional. The deck is designed to improve them with evidence.</a:t>
            </a:r>
          </a:p>
          <a:p xmlns:a="http://schemas.openxmlformats.org/drawingml/2006/main">
            <a:r>
              <a:t>Do not introduce outcome codes or local practical facts on this student-facing slide.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Turn the brief into criteria concrete before students apply it to the Farm in a Box.</a:t>
            </a:r>
          </a:p>
          <a:p xmlns:a="http://schemas.openxmlformats.org/drawingml/2006/main">
            <a:r>
              <a:t>Talking point 1: A brief defines the need, user, required functions and constraints. Measurable criteria turn it into a fair basis for comparing concepts and judging the final system.</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A strong design brief describes the exact final answer.</a:t>
            </a:r>
          </a:p>
          <a:p xmlns:a="http://schemas.openxmlformats.org/drawingml/2006/main">
            <a:r>
              <a:t>Correction: A strong brief defines the problem and boundaries while leaving room for several defensible solutions.</a:t>
            </a:r>
          </a:p>
          <a:p xmlns:a="http://schemas.openxmlformats.org/drawingml/2006/main">
            <a:r>
              <a:t>Prompt: Students improve a deliberately vague fictional brief, distinguishing fixed needs from teacher-supplied local controls and writing criteria that could be checked with observations or records.</a:t>
            </a:r>
          </a:p>
          <a:p xmlns:a="http://schemas.openxmlformats.org/drawingml/2006/main">
            <a:r>
              <a:t>Transition: connect this idea to Generate, compare and refine.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Generated teaching visual: assets/m07-s01-brief-to-criteria.png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Generate, compare and refine concrete before students apply it to the Farm in a Box.</a:t>
            </a:r>
          </a:p>
          <a:p xmlns:a="http://schemas.openxmlformats.org/drawingml/2006/main">
            <a:r>
              <a:t>Talking point 1: Develop genuinely different concepts, communicate how they work, compare them against common weighted criteria and preserve a visible evidence trail when refining.</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The concept with the highest matrix score is automatically ready to build.</a:t>
            </a:r>
          </a:p>
          <a:p xmlns:a="http://schemas.openxmlformats.org/drawingml/2006/main">
            <a:r>
              <a:t>Correction: The score supports a decision, but assumptions and serious weaknesses still need checking and refinement.</a:t>
            </a:r>
          </a:p>
          <a:p xmlns:a="http://schemas.openxmlformats.org/drawingml/2006/main">
            <a:r>
              <a:t>Prompt: Students compare three fictional crop-system arrangements with a shared matrix, challenge one unsupported score and refine the selected concept.</a:t>
            </a:r>
          </a:p>
          <a:p xmlns:a="http://schemas.openxmlformats.org/drawingml/2006/main">
            <a:r>
              <a:t>Transition: connect this idea to Plan the build and control risk.</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Generated teaching visual: assets/m07-s02-concept-comparison.png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Plan the build and control risk concrete before students apply it to the Farm in a Box.</a:t>
            </a:r>
          </a:p>
          <a:p xmlns:a="http://schemas.openxmlformats.org/drawingml/2006/main">
            <a:r>
              <a:t>Talking point 1: A production plan sequences tasks, dependencies, evidence, checks and approvals. Real risk controls come from the teacher-approved context and are followed, recorded and reviewed.</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Writing a generic safety list proves a production plan is safe.</a:t>
            </a:r>
          </a:p>
          <a:p xmlns:a="http://schemas.openxmlformats.org/drawingml/2006/main">
            <a:r>
              <a:t>Correction: Controls must match the actual approved task, resource and process, and students must follow demonstrations and checkpoints.</a:t>
            </a:r>
          </a:p>
          <a:p xmlns:a="http://schemas.openxmlformats.org/drawingml/2006/main">
            <a:r>
              <a:t>Prompt: Students sequence a fictional build, identify dependencies and checkpoints, then mark where the teacher must confirm a task-specific control rather than inventing it.</a:t>
            </a:r>
          </a:p>
          <a:p xmlns:a="http://schemas.openxmlformats.org/drawingml/2006/main">
            <a:r>
              <a:t>Transition: move from explanation to retrieval across all three ideas.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Generated teaching visual: assets/m07-s03-production-plan.png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think-pair-share: students answer silently, cite one deck idea, then improve their explanation with a partner.</a:t>
            </a:r>
          </a:p>
          <a:p xmlns:a="http://schemas.openxmlformats.org/drawingml/2006/main">
            <a:r>
              <a:t>Question 1 checks Turn the brief into criteria.</a:t>
            </a:r>
          </a:p>
          <a:p xmlns:a="http://schemas.openxmlformats.org/drawingml/2006/main">
            <a:r>
              <a:t>Question 2 checks Generate, compare and refine.</a:t>
            </a:r>
          </a:p>
          <a:p xmlns:a="http://schemas.openxmlformats.org/drawingml/2006/main">
            <a:r>
              <a:t>Question 3 checks Plan the build and control risk.</a:t>
            </a:r>
          </a:p>
          <a:p xmlns:a="http://schemas.openxmlformats.org/drawingml/2006/main">
            <a:r>
              <a:t>Ask for reasoning, not only a short answer. Correct overclaiming and invented local detail.</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Response purpose: Justify a production sequence for Farm in a Box that includes dependencies, checkpoints and local-control boundaries.</a:t>
            </a:r>
          </a:p>
          <a:p xmlns:a="http://schemas.openxmlformats.org/drawingml/2006/main">
            <a:r>
              <a:t>Scaffold prompts: Which tasks must happen before others, and why? | Where should function, quality or approval checkpoints occur? | What evidence and handover information should be recorded? | Which tools, resources or controls must remain teacher-confirmed?</a:t>
            </a:r>
          </a:p>
          <a:p xmlns:a="http://schemas.openxmlformats.org/drawingml/2006/main">
            <a:r>
              <a:t>Success criteria: Sequences tasks using at least two clear dependencies. | Includes purposeful quality and approval checkpoints. | Explains safe stop-and-review behaviour without inventing local procedures.</a:t>
            </a:r>
          </a:p>
          <a:p xmlns:a="http://schemas.openxmlformats.org/drawingml/2006/main">
            <a:r>
              <a:t>Appropriate response example for teacher modelling: The sequence begins with workspace and resource confirmation because production cannot start until the real task and controls are approved. The system structure is then assembled and checked against the drawing before any establishment step depends on it. A function and stability checkpoint follows, with photographs and a short handover record. If the task differs from the demonstration, work stops for teacher direction. The actual tools, protective equipment and process controls remain in the teacher-confirmed risk record.</a:t>
            </a:r>
          </a:p>
          <a:p xmlns:a="http://schemas.openxmlformats.org/drawingml/2006/main">
            <a:r>
              <a:t>Model how to acknowledge uncertainty without weakening a claim supported by evidence.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destination: final design brief and criteria; annotated concepts and decision matrix; production plan and teacher-confirmed risk-control record.</a:t>
            </a:r>
          </a:p>
          <a:p xmlns:a="http://schemas.openxmlformats.org/drawingml/2006/main">
            <a:r>
              <a:t>Students save a concise exit response in their local folio or on paper.</a:t>
            </a:r>
          </a:p>
          <a:p xmlns:a="http://schemas.openxmlformats.org/drawingml/2006/main">
            <a:r>
              <a:t>Accept a specific unanswered local-control question; do not pressure students to invent the answer.</a:t>
            </a:r>
          </a:p>
          <a:p xmlns:a="http://schemas.openxmlformats.org/drawingml/2006/main">
            <a:r>
              <a:t>Next step: continue to Module 8.</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78ace484804f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628453a5fb4e21" /><Relationship Type="http://schemas.openxmlformats.org/officeDocument/2006/relationships/slideLayout" Target="/ppt/slideLayouts/slideLayout1.xml" Id="Rf490e91ca6ad4e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90e91ca6ad4e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3dba0083f8465d" /><Relationship Type="http://schemas.openxmlformats.org/officeDocument/2006/relationships/image" Target="/ppt/media/image.png" Id="R1e063f427b2740fc" /><Relationship Type="http://schemas.openxmlformats.org/officeDocument/2006/relationships/notesSlide" Target="/ppt/notesSlides/notesSlide1.xml" Id="R38a156f9acc840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0ce0195efb4750" /><Relationship Type="http://schemas.openxmlformats.org/officeDocument/2006/relationships/notesSlide" Target="/ppt/notesSlides/notesSlide2.xml" Id="Ra30cadfbd2a04b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14fc3687f145c5" /><Relationship Type="http://schemas.openxmlformats.org/officeDocument/2006/relationships/image" Target="/ppt/media/image2.png" Id="R320a22a6fe8e4650" /><Relationship Type="http://schemas.openxmlformats.org/officeDocument/2006/relationships/notesSlide" Target="/ppt/notesSlides/notesSlide3.xml" Id="R544990016f8b4d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4e2561d96b14cf4" /><Relationship Type="http://schemas.openxmlformats.org/officeDocument/2006/relationships/image" Target="/ppt/media/image3.png" Id="Rb9ddf316611d4a8c" /><Relationship Type="http://schemas.openxmlformats.org/officeDocument/2006/relationships/notesSlide" Target="/ppt/notesSlides/notesSlide4.xml" Id="R3748dbcd843f4c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c78a454bcf456f" /><Relationship Type="http://schemas.openxmlformats.org/officeDocument/2006/relationships/image" Target="/ppt/media/image4.png" Id="R9c67ce80e7da43bd" /><Relationship Type="http://schemas.openxmlformats.org/officeDocument/2006/relationships/notesSlide" Target="/ppt/notesSlides/notesSlide5.xml" Id="R34d01288e90c48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15650a8b3c4c98" /><Relationship Type="http://schemas.openxmlformats.org/officeDocument/2006/relationships/notesSlide" Target="/ppt/notesSlides/notesSlide6.xml" Id="R93d0035632ca4c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f6fa0ab0664f39" /><Relationship Type="http://schemas.openxmlformats.org/officeDocument/2006/relationships/notesSlide" Target="/ppt/notesSlides/notesSlide7.xml" Id="Rb2bc5a2c297c4e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18dd52bf1d34af0" /><Relationship Type="http://schemas.openxmlformats.org/officeDocument/2006/relationships/notesSlide" Target="/ppt/notesSlides/notesSlide8.xml" Id="Rb26eb395c40e4ec1" /></Relationships>
</file>

<file path=ppt/slides/slide1.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pic>
        <p:nvPicPr>
          <p:cNvPr id="9" name="" descr="Students and a teacher arrange sequenced task cards with arrows, evidence tokens, quality checks and an approval gate."/>
          <p:cNvPicPr>
            <a:picLocks xmlns:a="http://schemas.openxmlformats.org/drawingml/2006/main" noChangeAspect="1"/>
          </p:cNvPicPr>
          <p:nvPr/>
        </p:nvPicPr>
        <p:blipFill>
          <a:blip xmlns:r="http://schemas.openxmlformats.org/officeDocument/2006/relationships" xmlns:a="http://schemas.openxmlformats.org/drawingml/2006/main" r:embed="R1e063f427b2740fc"/>
          <a:srcRect xmlns:a="http://schemas.openxmlformats.org/drawingml/2006/main" l="24074" t="0" r="24074"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95C213A0-5908-4D49-818E-C23BD9D9D6E8}"/>
              </a:ext>
            </a:extLst>
          </p:cNvPr>
          <p:cNvSpPr>
            <a:spLocks xmlns:a="http://schemas.openxmlformats.org/drawingml/2006/main" noGrp="1"/>
          </p:cNvSpPr>
          <p:nvPr/>
        </p:nvSpPr>
        <p:spPr>
          <a:xfrm xmlns:a="http://schemas.openxmlformats.org/drawingml/2006/main">
            <a:off x="0" y="0"/>
            <a:ext cx="7381875" cy="6858000"/>
          </a:xfrm>
          <a:prstGeom xmlns:a="http://schemas.openxmlformats.org/drawingml/2006/main" prst="rect">
            <a:avLst/>
          </a:prstGeom>
          <a:solidFill xmlns:a="http://schemas.openxmlformats.org/drawingml/2006/main">
            <a:srgbClr val="183B2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95BFAEF-1063-4830-A3E0-12B6F02222AD}"/>
              </a:ext>
            </a:extLst>
          </p:cNvPr>
          <p:cNvSpPr>
            <a:spLocks xmlns:a="http://schemas.openxmlformats.org/drawingml/2006/main" noGrp="1"/>
          </p:cNvSpPr>
          <p:nvPr/>
        </p:nvSpPr>
        <p:spPr>
          <a:xfrm xmlns:a="http://schemas.openxmlformats.org/drawingml/2006/main">
            <a:off x="609600" y="781050"/>
            <a:ext cx="914400" cy="952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9CC67DF-0CD3-4235-B4B3-7BF20BF18F35}"/>
              </a:ext>
            </a:extLst>
          </p:cNvPr>
          <p:cNvSpPr>
            <a:spLocks xmlns:a="http://schemas.openxmlformats.org/drawingml/2006/main" noGrp="1"/>
          </p:cNvSpPr>
          <p:nvPr/>
        </p:nvSpPr>
        <p:spPr>
          <a:xfrm xmlns:a="http://schemas.openxmlformats.org/drawingml/2006/main">
            <a:off x="609600" y="11239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FFF4BA"/>
                </a:solidFill>
              </a:defRPr>
            </a:pPr>
            <a:r>
              <a:rPr sz="1350" b="1" i="0">
                <a:solidFill>
                  <a:srgbClr val="FFF4BA"/>
                </a:solidFill>
              </a:rPr>
              <a:t>MODULE 7</a:t>
            </a:r>
          </a:p>
        </p:txBody>
      </p:sp>
      <p:sp>
        <p:nvSpPr>
          <p:cNvPr id="5" name="">
            <a:extLst xmlns:a="http://schemas.openxmlformats.org/drawingml/2006/main">
              <a:ext uri="{FF2B5EF4-FFF2-40B4-BE49-F238E27FC236}">
                <a16:creationId xmlns:a16="http://schemas.microsoft.com/office/drawing/2014/main" id="{E3FFB6D6-5C03-4AAC-BFFE-C97F41834E69}"/>
              </a:ext>
            </a:extLst>
          </p:cNvPr>
          <p:cNvSpPr>
            <a:spLocks xmlns:a="http://schemas.openxmlformats.org/drawingml/2006/main" noGrp="1"/>
          </p:cNvSpPr>
          <p:nvPr/>
        </p:nvSpPr>
        <p:spPr>
          <a:xfrm xmlns:a="http://schemas.openxmlformats.org/drawingml/2006/main">
            <a:off x="609600" y="1695450"/>
            <a:ext cx="5715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i="0">
                <a:solidFill>
                  <a:srgbClr val="FFFFFF"/>
                </a:solidFill>
              </a:defRPr>
            </a:pPr>
            <a:r>
              <a:rPr sz="4050" b="1" i="0">
                <a:solidFill>
                  <a:srgbClr val="FFFFFF"/>
                </a:solidFill>
              </a:rPr>
              <a:t>Design the Farm in a Box</a:t>
            </a:r>
          </a:p>
        </p:txBody>
      </p:sp>
      <p:sp>
        <p:nvSpPr>
          <p:cNvPr id="6" name="">
            <a:extLst xmlns:a="http://schemas.openxmlformats.org/drawingml/2006/main">
              <a:ext uri="{FF2B5EF4-FFF2-40B4-BE49-F238E27FC236}">
                <a16:creationId xmlns:a16="http://schemas.microsoft.com/office/drawing/2014/main" id="{AFC04537-E068-4E4E-B276-556A193E9475}"/>
              </a:ext>
            </a:extLst>
          </p:cNvPr>
          <p:cNvSpPr>
            <a:spLocks xmlns:a="http://schemas.openxmlformats.org/drawingml/2006/main" noGrp="1"/>
          </p:cNvSpPr>
          <p:nvPr/>
        </p:nvSpPr>
        <p:spPr>
          <a:xfrm xmlns:a="http://schemas.openxmlformats.org/drawingml/2006/main">
            <a:off x="609600" y="3486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EAF2E6"/>
                </a:solidFill>
              </a:defRPr>
            </a:pPr>
            <a:r>
              <a:rPr sz="1875" b="0" i="0">
                <a:solidFill>
                  <a:srgbClr val="EAF2E6"/>
                </a:solidFill>
              </a:rPr>
              <a:t>Turn needs and limits into a justified production plan</a:t>
            </a:r>
          </a:p>
        </p:txBody>
      </p:sp>
      <p:sp>
        <p:nvSpPr>
          <p:cNvPr id="7" name="">
            <a:extLst xmlns:a="http://schemas.openxmlformats.org/drawingml/2006/main">
              <a:ext uri="{FF2B5EF4-FFF2-40B4-BE49-F238E27FC236}">
                <a16:creationId xmlns:a16="http://schemas.microsoft.com/office/drawing/2014/main" id="{BDAF88FB-80F7-4AB0-9844-E0DC123C552B}"/>
              </a:ext>
            </a:extLst>
          </p:cNvPr>
          <p:cNvSpPr>
            <a:spLocks xmlns:a="http://schemas.openxmlformats.org/drawingml/2006/main" noGrp="1"/>
          </p:cNvSpPr>
          <p:nvPr/>
        </p:nvSpPr>
        <p:spPr>
          <a:xfrm xmlns:a="http://schemas.openxmlformats.org/drawingml/2006/main">
            <a:off x="609600" y="58102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C8D8C6"/>
                </a:solidFill>
              </a:defRPr>
            </a:pPr>
            <a:r>
              <a:rPr sz="1125" b="1" i="0">
                <a:solidFill>
                  <a:srgbClr val="C8D8C6"/>
                </a:solidFill>
              </a:rPr>
              <a:t>Teacher-led classroom presentation</a:t>
            </a:r>
          </a:p>
        </p:txBody>
      </p:sp>
    </p:spTree>
    <p:extLst>
      <p:ext uri="{BB962C8B-B14F-4D97-AF65-F5344CB8AC3E}">
        <p14:creationId xmlns:p14="http://schemas.microsoft.com/office/powerpoint/2010/main" val="771369146"/>
      </p:ext>
    </p:extLst>
  </p:cSld>
</p:sld>
</file>

<file path=ppt/slides/slide2.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D0DD2BF-DB66-46D5-BDD6-F72F946AD8F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01FEB5-F246-4EC0-A2F1-55871A640F35}"/>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TODAY’S LEARNING PATH</a:t>
            </a:r>
          </a:p>
        </p:txBody>
      </p:sp>
      <p:sp>
        <p:nvSpPr>
          <p:cNvPr id="3" name="">
            <a:extLst xmlns:a="http://schemas.openxmlformats.org/drawingml/2006/main">
              <a:ext uri="{FF2B5EF4-FFF2-40B4-BE49-F238E27FC236}">
                <a16:creationId xmlns:a16="http://schemas.microsoft.com/office/drawing/2014/main" id="{E9B75A06-FDD2-4D9C-B24A-AB08C10AF60A}"/>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7  •  DESIGN THE FARM IN A BOX</a:t>
            </a:r>
          </a:p>
        </p:txBody>
      </p:sp>
      <p:sp>
        <p:nvSpPr>
          <p:cNvPr id="4" name="">
            <a:extLst xmlns:a="http://schemas.openxmlformats.org/drawingml/2006/main">
              <a:ext uri="{FF2B5EF4-FFF2-40B4-BE49-F238E27FC236}">
                <a16:creationId xmlns:a16="http://schemas.microsoft.com/office/drawing/2014/main" id="{B44F6887-9729-4260-B1B1-ED8518549612}"/>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02</a:t>
            </a:r>
          </a:p>
        </p:txBody>
      </p:sp>
      <p:sp>
        <p:nvSpPr>
          <p:cNvPr id="5" name="">
            <a:extLst xmlns:a="http://schemas.openxmlformats.org/drawingml/2006/main">
              <a:ext uri="{FF2B5EF4-FFF2-40B4-BE49-F238E27FC236}">
                <a16:creationId xmlns:a16="http://schemas.microsoft.com/office/drawing/2014/main" id="{F9F5232D-40AC-4CE3-8B01-197999E023EF}"/>
              </a:ext>
            </a:extLst>
          </p:cNvPr>
          <p:cNvSpPr>
            <a:spLocks xmlns:a="http://schemas.openxmlformats.org/drawingml/2006/main" noGrp="1"/>
          </p:cNvSpPr>
          <p:nvPr/>
        </p:nvSpPr>
        <p:spPr>
          <a:xfrm xmlns:a="http://schemas.openxmlformats.org/drawingml/2006/main">
            <a:off x="590550" y="800100"/>
            <a:ext cx="638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Where are we going?</a:t>
            </a:r>
          </a:p>
        </p:txBody>
      </p:sp>
      <p:sp>
        <p:nvSpPr>
          <p:cNvPr id="6" name="">
            <a:extLst xmlns:a="http://schemas.openxmlformats.org/drawingml/2006/main">
              <a:ext uri="{FF2B5EF4-FFF2-40B4-BE49-F238E27FC236}">
                <a16:creationId xmlns:a16="http://schemas.microsoft.com/office/drawing/2014/main" id="{3E633E39-5566-47AA-81B6-7CFC8FDD8074}"/>
              </a:ext>
            </a:extLst>
          </p:cNvPr>
          <p:cNvSpPr>
            <a:spLocks xmlns:a="http://schemas.openxmlformats.org/drawingml/2006/main" noGrp="1"/>
          </p:cNvSpPr>
          <p:nvPr/>
        </p:nvSpPr>
        <p:spPr>
          <a:xfrm xmlns:a="http://schemas.openxmlformats.org/drawingml/2006/main">
            <a:off x="590550" y="18097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81B95FB0-6DB9-44B0-8448-8D39AA4CC2C3}"/>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DAAB272-9572-4733-ACCC-2A0C6A7FE642}"/>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9" name="">
            <a:extLst xmlns:a="http://schemas.openxmlformats.org/drawingml/2006/main">
              <a:ext uri="{FF2B5EF4-FFF2-40B4-BE49-F238E27FC236}">
                <a16:creationId xmlns:a16="http://schemas.microsoft.com/office/drawing/2014/main" id="{50F9A0D6-376F-4A16-B09C-839005FD8D2A}"/>
              </a:ext>
            </a:extLst>
          </p:cNvPr>
          <p:cNvSpPr>
            <a:spLocks xmlns:a="http://schemas.openxmlformats.org/drawingml/2006/main" noGrp="1"/>
          </p:cNvSpPr>
          <p:nvPr/>
        </p:nvSpPr>
        <p:spPr>
          <a:xfrm xmlns:a="http://schemas.openxmlformats.org/drawingml/2006/main">
            <a:off x="1466850" y="19716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Turn the brief into criteria</a:t>
            </a:r>
          </a:p>
        </p:txBody>
      </p:sp>
      <p:sp>
        <p:nvSpPr>
          <p:cNvPr id="10" name="">
            <a:extLst xmlns:a="http://schemas.openxmlformats.org/drawingml/2006/main">
              <a:ext uri="{FF2B5EF4-FFF2-40B4-BE49-F238E27FC236}">
                <a16:creationId xmlns:a16="http://schemas.microsoft.com/office/drawing/2014/main" id="{5810960D-D3F8-44AA-B610-3F29E1D29E5E}"/>
              </a:ext>
            </a:extLst>
          </p:cNvPr>
          <p:cNvSpPr>
            <a:spLocks xmlns:a="http://schemas.openxmlformats.org/drawingml/2006/main" noGrp="1"/>
          </p:cNvSpPr>
          <p:nvPr/>
        </p:nvSpPr>
        <p:spPr>
          <a:xfrm xmlns:a="http://schemas.openxmlformats.org/drawingml/2006/main">
            <a:off x="590550" y="30289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1" name="">
            <a:extLst xmlns:a="http://schemas.openxmlformats.org/drawingml/2006/main">
              <a:ext uri="{FF2B5EF4-FFF2-40B4-BE49-F238E27FC236}">
                <a16:creationId xmlns:a16="http://schemas.microsoft.com/office/drawing/2014/main" id="{CE3B9824-CDA2-4BB9-B51A-FC7B2B40CB84}"/>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6288F6D-B97B-4C6A-AF20-DE878C7B7BB4}"/>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2</a:t>
            </a:r>
          </a:p>
        </p:txBody>
      </p:sp>
      <p:sp>
        <p:nvSpPr>
          <p:cNvPr id="13" name="">
            <a:extLst xmlns:a="http://schemas.openxmlformats.org/drawingml/2006/main">
              <a:ext uri="{FF2B5EF4-FFF2-40B4-BE49-F238E27FC236}">
                <a16:creationId xmlns:a16="http://schemas.microsoft.com/office/drawing/2014/main" id="{DA26D57F-0419-4453-B2B1-1ADFB0F208C7}"/>
              </a:ext>
            </a:extLst>
          </p:cNvPr>
          <p:cNvSpPr>
            <a:spLocks xmlns:a="http://schemas.openxmlformats.org/drawingml/2006/main" noGrp="1"/>
          </p:cNvSpPr>
          <p:nvPr/>
        </p:nvSpPr>
        <p:spPr>
          <a:xfrm xmlns:a="http://schemas.openxmlformats.org/drawingml/2006/main">
            <a:off x="1466850" y="31908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Generate, compare and refine</a:t>
            </a:r>
          </a:p>
        </p:txBody>
      </p:sp>
      <p:sp>
        <p:nvSpPr>
          <p:cNvPr id="14" name="">
            <a:extLst xmlns:a="http://schemas.openxmlformats.org/drawingml/2006/main">
              <a:ext uri="{FF2B5EF4-FFF2-40B4-BE49-F238E27FC236}">
                <a16:creationId xmlns:a16="http://schemas.microsoft.com/office/drawing/2014/main" id="{39642EAF-1281-45B8-9E86-1B6BCB205E51}"/>
              </a:ext>
            </a:extLst>
          </p:cNvPr>
          <p:cNvSpPr>
            <a:spLocks xmlns:a="http://schemas.openxmlformats.org/drawingml/2006/main" noGrp="1"/>
          </p:cNvSpPr>
          <p:nvPr/>
        </p:nvSpPr>
        <p:spPr>
          <a:xfrm xmlns:a="http://schemas.openxmlformats.org/drawingml/2006/main">
            <a:off x="590550" y="42481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5" name="">
            <a:extLst xmlns:a="http://schemas.openxmlformats.org/drawingml/2006/main">
              <a:ext uri="{FF2B5EF4-FFF2-40B4-BE49-F238E27FC236}">
                <a16:creationId xmlns:a16="http://schemas.microsoft.com/office/drawing/2014/main" id="{186571B9-8A5F-43D4-9447-410418C3CAC7}"/>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2B3C5A-1605-4B7D-9D21-7CF3379BDAA9}"/>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3</a:t>
            </a:r>
          </a:p>
        </p:txBody>
      </p:sp>
      <p:sp>
        <p:nvSpPr>
          <p:cNvPr id="17" name="">
            <a:extLst xmlns:a="http://schemas.openxmlformats.org/drawingml/2006/main">
              <a:ext uri="{FF2B5EF4-FFF2-40B4-BE49-F238E27FC236}">
                <a16:creationId xmlns:a16="http://schemas.microsoft.com/office/drawing/2014/main" id="{49272CC8-9E39-4CFA-838E-B6D03578327D}"/>
              </a:ext>
            </a:extLst>
          </p:cNvPr>
          <p:cNvSpPr>
            <a:spLocks xmlns:a="http://schemas.openxmlformats.org/drawingml/2006/main" noGrp="1"/>
          </p:cNvSpPr>
          <p:nvPr/>
        </p:nvSpPr>
        <p:spPr>
          <a:xfrm xmlns:a="http://schemas.openxmlformats.org/drawingml/2006/main">
            <a:off x="1466850" y="44100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Plan the build and control risk</a:t>
            </a:r>
          </a:p>
        </p:txBody>
      </p:sp>
      <p:sp>
        <p:nvSpPr>
          <p:cNvPr id="18" name="">
            <a:extLst xmlns:a="http://schemas.openxmlformats.org/drawingml/2006/main">
              <a:ext uri="{FF2B5EF4-FFF2-40B4-BE49-F238E27FC236}">
                <a16:creationId xmlns:a16="http://schemas.microsoft.com/office/drawing/2014/main" id="{197B0A48-DC77-4813-A25C-FE628E902316}"/>
              </a:ext>
            </a:extLst>
          </p:cNvPr>
          <p:cNvSpPr>
            <a:spLocks xmlns:a="http://schemas.openxmlformats.org/drawingml/2006/main" noGrp="1"/>
          </p:cNvSpPr>
          <p:nvPr/>
        </p:nvSpPr>
        <p:spPr>
          <a:xfrm xmlns:a="http://schemas.openxmlformats.org/drawingml/2006/main">
            <a:off x="7905750" y="1809750"/>
            <a:ext cx="3619500" cy="3333750"/>
          </a:xfrm>
          <a:prstGeom xmlns:a="http://schemas.openxmlformats.org/drawingml/2006/main" prst="roundRect">
            <a:avLst>
              <a:gd name="adj" fmla="val 3429"/>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E701B92-2621-4888-9EC0-99F6121B24E3}"/>
              </a:ext>
            </a:extLst>
          </p:cNvPr>
          <p:cNvSpPr>
            <a:spLocks xmlns:a="http://schemas.openxmlformats.org/drawingml/2006/main" noGrp="1"/>
          </p:cNvSpPr>
          <p:nvPr/>
        </p:nvSpPr>
        <p:spPr>
          <a:xfrm xmlns:a="http://schemas.openxmlformats.org/drawingml/2006/main">
            <a:off x="8239125" y="2133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FFF4BA"/>
                </a:solidFill>
              </a:defRPr>
            </a:pPr>
            <a:r>
              <a:rPr sz="1125" b="1" i="0">
                <a:solidFill>
                  <a:srgbClr val="FFF4BA"/>
                </a:solidFill>
              </a:rPr>
              <a:t>RETRIEVAL WARM-UP</a:t>
            </a:r>
          </a:p>
        </p:txBody>
      </p:sp>
      <p:sp>
        <p:nvSpPr>
          <p:cNvPr id="20" name="">
            <a:extLst xmlns:a="http://schemas.openxmlformats.org/drawingml/2006/main">
              <a:ext uri="{FF2B5EF4-FFF2-40B4-BE49-F238E27FC236}">
                <a16:creationId xmlns:a16="http://schemas.microsoft.com/office/drawing/2014/main" id="{66D768C6-7239-4132-A164-DF6E06808C46}"/>
              </a:ext>
            </a:extLst>
          </p:cNvPr>
          <p:cNvSpPr>
            <a:spLocks xmlns:a="http://schemas.openxmlformats.org/drawingml/2006/main" noGrp="1"/>
          </p:cNvSpPr>
          <p:nvPr/>
        </p:nvSpPr>
        <p:spPr>
          <a:xfrm xmlns:a="http://schemas.openxmlformats.org/drawingml/2006/main">
            <a:off x="8239125" y="261937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i="0">
                <a:solidFill>
                  <a:srgbClr val="FFFFFF"/>
                </a:solidFill>
              </a:defRPr>
            </a:pPr>
            <a:r>
              <a:rPr sz="2100" b="1" i="0">
                <a:solidFill>
                  <a:srgbClr val="FFFFFF"/>
                </a:solidFill>
              </a:rPr>
              <a:t>What do you already know?</a:t>
            </a:r>
          </a:p>
        </p:txBody>
      </p:sp>
      <p:sp>
        <p:nvSpPr>
          <p:cNvPr id="21" name="">
            <a:extLst xmlns:a="http://schemas.openxmlformats.org/drawingml/2006/main">
              <a:ext uri="{FF2B5EF4-FFF2-40B4-BE49-F238E27FC236}">
                <a16:creationId xmlns:a16="http://schemas.microsoft.com/office/drawing/2014/main" id="{41ACFED9-0A1D-4C39-AB6F-BD63A752AA9B}"/>
              </a:ext>
            </a:extLst>
          </p:cNvPr>
          <p:cNvSpPr>
            <a:spLocks xmlns:a="http://schemas.openxmlformats.org/drawingml/2006/main" noGrp="1"/>
          </p:cNvSpPr>
          <p:nvPr/>
        </p:nvSpPr>
        <p:spPr>
          <a:xfrm xmlns:a="http://schemas.openxmlformats.org/drawingml/2006/main">
            <a:off x="8239125" y="342900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EAF2E6"/>
                </a:solidFill>
              </a:defRPr>
            </a:pPr>
            <a:r>
              <a:rPr sz="1500" b="0" i="0">
                <a:solidFill>
                  <a:srgbClr val="EAF2E6"/>
                </a:solidFill>
              </a:rPr>
              <a:t>1. Define one key word from the module.</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2. Predict one practical or design decision.</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3. Name one question you have.</a:t>
            </a:r>
          </a:p>
        </p:txBody>
      </p:sp>
    </p:spTree>
    <p:extLst>
      <p:ext uri="{BB962C8B-B14F-4D97-AF65-F5344CB8AC3E}">
        <p14:creationId xmlns:p14="http://schemas.microsoft.com/office/powerpoint/2010/main" val="1412547393"/>
      </p:ext>
    </p:extLst>
  </p:cSld>
</p:sld>
</file>

<file path=ppt/slides/slide3.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605226B-ACA6-4E54-BD03-3F02E0EF4E1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424C5C-8D8F-4C89-9847-70BC02BE057D}"/>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7.1 TURN THE BRIEF INTO CRITERIA</a:t>
            </a:r>
          </a:p>
        </p:txBody>
      </p:sp>
      <p:sp>
        <p:nvSpPr>
          <p:cNvPr id="3" name="">
            <a:extLst xmlns:a="http://schemas.openxmlformats.org/drawingml/2006/main">
              <a:ext uri="{FF2B5EF4-FFF2-40B4-BE49-F238E27FC236}">
                <a16:creationId xmlns:a16="http://schemas.microsoft.com/office/drawing/2014/main" id="{4A87003C-FA08-47CE-B58F-5FA826779D22}"/>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7  •  DESIGN THE FARM IN A BOX</a:t>
            </a:r>
          </a:p>
        </p:txBody>
      </p:sp>
      <p:sp>
        <p:nvSpPr>
          <p:cNvPr id="4" name="">
            <a:extLst xmlns:a="http://schemas.openxmlformats.org/drawingml/2006/main">
              <a:ext uri="{FF2B5EF4-FFF2-40B4-BE49-F238E27FC236}">
                <a16:creationId xmlns:a16="http://schemas.microsoft.com/office/drawing/2014/main" id="{EA198B34-AA78-4A19-A26E-180076659F78}"/>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03</a:t>
            </a:r>
          </a:p>
        </p:txBody>
      </p:sp>
      <p:sp>
        <p:nvSpPr>
          <p:cNvPr id="5" name="">
            <a:extLst xmlns:a="http://schemas.openxmlformats.org/drawingml/2006/main">
              <a:ext uri="{FF2B5EF4-FFF2-40B4-BE49-F238E27FC236}">
                <a16:creationId xmlns:a16="http://schemas.microsoft.com/office/drawing/2014/main" id="{404E9720-57C4-42DA-9331-CBF8167041CF}"/>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Turn the brief into criteria</a:t>
            </a:r>
          </a:p>
        </p:txBody>
      </p:sp>
      <p:sp>
        <p:nvSpPr>
          <p:cNvPr id="6" name="">
            <a:extLst xmlns:a="http://schemas.openxmlformats.org/drawingml/2006/main">
              <a:ext uri="{FF2B5EF4-FFF2-40B4-BE49-F238E27FC236}">
                <a16:creationId xmlns:a16="http://schemas.microsoft.com/office/drawing/2014/main" id="{584D25C0-74FD-4385-B601-430FECF70B94}"/>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18663CC1-F53C-4B25-A84E-94FCE18826D1}"/>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1A37987-24B4-4D3C-8554-8522599E799A}"/>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brief defines the need, user, required functions and constraints.</a:t>
            </a:r>
          </a:p>
        </p:txBody>
      </p:sp>
      <p:sp>
        <p:nvSpPr>
          <p:cNvPr id="9" name="">
            <a:extLst xmlns:a="http://schemas.openxmlformats.org/drawingml/2006/main">
              <a:ext uri="{FF2B5EF4-FFF2-40B4-BE49-F238E27FC236}">
                <a16:creationId xmlns:a16="http://schemas.microsoft.com/office/drawing/2014/main" id="{6FBA6E1E-F068-4CF3-9E2E-49D885D3E213}"/>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6CAD23F-067A-4F54-91B4-7D96F54D516F}"/>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Measurable criteria turn it into a fair basis for comparing concepts and judging the final system.</a:t>
            </a:r>
          </a:p>
        </p:txBody>
      </p:sp>
      <p:sp>
        <p:nvSpPr>
          <p:cNvPr id="11" name="">
            <a:extLst xmlns:a="http://schemas.openxmlformats.org/drawingml/2006/main">
              <a:ext uri="{FF2B5EF4-FFF2-40B4-BE49-F238E27FC236}">
                <a16:creationId xmlns:a16="http://schemas.microsoft.com/office/drawing/2014/main" id="{233AB859-F676-4A7A-A24F-29EBCB054877}"/>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BF1C321-CEF8-4868-A473-2FA610CDEC04}"/>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strong brief defines the problem and boundaries while leaving room for several defensible solutions.</a:t>
            </a:r>
          </a:p>
        </p:txBody>
      </p:sp>
      <p:pic>
        <p:nvPicPr>
          <p:cNvPr id="30" name="" descr="A student sorts three groups of plain planning cards beside an empty drawing frame, ruler, measuring jug and blank checklist."/>
          <p:cNvPicPr>
            <a:picLocks xmlns:a="http://schemas.openxmlformats.org/drawingml/2006/main" noChangeAspect="1"/>
          </p:cNvPicPr>
          <p:nvPr/>
        </p:nvPicPr>
        <p:blipFill>
          <a:blip xmlns:r="http://schemas.openxmlformats.org/officeDocument/2006/relationships" xmlns:a="http://schemas.openxmlformats.org/drawingml/2006/main" r:embed="R320a22a6fe8e4650"/>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AAF21A10-DE1F-4754-BCD2-8BFB438018DB}"/>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19D6520-2699-48F2-903F-1091C3FCE3DC}"/>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“A strong design brief describes the exact final answer.”</a:t>
            </a:r>
          </a:p>
        </p:txBody>
      </p:sp>
    </p:spTree>
    <p:extLst>
      <p:ext uri="{BB962C8B-B14F-4D97-AF65-F5344CB8AC3E}">
        <p14:creationId xmlns:p14="http://schemas.microsoft.com/office/powerpoint/2010/main" val="1731940925"/>
      </p:ext>
    </p:extLst>
  </p:cSld>
</p:sld>
</file>

<file path=ppt/slides/slide4.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65AF8C7-7069-43F8-ABFA-824FE7EB250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C9CFC17-2676-477F-88CF-23CEEC7E4B8E}"/>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7.2 GENERATE, COMPARE AND REFINE</a:t>
            </a:r>
          </a:p>
        </p:txBody>
      </p:sp>
      <p:sp>
        <p:nvSpPr>
          <p:cNvPr id="3" name="">
            <a:extLst xmlns:a="http://schemas.openxmlformats.org/drawingml/2006/main">
              <a:ext uri="{FF2B5EF4-FFF2-40B4-BE49-F238E27FC236}">
                <a16:creationId xmlns:a16="http://schemas.microsoft.com/office/drawing/2014/main" id="{09C90AD9-3C03-4D63-AFAF-244F8557B582}"/>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7  •  DESIGN THE FARM IN A BOX</a:t>
            </a:r>
          </a:p>
        </p:txBody>
      </p:sp>
      <p:sp>
        <p:nvSpPr>
          <p:cNvPr id="4" name="">
            <a:extLst xmlns:a="http://schemas.openxmlformats.org/drawingml/2006/main">
              <a:ext uri="{FF2B5EF4-FFF2-40B4-BE49-F238E27FC236}">
                <a16:creationId xmlns:a16="http://schemas.microsoft.com/office/drawing/2014/main" id="{C03B251B-B5E7-446A-87BA-50D4B1A250EA}"/>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04</a:t>
            </a:r>
          </a:p>
        </p:txBody>
      </p:sp>
      <p:sp>
        <p:nvSpPr>
          <p:cNvPr id="5" name="">
            <a:extLst xmlns:a="http://schemas.openxmlformats.org/drawingml/2006/main">
              <a:ext uri="{FF2B5EF4-FFF2-40B4-BE49-F238E27FC236}">
                <a16:creationId xmlns:a16="http://schemas.microsoft.com/office/drawing/2014/main" id="{07BD0AA5-9469-4636-A365-1A5B34C200A4}"/>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Generate, compare and refine</a:t>
            </a:r>
          </a:p>
        </p:txBody>
      </p:sp>
      <p:sp>
        <p:nvSpPr>
          <p:cNvPr id="6" name="">
            <a:extLst xmlns:a="http://schemas.openxmlformats.org/drawingml/2006/main">
              <a:ext uri="{FF2B5EF4-FFF2-40B4-BE49-F238E27FC236}">
                <a16:creationId xmlns:a16="http://schemas.microsoft.com/office/drawing/2014/main" id="{098C7FBB-A5FB-4A20-9F38-917874B814DE}"/>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1B7B90A5-E395-46BB-997E-897CCD0B96BB}"/>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35D5B81-F3C9-4A4A-A88C-99E172F5A43F}"/>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The score supports a decision, but assumptions and serious weaknesses still need checking and refinement.</a:t>
            </a:r>
          </a:p>
        </p:txBody>
      </p:sp>
      <p:sp>
        <p:nvSpPr>
          <p:cNvPr id="9" name="">
            <a:extLst xmlns:a="http://schemas.openxmlformats.org/drawingml/2006/main">
              <a:ext uri="{FF2B5EF4-FFF2-40B4-BE49-F238E27FC236}">
                <a16:creationId xmlns:a16="http://schemas.microsoft.com/office/drawing/2014/main" id="{4B96DF1C-02B7-42AA-B44A-624A7B02EF11}"/>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A006F0-F5B8-434B-ABB4-6CD287125F9C}"/>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possible design direction showing how a solution could work.</a:t>
            </a:r>
          </a:p>
        </p:txBody>
      </p:sp>
      <p:sp>
        <p:nvSpPr>
          <p:cNvPr id="11" name="">
            <a:extLst xmlns:a="http://schemas.openxmlformats.org/drawingml/2006/main">
              <a:ext uri="{FF2B5EF4-FFF2-40B4-BE49-F238E27FC236}">
                <a16:creationId xmlns:a16="http://schemas.microsoft.com/office/drawing/2014/main" id="{73589982-114B-413E-965B-F8DACA9B5DBB}"/>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9B520F4-9FDD-4183-A9B3-508371A9FA26}"/>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short label or note that explains a feature or decision.</a:t>
            </a:r>
          </a:p>
        </p:txBody>
      </p:sp>
      <p:pic>
        <p:nvPicPr>
          <p:cNvPr id="30" name="" descr="Three different crop-system sketches sit above a comparison grid and a fourth refined sketch with changes circled."/>
          <p:cNvPicPr>
            <a:picLocks xmlns:a="http://schemas.openxmlformats.org/drawingml/2006/main" noChangeAspect="1"/>
          </p:cNvPicPr>
          <p:nvPr/>
        </p:nvPicPr>
        <p:blipFill>
          <a:blip xmlns:r="http://schemas.openxmlformats.org/officeDocument/2006/relationships" xmlns:a="http://schemas.openxmlformats.org/drawingml/2006/main" r:embed="Rb9ddf316611d4a8c"/>
          <a:stretch xmlns:a="http://schemas.openxmlformats.org/drawingml/2006/main"/>
        </p:blipFill>
        <p:spPr>
          <a:xfrm xmlns:a="http://schemas.openxmlformats.org/drawingml/2006/main">
            <a:off x="7667625" y="1666875"/>
            <a:ext cx="3857625" cy="257175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6442AEA4-4867-4496-846B-942029948DD9}"/>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382B3E2-5C9E-4B33-97C8-9E3C2A72BBC9}"/>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“The concept with the highest matrix score is automatically ready to build.”</a:t>
            </a:r>
          </a:p>
        </p:txBody>
      </p:sp>
    </p:spTree>
    <p:extLst>
      <p:ext uri="{BB962C8B-B14F-4D97-AF65-F5344CB8AC3E}">
        <p14:creationId xmlns:p14="http://schemas.microsoft.com/office/powerpoint/2010/main" val="1014338078"/>
      </p:ext>
    </p:extLst>
  </p:cSld>
</p:sld>
</file>

<file path=ppt/slides/slide5.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AC31463-B60D-48D8-9B38-A1C02E3B842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308ADC0-3AD1-425E-ACFF-AE73D0849B43}"/>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7.3 PLAN THE BUILD AND CONTROL RISK</a:t>
            </a:r>
          </a:p>
        </p:txBody>
      </p:sp>
      <p:sp>
        <p:nvSpPr>
          <p:cNvPr id="3" name="">
            <a:extLst xmlns:a="http://schemas.openxmlformats.org/drawingml/2006/main">
              <a:ext uri="{FF2B5EF4-FFF2-40B4-BE49-F238E27FC236}">
                <a16:creationId xmlns:a16="http://schemas.microsoft.com/office/drawing/2014/main" id="{E10C5C92-5D9F-4CD0-8728-155F89B66D21}"/>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7  •  DESIGN THE FARM IN A BOX</a:t>
            </a:r>
          </a:p>
        </p:txBody>
      </p:sp>
      <p:sp>
        <p:nvSpPr>
          <p:cNvPr id="4" name="">
            <a:extLst xmlns:a="http://schemas.openxmlformats.org/drawingml/2006/main">
              <a:ext uri="{FF2B5EF4-FFF2-40B4-BE49-F238E27FC236}">
                <a16:creationId xmlns:a16="http://schemas.microsoft.com/office/drawing/2014/main" id="{513FB81E-E9A6-40FE-9EE2-5B7D91620838}"/>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05</a:t>
            </a:r>
          </a:p>
        </p:txBody>
      </p:sp>
      <p:sp>
        <p:nvSpPr>
          <p:cNvPr id="5" name="">
            <a:extLst xmlns:a="http://schemas.openxmlformats.org/drawingml/2006/main">
              <a:ext uri="{FF2B5EF4-FFF2-40B4-BE49-F238E27FC236}">
                <a16:creationId xmlns:a16="http://schemas.microsoft.com/office/drawing/2014/main" id="{313A0B74-F19D-43D7-8A76-D3AEAB1CA18F}"/>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Plan the build and control risk</a:t>
            </a:r>
          </a:p>
        </p:txBody>
      </p:sp>
      <p:sp>
        <p:nvSpPr>
          <p:cNvPr id="6" name="">
            <a:extLst xmlns:a="http://schemas.openxmlformats.org/drawingml/2006/main">
              <a:ext uri="{FF2B5EF4-FFF2-40B4-BE49-F238E27FC236}">
                <a16:creationId xmlns:a16="http://schemas.microsoft.com/office/drawing/2014/main" id="{544BAA3E-ADF4-445D-ABD7-DF2523FBE1E5}"/>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8F114CEF-2160-494B-AFB1-48BD38A7CB4F}"/>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7040E05-32CB-42AF-9F47-C7166F567FE1}"/>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production plan sequences tasks, dependencies, evidence, checks and approvals.</a:t>
            </a:r>
          </a:p>
        </p:txBody>
      </p:sp>
      <p:sp>
        <p:nvSpPr>
          <p:cNvPr id="9" name="">
            <a:extLst xmlns:a="http://schemas.openxmlformats.org/drawingml/2006/main">
              <a:ext uri="{FF2B5EF4-FFF2-40B4-BE49-F238E27FC236}">
                <a16:creationId xmlns:a16="http://schemas.microsoft.com/office/drawing/2014/main" id="{1550908C-750F-4E5E-85E0-40C97B91A2AF}"/>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D4D88A-B073-43D9-BD82-1FB2415D4EC2}"/>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Real risk controls come from the teacher-approved context and are followed, recorded and reviewed.</a:t>
            </a:r>
          </a:p>
        </p:txBody>
      </p:sp>
      <p:sp>
        <p:nvSpPr>
          <p:cNvPr id="11" name="">
            <a:extLst xmlns:a="http://schemas.openxmlformats.org/drawingml/2006/main">
              <a:ext uri="{FF2B5EF4-FFF2-40B4-BE49-F238E27FC236}">
                <a16:creationId xmlns:a16="http://schemas.microsoft.com/office/drawing/2014/main" id="{E6C2A295-E3F1-440F-98F3-C7EB3ACC0719}"/>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7ED2238-9236-4400-9257-D41C4F025AC8}"/>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Controls must match the actual approved task, resource and process, and students must follow demonstrations and checkpoints.</a:t>
            </a:r>
          </a:p>
        </p:txBody>
      </p:sp>
      <p:pic>
        <p:nvPicPr>
          <p:cNvPr id="30" name="" descr="Students and a teacher arrange sequenced task cards with arrows, evidence tokens, quality checks and an approval gate."/>
          <p:cNvPicPr>
            <a:picLocks xmlns:a="http://schemas.openxmlformats.org/drawingml/2006/main" noChangeAspect="1"/>
          </p:cNvPicPr>
          <p:nvPr/>
        </p:nvPicPr>
        <p:blipFill>
          <a:blip xmlns:r="http://schemas.openxmlformats.org/officeDocument/2006/relationships" xmlns:a="http://schemas.openxmlformats.org/drawingml/2006/main" r:embed="R9c67ce80e7da43bd"/>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3E25BD7B-47F4-4D84-AD9C-9F5F4C4C0348}"/>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A416ACB-08AB-4DEA-8711-419A564D7F51}"/>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“Writing a generic safety list proves a production plan is safe.”</a:t>
            </a:r>
          </a:p>
        </p:txBody>
      </p:sp>
    </p:spTree>
    <p:extLst>
      <p:ext uri="{BB962C8B-B14F-4D97-AF65-F5344CB8AC3E}">
        <p14:creationId xmlns:p14="http://schemas.microsoft.com/office/powerpoint/2010/main" val="901235421"/>
      </p:ext>
    </p:extLst>
  </p:cSld>
</p:sld>
</file>

<file path=ppt/slides/slide6.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9465527-CF84-4402-A6FE-18BBB9A3416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5D8609-6B2E-4DAC-B07B-302CE357EEFD}"/>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CHECK FOR UNDERSTANDING</a:t>
            </a:r>
          </a:p>
        </p:txBody>
      </p:sp>
      <p:sp>
        <p:nvSpPr>
          <p:cNvPr id="3" name="">
            <a:extLst xmlns:a="http://schemas.openxmlformats.org/drawingml/2006/main">
              <a:ext uri="{FF2B5EF4-FFF2-40B4-BE49-F238E27FC236}">
                <a16:creationId xmlns:a16="http://schemas.microsoft.com/office/drawing/2014/main" id="{01FAAAEB-95E5-452F-962C-F63E827A849E}"/>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7  •  DESIGN THE FARM IN A BOX</a:t>
            </a:r>
          </a:p>
        </p:txBody>
      </p:sp>
      <p:sp>
        <p:nvSpPr>
          <p:cNvPr id="4" name="">
            <a:extLst xmlns:a="http://schemas.openxmlformats.org/drawingml/2006/main">
              <a:ext uri="{FF2B5EF4-FFF2-40B4-BE49-F238E27FC236}">
                <a16:creationId xmlns:a16="http://schemas.microsoft.com/office/drawing/2014/main" id="{7D13D2C4-F750-4EA1-BEE6-42E7E742D5D8}"/>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06</a:t>
            </a:r>
          </a:p>
        </p:txBody>
      </p:sp>
      <p:sp>
        <p:nvSpPr>
          <p:cNvPr id="5" name="">
            <a:extLst xmlns:a="http://schemas.openxmlformats.org/drawingml/2006/main">
              <a:ext uri="{FF2B5EF4-FFF2-40B4-BE49-F238E27FC236}">
                <a16:creationId xmlns:a16="http://schemas.microsoft.com/office/drawing/2014/main" id="{74E5F8B1-2A9A-4AF5-BDB4-9C6F444953BF}"/>
              </a:ext>
            </a:extLst>
          </p:cNvPr>
          <p:cNvSpPr>
            <a:spLocks xmlns:a="http://schemas.openxmlformats.org/drawingml/2006/main" noGrp="1"/>
          </p:cNvSpPr>
          <p:nvPr/>
        </p:nvSpPr>
        <p:spPr>
          <a:xfrm xmlns:a="http://schemas.openxmlformats.org/drawingml/2006/main">
            <a:off x="590550" y="78105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000" b="1" i="0">
                <a:solidFill>
                  <a:srgbClr val="FFFFFF"/>
                </a:solidFill>
              </a:defRPr>
            </a:pPr>
            <a:r>
              <a:rPr sz="3000" b="1" i="0">
                <a:solidFill>
                  <a:srgbClr val="FFFFFF"/>
                </a:solidFill>
              </a:rPr>
              <a:t>Stop. Think. Explain.</a:t>
            </a:r>
          </a:p>
        </p:txBody>
      </p:sp>
      <p:sp>
        <p:nvSpPr>
          <p:cNvPr id="6" name="">
            <a:extLst xmlns:a="http://schemas.openxmlformats.org/drawingml/2006/main">
              <a:ext uri="{FF2B5EF4-FFF2-40B4-BE49-F238E27FC236}">
                <a16:creationId xmlns:a16="http://schemas.microsoft.com/office/drawing/2014/main" id="{A1EE6A53-2B94-4173-A1B7-337ADB958E7A}"/>
              </a:ext>
            </a:extLst>
          </p:cNvPr>
          <p:cNvSpPr>
            <a:spLocks xmlns:a="http://schemas.openxmlformats.org/drawingml/2006/main" noGrp="1"/>
          </p:cNvSpPr>
          <p:nvPr/>
        </p:nvSpPr>
        <p:spPr>
          <a:xfrm xmlns:a="http://schemas.openxmlformats.org/drawingml/2006/main">
            <a:off x="590550" y="14668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DDE9DB"/>
                </a:solidFill>
              </a:defRPr>
            </a:pPr>
            <a:r>
              <a:rPr sz="1500" b="0" i="0">
                <a:solidFill>
                  <a:srgbClr val="DDE9DB"/>
                </a:solidFill>
              </a:rPr>
              <a:t>Answer silently first, then justify with a partner.</a:t>
            </a:r>
          </a:p>
        </p:txBody>
      </p:sp>
      <p:sp>
        <p:nvSpPr>
          <p:cNvPr id="7" name="">
            <a:extLst xmlns:a="http://schemas.openxmlformats.org/drawingml/2006/main">
              <a:ext uri="{FF2B5EF4-FFF2-40B4-BE49-F238E27FC236}">
                <a16:creationId xmlns:a16="http://schemas.microsoft.com/office/drawing/2014/main" id="{7FEF2815-A2A3-4B7D-A20E-9B2E7ABAB827}"/>
              </a:ext>
            </a:extLst>
          </p:cNvPr>
          <p:cNvSpPr>
            <a:spLocks xmlns:a="http://schemas.openxmlformats.org/drawingml/2006/main" noGrp="1"/>
          </p:cNvSpPr>
          <p:nvPr/>
        </p:nvSpPr>
        <p:spPr>
          <a:xfrm xmlns:a="http://schemas.openxmlformats.org/drawingml/2006/main">
            <a:off x="590550" y="21907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8" name="">
            <a:extLst xmlns:a="http://schemas.openxmlformats.org/drawingml/2006/main">
              <a:ext uri="{FF2B5EF4-FFF2-40B4-BE49-F238E27FC236}">
                <a16:creationId xmlns:a16="http://schemas.microsoft.com/office/drawing/2014/main" id="{AD7D2015-820B-4653-821C-D2841AFE6202}"/>
              </a:ext>
            </a:extLst>
          </p:cNvPr>
          <p:cNvSpPr>
            <a:spLocks xmlns:a="http://schemas.openxmlformats.org/drawingml/2006/main" noGrp="1"/>
          </p:cNvSpPr>
          <p:nvPr/>
        </p:nvSpPr>
        <p:spPr>
          <a:xfrm xmlns:a="http://schemas.openxmlformats.org/drawingml/2006/main">
            <a:off x="819150" y="24098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1</a:t>
            </a:r>
          </a:p>
        </p:txBody>
      </p:sp>
      <p:sp>
        <p:nvSpPr>
          <p:cNvPr id="9" name="">
            <a:extLst xmlns:a="http://schemas.openxmlformats.org/drawingml/2006/main">
              <a:ext uri="{FF2B5EF4-FFF2-40B4-BE49-F238E27FC236}">
                <a16:creationId xmlns:a16="http://schemas.microsoft.com/office/drawing/2014/main" id="{6A7BBDF3-14B5-4840-909D-6C15B4455076}"/>
              </a:ext>
            </a:extLst>
          </p:cNvPr>
          <p:cNvSpPr>
            <a:spLocks xmlns:a="http://schemas.openxmlformats.org/drawingml/2006/main" noGrp="1"/>
          </p:cNvSpPr>
          <p:nvPr/>
        </p:nvSpPr>
        <p:spPr>
          <a:xfrm xmlns:a="http://schemas.openxmlformats.org/drawingml/2006/main">
            <a:off x="1428750" y="23241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is the main purpose of a design brief?</a:t>
            </a:r>
          </a:p>
        </p:txBody>
      </p:sp>
      <p:sp>
        <p:nvSpPr>
          <p:cNvPr id="10" name="">
            <a:extLst xmlns:a="http://schemas.openxmlformats.org/drawingml/2006/main">
              <a:ext uri="{FF2B5EF4-FFF2-40B4-BE49-F238E27FC236}">
                <a16:creationId xmlns:a16="http://schemas.microsoft.com/office/drawing/2014/main" id="{2266C887-75CC-44AF-9CEE-086AD2EFDCAF}"/>
              </a:ext>
            </a:extLst>
          </p:cNvPr>
          <p:cNvSpPr>
            <a:spLocks xmlns:a="http://schemas.openxmlformats.org/drawingml/2006/main" noGrp="1"/>
          </p:cNvSpPr>
          <p:nvPr/>
        </p:nvSpPr>
        <p:spPr>
          <a:xfrm xmlns:a="http://schemas.openxmlformats.org/drawingml/2006/main">
            <a:off x="590550" y="3429000"/>
            <a:ext cx="10953750" cy="952500"/>
          </a:xfrm>
          <a:prstGeom xmlns:a="http://schemas.openxmlformats.org/drawingml/2006/main" prst="roundRect">
            <a:avLst>
              <a:gd name="adj" fmla="val 12000"/>
            </a:avLst>
          </a:prstGeom>
          <a:solidFill xmlns:a="http://schemas.openxmlformats.org/drawingml/2006/main">
            <a:srgbClr val="284B30"/>
          </a:solidFill>
          <a:ln xmlns:a="http://schemas.openxmlformats.org/drawingml/2006/main" w="9525">
            <a:solidFill>
              <a:srgbClr val="4D7254"/>
            </a:solidFill>
            <a:prstDash val="solid"/>
          </a:ln>
        </p:spPr>
      </p:sp>
      <p:sp>
        <p:nvSpPr>
          <p:cNvPr id="11" name="">
            <a:extLst xmlns:a="http://schemas.openxmlformats.org/drawingml/2006/main">
              <a:ext uri="{FF2B5EF4-FFF2-40B4-BE49-F238E27FC236}">
                <a16:creationId xmlns:a16="http://schemas.microsoft.com/office/drawing/2014/main" id="{0C6F5383-48E5-4BC6-B072-CC416855AF51}"/>
              </a:ext>
            </a:extLst>
          </p:cNvPr>
          <p:cNvSpPr>
            <a:spLocks xmlns:a="http://schemas.openxmlformats.org/drawingml/2006/main" noGrp="1"/>
          </p:cNvSpPr>
          <p:nvPr/>
        </p:nvSpPr>
        <p:spPr>
          <a:xfrm xmlns:a="http://schemas.openxmlformats.org/drawingml/2006/main">
            <a:off x="819150" y="364807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2</a:t>
            </a:r>
          </a:p>
        </p:txBody>
      </p:sp>
      <p:sp>
        <p:nvSpPr>
          <p:cNvPr id="12" name="">
            <a:extLst xmlns:a="http://schemas.openxmlformats.org/drawingml/2006/main">
              <a:ext uri="{FF2B5EF4-FFF2-40B4-BE49-F238E27FC236}">
                <a16:creationId xmlns:a16="http://schemas.microsoft.com/office/drawing/2014/main" id="{09F39A74-0793-496A-8906-97447413BCA6}"/>
              </a:ext>
            </a:extLst>
          </p:cNvPr>
          <p:cNvSpPr>
            <a:spLocks xmlns:a="http://schemas.openxmlformats.org/drawingml/2006/main" noGrp="1"/>
          </p:cNvSpPr>
          <p:nvPr/>
        </p:nvSpPr>
        <p:spPr>
          <a:xfrm xmlns:a="http://schemas.openxmlformats.org/drawingml/2006/main">
            <a:off x="1428750" y="356235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makes two design concepts genuinely different?</a:t>
            </a:r>
          </a:p>
        </p:txBody>
      </p:sp>
      <p:sp>
        <p:nvSpPr>
          <p:cNvPr id="13" name="">
            <a:extLst xmlns:a="http://schemas.openxmlformats.org/drawingml/2006/main">
              <a:ext uri="{FF2B5EF4-FFF2-40B4-BE49-F238E27FC236}">
                <a16:creationId xmlns:a16="http://schemas.microsoft.com/office/drawing/2014/main" id="{2578B1AF-30E4-4499-9962-1914106A2ABC}"/>
              </a:ext>
            </a:extLst>
          </p:cNvPr>
          <p:cNvSpPr>
            <a:spLocks xmlns:a="http://schemas.openxmlformats.org/drawingml/2006/main" noGrp="1"/>
          </p:cNvSpPr>
          <p:nvPr/>
        </p:nvSpPr>
        <p:spPr>
          <a:xfrm xmlns:a="http://schemas.openxmlformats.org/drawingml/2006/main">
            <a:off x="590550" y="46672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14" name="">
            <a:extLst xmlns:a="http://schemas.openxmlformats.org/drawingml/2006/main">
              <a:ext uri="{FF2B5EF4-FFF2-40B4-BE49-F238E27FC236}">
                <a16:creationId xmlns:a16="http://schemas.microsoft.com/office/drawing/2014/main" id="{3E0334D3-8966-4E98-BDDC-1D0632B53EFC}"/>
              </a:ext>
            </a:extLst>
          </p:cNvPr>
          <p:cNvSpPr>
            <a:spLocks xmlns:a="http://schemas.openxmlformats.org/drawingml/2006/main" noGrp="1"/>
          </p:cNvSpPr>
          <p:nvPr/>
        </p:nvSpPr>
        <p:spPr>
          <a:xfrm xmlns:a="http://schemas.openxmlformats.org/drawingml/2006/main">
            <a:off x="819150" y="48863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3</a:t>
            </a:r>
          </a:p>
        </p:txBody>
      </p:sp>
      <p:sp>
        <p:nvSpPr>
          <p:cNvPr id="15" name="">
            <a:extLst xmlns:a="http://schemas.openxmlformats.org/drawingml/2006/main">
              <a:ext uri="{FF2B5EF4-FFF2-40B4-BE49-F238E27FC236}">
                <a16:creationId xmlns:a16="http://schemas.microsoft.com/office/drawing/2014/main" id="{372B2740-2FA1-4696-9EA6-AD562B2068FE}"/>
              </a:ext>
            </a:extLst>
          </p:cNvPr>
          <p:cNvSpPr>
            <a:spLocks xmlns:a="http://schemas.openxmlformats.org/drawingml/2006/main" noGrp="1"/>
          </p:cNvSpPr>
          <p:nvPr/>
        </p:nvSpPr>
        <p:spPr>
          <a:xfrm xmlns:a="http://schemas.openxmlformats.org/drawingml/2006/main">
            <a:off x="1428750" y="48006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is the main purpose of a production plan?</a:t>
            </a:r>
          </a:p>
        </p:txBody>
      </p:sp>
    </p:spTree>
    <p:extLst>
      <p:ext uri="{BB962C8B-B14F-4D97-AF65-F5344CB8AC3E}">
        <p14:creationId xmlns:p14="http://schemas.microsoft.com/office/powerpoint/2010/main" val="252269069"/>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1319A73-6B10-46E3-8233-CFFCC70DCB1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279A224-DC38-4D3C-ABB2-1AF9A2BF78AA}"/>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MODEL A LONGER RESPONSE</a:t>
            </a:r>
          </a:p>
        </p:txBody>
      </p:sp>
      <p:sp>
        <p:nvSpPr>
          <p:cNvPr id="3" name="">
            <a:extLst xmlns:a="http://schemas.openxmlformats.org/drawingml/2006/main">
              <a:ext uri="{FF2B5EF4-FFF2-40B4-BE49-F238E27FC236}">
                <a16:creationId xmlns:a16="http://schemas.microsoft.com/office/drawing/2014/main" id="{F4DF9427-E632-41AD-837A-EA83D26B1E28}"/>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7  •  DESIGN THE FARM IN A BOX</a:t>
            </a:r>
          </a:p>
        </p:txBody>
      </p:sp>
      <p:sp>
        <p:nvSpPr>
          <p:cNvPr id="4" name="">
            <a:extLst xmlns:a="http://schemas.openxmlformats.org/drawingml/2006/main">
              <a:ext uri="{FF2B5EF4-FFF2-40B4-BE49-F238E27FC236}">
                <a16:creationId xmlns:a16="http://schemas.microsoft.com/office/drawing/2014/main" id="{6695847E-1EC1-4F32-966F-C29B711F16CF}"/>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07</a:t>
            </a:r>
          </a:p>
        </p:txBody>
      </p:sp>
      <p:sp>
        <p:nvSpPr>
          <p:cNvPr id="5" name="">
            <a:extLst xmlns:a="http://schemas.openxmlformats.org/drawingml/2006/main">
              <a:ext uri="{FF2B5EF4-FFF2-40B4-BE49-F238E27FC236}">
                <a16:creationId xmlns:a16="http://schemas.microsoft.com/office/drawing/2014/main" id="{57B5455B-D9FA-4DCD-B50E-C2A61952DE7F}"/>
              </a:ext>
            </a:extLst>
          </p:cNvPr>
          <p:cNvSpPr>
            <a:spLocks xmlns:a="http://schemas.openxmlformats.org/drawingml/2006/main" noGrp="1"/>
          </p:cNvSpPr>
          <p:nvPr/>
        </p:nvSpPr>
        <p:spPr>
          <a:xfrm xmlns:a="http://schemas.openxmlformats.org/drawingml/2006/main">
            <a:off x="590550" y="781050"/>
            <a:ext cx="752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Read → Select → Explain → Check</a:t>
            </a:r>
          </a:p>
        </p:txBody>
      </p:sp>
      <p:sp>
        <p:nvSpPr>
          <p:cNvPr id="6" name="">
            <a:extLst xmlns:a="http://schemas.openxmlformats.org/drawingml/2006/main">
              <a:ext uri="{FF2B5EF4-FFF2-40B4-BE49-F238E27FC236}">
                <a16:creationId xmlns:a16="http://schemas.microsoft.com/office/drawing/2014/main" id="{328DD94C-5EC0-48DF-B136-29A3C8E17264}"/>
              </a:ext>
            </a:extLst>
          </p:cNvPr>
          <p:cNvSpPr>
            <a:spLocks xmlns:a="http://schemas.openxmlformats.org/drawingml/2006/main" noGrp="1"/>
          </p:cNvSpPr>
          <p:nvPr/>
        </p:nvSpPr>
        <p:spPr>
          <a:xfrm xmlns:a="http://schemas.openxmlformats.org/drawingml/2006/main">
            <a:off x="590550" y="1676400"/>
            <a:ext cx="561975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21E96074-88F0-4098-B6C6-2CE029F56E62}"/>
              </a:ext>
            </a:extLst>
          </p:cNvPr>
          <p:cNvSpPr>
            <a:spLocks xmlns:a="http://schemas.openxmlformats.org/drawingml/2006/main" noGrp="1"/>
          </p:cNvSpPr>
          <p:nvPr/>
        </p:nvSpPr>
        <p:spPr>
          <a:xfrm xmlns:a="http://schemas.openxmlformats.org/drawingml/2006/main">
            <a:off x="838200" y="18859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THE QUESTION</a:t>
            </a:r>
          </a:p>
        </p:txBody>
      </p:sp>
      <p:sp>
        <p:nvSpPr>
          <p:cNvPr id="8" name="">
            <a:extLst xmlns:a="http://schemas.openxmlformats.org/drawingml/2006/main">
              <a:ext uri="{FF2B5EF4-FFF2-40B4-BE49-F238E27FC236}">
                <a16:creationId xmlns:a16="http://schemas.microsoft.com/office/drawing/2014/main" id="{C4F8A8AB-F07D-4C3B-AA19-22746A0607A1}"/>
              </a:ext>
            </a:extLst>
          </p:cNvPr>
          <p:cNvSpPr>
            <a:spLocks xmlns:a="http://schemas.openxmlformats.org/drawingml/2006/main" noGrp="1"/>
          </p:cNvSpPr>
          <p:nvPr/>
        </p:nvSpPr>
        <p:spPr>
          <a:xfrm xmlns:a="http://schemas.openxmlformats.org/drawingml/2006/main">
            <a:off x="838200" y="2266950"/>
            <a:ext cx="5095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183B23"/>
                </a:solidFill>
              </a:defRPr>
            </a:pPr>
            <a:r>
              <a:rPr sz="1725" b="1" i="0">
                <a:solidFill>
                  <a:srgbClr val="183B23"/>
                </a:solidFill>
              </a:rPr>
              <a:t>Justify a Farm in a Box production sequence that includes dependencies, checkpoints and local-control boundaries.</a:t>
            </a:r>
          </a:p>
        </p:txBody>
      </p:sp>
      <p:sp>
        <p:nvSpPr>
          <p:cNvPr id="9" name="">
            <a:extLst xmlns:a="http://schemas.openxmlformats.org/drawingml/2006/main">
              <a:ext uri="{FF2B5EF4-FFF2-40B4-BE49-F238E27FC236}">
                <a16:creationId xmlns:a16="http://schemas.microsoft.com/office/drawing/2014/main" id="{A3A3FA81-F374-4E20-88FC-4282C547AAE7}"/>
              </a:ext>
            </a:extLst>
          </p:cNvPr>
          <p:cNvSpPr>
            <a:spLocks xmlns:a="http://schemas.openxmlformats.org/drawingml/2006/main" noGrp="1"/>
          </p:cNvSpPr>
          <p:nvPr/>
        </p:nvSpPr>
        <p:spPr>
          <a:xfrm xmlns:a="http://schemas.openxmlformats.org/drawingml/2006/main">
            <a:off x="6534150" y="1676400"/>
            <a:ext cx="5010150" cy="1762125"/>
          </a:xfrm>
          <a:prstGeom xmlns:a="http://schemas.openxmlformats.org/drawingml/2006/main" prst="roundRect">
            <a:avLst>
              <a:gd name="adj" fmla="val 6486"/>
            </a:avLst>
          </a:prstGeom>
          <a:solidFill xmlns:a="http://schemas.openxmlformats.org/drawingml/2006/main">
            <a:srgbClr val="E8EFE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67BB54F-6BF5-4FE8-A209-DDA4EC01A49A}"/>
              </a:ext>
            </a:extLst>
          </p:cNvPr>
          <p:cNvSpPr>
            <a:spLocks xmlns:a="http://schemas.openxmlformats.org/drawingml/2006/main" noGrp="1"/>
          </p:cNvSpPr>
          <p:nvPr/>
        </p:nvSpPr>
        <p:spPr>
          <a:xfrm xmlns:a="http://schemas.openxmlformats.org/drawingml/2006/main">
            <a:off x="6781800" y="1885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WHAT IS THIS ASKING?</a:t>
            </a:r>
          </a:p>
        </p:txBody>
      </p:sp>
      <p:sp>
        <p:nvSpPr>
          <p:cNvPr id="11" name="">
            <a:extLst xmlns:a="http://schemas.openxmlformats.org/drawingml/2006/main">
              <a:ext uri="{FF2B5EF4-FFF2-40B4-BE49-F238E27FC236}">
                <a16:creationId xmlns:a16="http://schemas.microsoft.com/office/drawing/2014/main" id="{314F9FD9-B5A6-4C00-9230-14A991B79E1B}"/>
              </a:ext>
            </a:extLst>
          </p:cNvPr>
          <p:cNvSpPr>
            <a:spLocks xmlns:a="http://schemas.openxmlformats.org/drawingml/2006/main" noGrp="1"/>
          </p:cNvSpPr>
          <p:nvPr/>
        </p:nvSpPr>
        <p:spPr>
          <a:xfrm xmlns:a="http://schemas.openxmlformats.org/drawingml/2006/main">
            <a:off x="6781800" y="2266950"/>
            <a:ext cx="4514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i="0">
                <a:solidFill>
                  <a:srgbClr val="243024"/>
                </a:solidFill>
              </a:defRPr>
            </a:pPr>
            <a:r>
              <a:rPr sz="1575" b="0" i="0">
                <a:solidFill>
                  <a:srgbClr val="243024"/>
                </a:solidFill>
              </a:rPr>
              <a:t>Sequences tasks using at least two clear dependencies. Includes purposeful quality and approval checkpoints.</a:t>
            </a:r>
          </a:p>
        </p:txBody>
      </p:sp>
      <p:sp>
        <p:nvSpPr>
          <p:cNvPr id="12" name="">
            <a:extLst xmlns:a="http://schemas.openxmlformats.org/drawingml/2006/main">
              <a:ext uri="{FF2B5EF4-FFF2-40B4-BE49-F238E27FC236}">
                <a16:creationId xmlns:a16="http://schemas.microsoft.com/office/drawing/2014/main" id="{798AA3A6-7037-4D2B-813D-5E3036158926}"/>
              </a:ext>
            </a:extLst>
          </p:cNvPr>
          <p:cNvSpPr>
            <a:spLocks xmlns:a="http://schemas.openxmlformats.org/drawingml/2006/main" noGrp="1"/>
          </p:cNvSpPr>
          <p:nvPr/>
        </p:nvSpPr>
        <p:spPr>
          <a:xfrm xmlns:a="http://schemas.openxmlformats.org/drawingml/2006/main">
            <a:off x="5905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C07A9BE-ABBC-49C1-819B-5360BBA5B21D}"/>
              </a:ext>
            </a:extLst>
          </p:cNvPr>
          <p:cNvSpPr>
            <a:spLocks xmlns:a="http://schemas.openxmlformats.org/drawingml/2006/main" noGrp="1"/>
          </p:cNvSpPr>
          <p:nvPr/>
        </p:nvSpPr>
        <p:spPr>
          <a:xfrm xmlns:a="http://schemas.openxmlformats.org/drawingml/2006/main">
            <a:off x="8191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1  SELECT</a:t>
            </a:r>
          </a:p>
        </p:txBody>
      </p:sp>
      <p:sp>
        <p:nvSpPr>
          <p:cNvPr id="14" name="">
            <a:extLst xmlns:a="http://schemas.openxmlformats.org/drawingml/2006/main">
              <a:ext uri="{FF2B5EF4-FFF2-40B4-BE49-F238E27FC236}">
                <a16:creationId xmlns:a16="http://schemas.microsoft.com/office/drawing/2014/main" id="{CC24ADD4-F0AF-47B7-BD4A-1E16ED66D9CB}"/>
              </a:ext>
            </a:extLst>
          </p:cNvPr>
          <p:cNvSpPr>
            <a:spLocks xmlns:a="http://schemas.openxmlformats.org/drawingml/2006/main" noGrp="1"/>
          </p:cNvSpPr>
          <p:nvPr/>
        </p:nvSpPr>
        <p:spPr>
          <a:xfrm xmlns:a="http://schemas.openxmlformats.org/drawingml/2006/main">
            <a:off x="8191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Select the exact theory, observation or record that answers the question.</a:t>
            </a:r>
          </a:p>
        </p:txBody>
      </p:sp>
      <p:sp>
        <p:nvSpPr>
          <p:cNvPr id="15" name="">
            <a:extLst xmlns:a="http://schemas.openxmlformats.org/drawingml/2006/main">
              <a:ext uri="{FF2B5EF4-FFF2-40B4-BE49-F238E27FC236}">
                <a16:creationId xmlns:a16="http://schemas.microsoft.com/office/drawing/2014/main" id="{34116153-9879-44AA-AB22-1723B29FE715}"/>
              </a:ext>
            </a:extLst>
          </p:cNvPr>
          <p:cNvSpPr>
            <a:spLocks xmlns:a="http://schemas.openxmlformats.org/drawingml/2006/main" noGrp="1"/>
          </p:cNvSpPr>
          <p:nvPr/>
        </p:nvSpPr>
        <p:spPr>
          <a:xfrm xmlns:a="http://schemas.openxmlformats.org/drawingml/2006/main">
            <a:off x="4305300" y="3876675"/>
            <a:ext cx="3371850" cy="1428750"/>
          </a:xfrm>
          <a:prstGeom xmlns:a="http://schemas.openxmlformats.org/drawingml/2006/main" prst="roundRect">
            <a:avLst>
              <a:gd name="adj" fmla="val 8000"/>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4C66D5D-0BDE-45D8-85F8-E7C64C43FE88}"/>
              </a:ext>
            </a:extLst>
          </p:cNvPr>
          <p:cNvSpPr>
            <a:spLocks xmlns:a="http://schemas.openxmlformats.org/drawingml/2006/main" noGrp="1"/>
          </p:cNvSpPr>
          <p:nvPr/>
        </p:nvSpPr>
        <p:spPr>
          <a:xfrm xmlns:a="http://schemas.openxmlformats.org/drawingml/2006/main">
            <a:off x="453390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183B23"/>
                </a:solidFill>
              </a:defRPr>
            </a:pPr>
            <a:r>
              <a:rPr sz="1050" b="1" i="0">
                <a:solidFill>
                  <a:srgbClr val="183B23"/>
                </a:solidFill>
              </a:rPr>
              <a:t>2  EXPLAIN</a:t>
            </a:r>
          </a:p>
        </p:txBody>
      </p:sp>
      <p:sp>
        <p:nvSpPr>
          <p:cNvPr id="17" name="">
            <a:extLst xmlns:a="http://schemas.openxmlformats.org/drawingml/2006/main">
              <a:ext uri="{FF2B5EF4-FFF2-40B4-BE49-F238E27FC236}">
                <a16:creationId xmlns:a16="http://schemas.microsoft.com/office/drawing/2014/main" id="{8DB6EF05-9EFA-477F-83C1-43DF843CCE1E}"/>
              </a:ext>
            </a:extLst>
          </p:cNvPr>
          <p:cNvSpPr>
            <a:spLocks xmlns:a="http://schemas.openxmlformats.org/drawingml/2006/main" noGrp="1"/>
          </p:cNvSpPr>
          <p:nvPr/>
        </p:nvSpPr>
        <p:spPr>
          <a:xfrm xmlns:a="http://schemas.openxmlformats.org/drawingml/2006/main">
            <a:off x="453390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183B23"/>
                </a:solidFill>
              </a:defRPr>
            </a:pPr>
            <a:r>
              <a:rPr sz="1350" b="0" i="0">
                <a:solidFill>
                  <a:srgbClr val="183B23"/>
                </a:solidFill>
              </a:rPr>
              <a:t>Use subject vocabulary and show the because, so or therefore connection.</a:t>
            </a:r>
          </a:p>
        </p:txBody>
      </p:sp>
      <p:sp>
        <p:nvSpPr>
          <p:cNvPr id="18" name="">
            <a:extLst xmlns:a="http://schemas.openxmlformats.org/drawingml/2006/main">
              <a:ext uri="{FF2B5EF4-FFF2-40B4-BE49-F238E27FC236}">
                <a16:creationId xmlns:a16="http://schemas.microsoft.com/office/drawing/2014/main" id="{B9DF0D8F-E7E5-4DC6-B88D-A671C4854614}"/>
              </a:ext>
            </a:extLst>
          </p:cNvPr>
          <p:cNvSpPr>
            <a:spLocks xmlns:a="http://schemas.openxmlformats.org/drawingml/2006/main" noGrp="1"/>
          </p:cNvSpPr>
          <p:nvPr/>
        </p:nvSpPr>
        <p:spPr>
          <a:xfrm xmlns:a="http://schemas.openxmlformats.org/drawingml/2006/main">
            <a:off x="80200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2D1674A-3986-494B-A333-81B8A782952F}"/>
              </a:ext>
            </a:extLst>
          </p:cNvPr>
          <p:cNvSpPr>
            <a:spLocks xmlns:a="http://schemas.openxmlformats.org/drawingml/2006/main" noGrp="1"/>
          </p:cNvSpPr>
          <p:nvPr/>
        </p:nvSpPr>
        <p:spPr>
          <a:xfrm xmlns:a="http://schemas.openxmlformats.org/drawingml/2006/main">
            <a:off x="82486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3  CHECK</a:t>
            </a:r>
          </a:p>
        </p:txBody>
      </p:sp>
      <p:sp>
        <p:nvSpPr>
          <p:cNvPr id="20" name="">
            <a:extLst xmlns:a="http://schemas.openxmlformats.org/drawingml/2006/main">
              <a:ext uri="{FF2B5EF4-FFF2-40B4-BE49-F238E27FC236}">
                <a16:creationId xmlns:a16="http://schemas.microsoft.com/office/drawing/2014/main" id="{DC25C9D6-E222-4E67-8DFD-A7908E3CBB4D}"/>
              </a:ext>
            </a:extLst>
          </p:cNvPr>
          <p:cNvSpPr>
            <a:spLocks xmlns:a="http://schemas.openxmlformats.org/drawingml/2006/main" noGrp="1"/>
          </p:cNvSpPr>
          <p:nvPr/>
        </p:nvSpPr>
        <p:spPr>
          <a:xfrm xmlns:a="http://schemas.openxmlformats.org/drawingml/2006/main">
            <a:off x="82486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Answer every part, state limits honestly and remove unsupported local claims.</a:t>
            </a:r>
          </a:p>
        </p:txBody>
      </p:sp>
      <p:sp>
        <p:nvSpPr>
          <p:cNvPr id="21" name="">
            <a:extLst xmlns:a="http://schemas.openxmlformats.org/drawingml/2006/main">
              <a:ext uri="{FF2B5EF4-FFF2-40B4-BE49-F238E27FC236}">
                <a16:creationId xmlns:a16="http://schemas.microsoft.com/office/drawing/2014/main" id="{014A5FFB-6D1F-4385-A205-DE2E3DF02E2B}"/>
              </a:ext>
            </a:extLst>
          </p:cNvPr>
          <p:cNvSpPr>
            <a:spLocks xmlns:a="http://schemas.openxmlformats.org/drawingml/2006/main" noGrp="1"/>
          </p:cNvSpPr>
          <p:nvPr/>
        </p:nvSpPr>
        <p:spPr>
          <a:xfrm xmlns:a="http://schemas.openxmlformats.org/drawingml/2006/main">
            <a:off x="590550" y="5619750"/>
            <a:ext cx="1095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B6402D"/>
                </a:solidFill>
              </a:defRPr>
            </a:pPr>
            <a:r>
              <a:rPr sz="1350" b="1" i="0">
                <a:solidFill>
                  <a:srgbClr val="B6402D"/>
                </a:solidFill>
              </a:rPr>
              <a:t>Sentence starter: The sequence begins with … because … must be confirmed before …</a:t>
            </a:r>
          </a:p>
        </p:txBody>
      </p:sp>
    </p:spTree>
    <p:extLst>
      <p:ext uri="{BB962C8B-B14F-4D97-AF65-F5344CB8AC3E}">
        <p14:creationId xmlns:p14="http://schemas.microsoft.com/office/powerpoint/2010/main" val="2049060224"/>
      </p:ext>
    </p:extLst>
  </p:cSld>
</p:sld>
</file>

<file path=ppt/slides/slide8.xml><?xml version="1.0" encoding="utf-8"?>
<p:sld xmlns:p="http://schemas.openxmlformats.org/presentationml/2006/main">
  <p:cSld>
    <p:bg>
      <p:bgPr>
        <a:solidFill xmlns:a="http://schemas.openxmlformats.org/drawingml/2006/main">
          <a:srgbClr val="B640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77290A7-5ED5-48E0-A9C6-D4CCCACF1E3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232DA0-ADC7-47C1-AEA2-BCAA3C94C7CE}"/>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EXIT TICKET</a:t>
            </a:r>
          </a:p>
        </p:txBody>
      </p:sp>
      <p:sp>
        <p:nvSpPr>
          <p:cNvPr id="3" name="">
            <a:extLst xmlns:a="http://schemas.openxmlformats.org/drawingml/2006/main">
              <a:ext uri="{FF2B5EF4-FFF2-40B4-BE49-F238E27FC236}">
                <a16:creationId xmlns:a16="http://schemas.microsoft.com/office/drawing/2014/main" id="{3CFAA653-3D01-4995-86F5-F985B9DF2474}"/>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7  •  DESIGN THE FARM IN A BOX</a:t>
            </a:r>
          </a:p>
        </p:txBody>
      </p:sp>
      <p:sp>
        <p:nvSpPr>
          <p:cNvPr id="4" name="">
            <a:extLst xmlns:a="http://schemas.openxmlformats.org/drawingml/2006/main">
              <a:ext uri="{FF2B5EF4-FFF2-40B4-BE49-F238E27FC236}">
                <a16:creationId xmlns:a16="http://schemas.microsoft.com/office/drawing/2014/main" id="{D2507183-0A79-4D9D-800A-C894409FEECD}"/>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08</a:t>
            </a:r>
          </a:p>
        </p:txBody>
      </p:sp>
      <p:sp>
        <p:nvSpPr>
          <p:cNvPr id="5" name="">
            <a:extLst xmlns:a="http://schemas.openxmlformats.org/drawingml/2006/main">
              <a:ext uri="{FF2B5EF4-FFF2-40B4-BE49-F238E27FC236}">
                <a16:creationId xmlns:a16="http://schemas.microsoft.com/office/drawing/2014/main" id="{714F6B92-2BC0-4DDF-88CE-BD12B7E6E7B0}"/>
              </a:ext>
            </a:extLst>
          </p:cNvPr>
          <p:cNvSpPr>
            <a:spLocks xmlns:a="http://schemas.openxmlformats.org/drawingml/2006/main" noGrp="1"/>
          </p:cNvSpPr>
          <p:nvPr/>
        </p:nvSpPr>
        <p:spPr>
          <a:xfrm xmlns:a="http://schemas.openxmlformats.org/drawingml/2006/main">
            <a:off x="590550" y="83820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i="0">
                <a:solidFill>
                  <a:srgbClr val="FFFFFF"/>
                </a:solidFill>
              </a:defRPr>
            </a:pPr>
            <a:r>
              <a:rPr sz="3150" b="1" i="0">
                <a:solidFill>
                  <a:srgbClr val="FFFFFF"/>
                </a:solidFill>
              </a:rPr>
              <a:t>Before you pack up…</a:t>
            </a:r>
          </a:p>
        </p:txBody>
      </p:sp>
      <p:sp>
        <p:nvSpPr>
          <p:cNvPr id="6" name="">
            <a:extLst xmlns:a="http://schemas.openxmlformats.org/drawingml/2006/main">
              <a:ext uri="{FF2B5EF4-FFF2-40B4-BE49-F238E27FC236}">
                <a16:creationId xmlns:a16="http://schemas.microsoft.com/office/drawing/2014/main" id="{9AA4527F-3662-4D7E-9151-55F43C016867}"/>
              </a:ext>
            </a:extLst>
          </p:cNvPr>
          <p:cNvSpPr>
            <a:spLocks xmlns:a="http://schemas.openxmlformats.org/drawingml/2006/main" noGrp="1"/>
          </p:cNvSpPr>
          <p:nvPr/>
        </p:nvSpPr>
        <p:spPr>
          <a:xfrm xmlns:a="http://schemas.openxmlformats.org/drawingml/2006/main">
            <a:off x="590550" y="1952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DCC32B-A2B0-448B-8CFE-C94B2F68BD22}"/>
              </a:ext>
            </a:extLst>
          </p:cNvPr>
          <p:cNvSpPr>
            <a:spLocks xmlns:a="http://schemas.openxmlformats.org/drawingml/2006/main" noGrp="1"/>
          </p:cNvSpPr>
          <p:nvPr/>
        </p:nvSpPr>
        <p:spPr>
          <a:xfrm xmlns:a="http://schemas.openxmlformats.org/drawingml/2006/main">
            <a:off x="857250" y="2085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1. One idea I can now explain is…</a:t>
            </a:r>
          </a:p>
        </p:txBody>
      </p:sp>
      <p:sp>
        <p:nvSpPr>
          <p:cNvPr id="8" name="">
            <a:extLst xmlns:a="http://schemas.openxmlformats.org/drawingml/2006/main">
              <a:ext uri="{FF2B5EF4-FFF2-40B4-BE49-F238E27FC236}">
                <a16:creationId xmlns:a16="http://schemas.microsoft.com/office/drawing/2014/main" id="{A843EC1C-945E-44E2-BFB7-0EF381830FF4}"/>
              </a:ext>
            </a:extLst>
          </p:cNvPr>
          <p:cNvSpPr>
            <a:spLocks xmlns:a="http://schemas.openxmlformats.org/drawingml/2006/main" noGrp="1"/>
          </p:cNvSpPr>
          <p:nvPr/>
        </p:nvSpPr>
        <p:spPr>
          <a:xfrm xmlns:a="http://schemas.openxmlformats.org/drawingml/2006/main">
            <a:off x="590550" y="3095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D2D8F60-243B-41FC-AB86-09C2B8C9C41B}"/>
              </a:ext>
            </a:extLst>
          </p:cNvPr>
          <p:cNvSpPr>
            <a:spLocks xmlns:a="http://schemas.openxmlformats.org/drawingml/2006/main" noGrp="1"/>
          </p:cNvSpPr>
          <p:nvPr/>
        </p:nvSpPr>
        <p:spPr>
          <a:xfrm xmlns:a="http://schemas.openxmlformats.org/drawingml/2006/main">
            <a:off x="857250" y="3228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2. One decision or practical action this changes is…</a:t>
            </a:r>
          </a:p>
        </p:txBody>
      </p:sp>
      <p:sp>
        <p:nvSpPr>
          <p:cNvPr id="10" name="">
            <a:extLst xmlns:a="http://schemas.openxmlformats.org/drawingml/2006/main">
              <a:ext uri="{FF2B5EF4-FFF2-40B4-BE49-F238E27FC236}">
                <a16:creationId xmlns:a16="http://schemas.microsoft.com/office/drawing/2014/main" id="{0BE7EA82-D188-473F-BC13-6636DF908D9C}"/>
              </a:ext>
            </a:extLst>
          </p:cNvPr>
          <p:cNvSpPr>
            <a:spLocks xmlns:a="http://schemas.openxmlformats.org/drawingml/2006/main" noGrp="1"/>
          </p:cNvSpPr>
          <p:nvPr/>
        </p:nvSpPr>
        <p:spPr>
          <a:xfrm xmlns:a="http://schemas.openxmlformats.org/drawingml/2006/main">
            <a:off x="590550" y="4238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8AEF563-1369-402F-A6B8-B68DD67DFA2A}"/>
              </a:ext>
            </a:extLst>
          </p:cNvPr>
          <p:cNvSpPr>
            <a:spLocks xmlns:a="http://schemas.openxmlformats.org/drawingml/2006/main" noGrp="1"/>
          </p:cNvSpPr>
          <p:nvPr/>
        </p:nvSpPr>
        <p:spPr>
          <a:xfrm xmlns:a="http://schemas.openxmlformats.org/drawingml/2006/main">
            <a:off x="857250" y="4371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3. One local detail my teacher still needs to confirm is…</a:t>
            </a:r>
          </a:p>
        </p:txBody>
      </p:sp>
      <p:sp>
        <p:nvSpPr>
          <p:cNvPr id="12" name="">
            <a:extLst xmlns:a="http://schemas.openxmlformats.org/drawingml/2006/main">
              <a:ext uri="{FF2B5EF4-FFF2-40B4-BE49-F238E27FC236}">
                <a16:creationId xmlns:a16="http://schemas.microsoft.com/office/drawing/2014/main" id="{FB49E3D3-B071-4BD3-BF66-F872449C9523}"/>
              </a:ext>
            </a:extLst>
          </p:cNvPr>
          <p:cNvSpPr>
            <a:spLocks xmlns:a="http://schemas.openxmlformats.org/drawingml/2006/main" noGrp="1"/>
          </p:cNvSpPr>
          <p:nvPr/>
        </p:nvSpPr>
        <p:spPr>
          <a:xfrm xmlns:a="http://schemas.openxmlformats.org/drawingml/2006/main">
            <a:off x="9715500" y="2476500"/>
            <a:ext cx="1619250" cy="1619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F2D22FF-EDD5-4000-9F76-E9995896FA05}"/>
              </a:ext>
            </a:extLst>
          </p:cNvPr>
          <p:cNvSpPr>
            <a:spLocks xmlns:a="http://schemas.openxmlformats.org/drawingml/2006/main" noGrp="1"/>
          </p:cNvSpPr>
          <p:nvPr/>
        </p:nvSpPr>
        <p:spPr>
          <a:xfrm xmlns:a="http://schemas.openxmlformats.org/drawingml/2006/main">
            <a:off x="9906000" y="2724150"/>
            <a:ext cx="1238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83B23"/>
                </a:solidFill>
              </a:defRPr>
            </a:pPr>
            <a:r>
              <a:rPr sz="1800" b="1" i="0">
                <a:solidFill>
                  <a:srgbClr val="183B23"/>
                </a:solidFill>
              </a:rPr>
              <a:t>SAVE</a:t>
            </a:r>
          </a:p>
          <a:p xmlns:a="http://schemas.openxmlformats.org/drawingml/2006/main">
            <a:pPr algn="ctr">
              <a:buNone/>
              <a:defRPr sz="1800" b="1" i="0">
                <a:solidFill>
                  <a:srgbClr val="183B23"/>
                </a:solidFill>
              </a:defRPr>
            </a:pPr>
            <a:r>
              <a:rPr sz="1800" b="1" i="0">
                <a:solidFill>
                  <a:srgbClr val="183B23"/>
                </a:solidFill>
              </a:rPr>
              <a:t>TO</a:t>
            </a:r>
          </a:p>
          <a:p xmlns:a="http://schemas.openxmlformats.org/drawingml/2006/main">
            <a:pPr algn="ctr">
              <a:buNone/>
              <a:defRPr sz="1800" b="1" i="0">
                <a:solidFill>
                  <a:srgbClr val="183B23"/>
                </a:solidFill>
              </a:defRPr>
            </a:pPr>
            <a:r>
              <a:rPr sz="1800" b="1" i="0">
                <a:solidFill>
                  <a:srgbClr val="183B23"/>
                </a:solidFill>
              </a:rPr>
              <a:t>FOLIO</a:t>
            </a:r>
          </a:p>
        </p:txBody>
      </p:sp>
    </p:spTree>
    <p:extLst>
      <p:ext uri="{BB962C8B-B14F-4D97-AF65-F5344CB8AC3E}">
        <p14:creationId xmlns:p14="http://schemas.microsoft.com/office/powerpoint/2010/main" val="12384275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2026-09-01T23:40:20.3080000Z</dcterms:created>
  <dcterms:modified xsi:type="dcterms:W3CDTF">2026-09-01T23:40:20.3080000Z</dcterms:modified>
</coreProperties>
</file>