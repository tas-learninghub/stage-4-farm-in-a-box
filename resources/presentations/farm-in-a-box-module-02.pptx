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66662bd574a09" /><Relationship Type="http://schemas.openxmlformats.org/officeDocument/2006/relationships/extended-properties" Target="/docProps/app.xml" Id="R2b162dda9f6546fe" /><Relationship Type="http://schemas.openxmlformats.org/officeDocument/2006/relationships/officeDocument" Target="/ppt/presentation.xml" Id="Re6e96db4af9843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449b3e85d47db"/>
  </p:sldMasterIdLst>
  <p:notesMasterIdLst>
    <p:notesMasterId xmlns:r="http://schemas.openxmlformats.org/officeDocument/2006/relationships" r:id="R42e1a0598c0240a0"/>
  </p:notesMasterIdLst>
  <p:sldIdLst>
    <p:sldId xmlns:r="http://schemas.openxmlformats.org/officeDocument/2006/relationships" id="256" r:id="R2deb1178184b4577"/>
    <p:sldId xmlns:r="http://schemas.openxmlformats.org/officeDocument/2006/relationships" id="257" r:id="R33cc1eb435164391"/>
    <p:sldId xmlns:r="http://schemas.openxmlformats.org/officeDocument/2006/relationships" id="258" r:id="R47b6d2860e014b80"/>
    <p:sldId xmlns:r="http://schemas.openxmlformats.org/officeDocument/2006/relationships" id="259" r:id="R0273185d864545ed"/>
    <p:sldId xmlns:r="http://schemas.openxmlformats.org/officeDocument/2006/relationships" id="260" r:id="Rc7eae50a152d4236"/>
    <p:sldId xmlns:r="http://schemas.openxmlformats.org/officeDocument/2006/relationships" id="261" r:id="R4f8e07e654a5419c"/>
    <p:sldId xmlns:r="http://schemas.openxmlformats.org/officeDocument/2006/relationships" id="262" r:id="Rd1dfdb89bcad4d9d"/>
    <p:sldId xmlns:r="http://schemas.openxmlformats.org/officeDocument/2006/relationships" id="263" r:id="Re91611a9717d47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08da377a242a4" /><Relationship Type="http://schemas.openxmlformats.org/officeDocument/2006/relationships/slideMaster" Target="/ppt/slideMasters/slideMaster1.xml" Id="R179449b3e85d47db" /><Relationship Type="http://schemas.openxmlformats.org/officeDocument/2006/relationships/notesMaster" Target="/ppt/notesMasters/notesMaster1.xml" Id="R42e1a0598c0240a0" /><Relationship Type="http://schemas.openxmlformats.org/officeDocument/2006/relationships/presProps" Target="/ppt/presProps.xml" Id="Re0869e807f1a4635" /><Relationship Type="http://schemas.openxmlformats.org/officeDocument/2006/relationships/tableStyles" Target="/ppt/tableStyles.xml" Id="R32e9450e69ce4206" /><Relationship Type="http://schemas.openxmlformats.org/officeDocument/2006/relationships/slide" Target="/ppt/slides/slide1.xml" Id="R2deb1178184b4577" /><Relationship Type="http://schemas.openxmlformats.org/officeDocument/2006/relationships/slide" Target="/ppt/slides/slide2.xml" Id="R33cc1eb435164391" /><Relationship Type="http://schemas.openxmlformats.org/officeDocument/2006/relationships/slide" Target="/ppt/slides/slide3.xml" Id="R47b6d2860e014b80" /><Relationship Type="http://schemas.openxmlformats.org/officeDocument/2006/relationships/slide" Target="/ppt/slides/slide4.xml" Id="R0273185d864545ed" /><Relationship Type="http://schemas.openxmlformats.org/officeDocument/2006/relationships/slide" Target="/ppt/slides/slide5.xml" Id="Rc7eae50a152d4236" /><Relationship Type="http://schemas.openxmlformats.org/officeDocument/2006/relationships/slide" Target="/ppt/slides/slide6.xml" Id="R4f8e07e654a5419c" /><Relationship Type="http://schemas.openxmlformats.org/officeDocument/2006/relationships/slide" Target="/ppt/slides/slide7.xml" Id="Rd1dfdb89bcad4d9d" /><Relationship Type="http://schemas.openxmlformats.org/officeDocument/2006/relationships/slide" Target="/ppt/slides/slide8.xml" Id="Re91611a9717d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7740d5b8e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1b90842634fb8" /><Relationship Type="http://schemas.openxmlformats.org/officeDocument/2006/relationships/notesMaster" Target="/ppt/notesMasters/notesMaster1.xml" Id="R8ec109b6b953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37ca2db5d4ca1" /><Relationship Type="http://schemas.openxmlformats.org/officeDocument/2006/relationships/notesMaster" Target="/ppt/notesMasters/notesMaster1.xml" Id="R823e8f866f5046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28be0660ca480f" /><Relationship Type="http://schemas.openxmlformats.org/officeDocument/2006/relationships/notesMaster" Target="/ppt/notesMasters/notesMaster1.xml" Id="Re2585925e232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337b1a212e42a3" /><Relationship Type="http://schemas.openxmlformats.org/officeDocument/2006/relationships/notesMaster" Target="/ppt/notesMasters/notesMaster1.xml" Id="Re0e1b9f0e41e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1d06b2fc5c431e" /><Relationship Type="http://schemas.openxmlformats.org/officeDocument/2006/relationships/notesMaster" Target="/ppt/notesMasters/notesMaster1.xml" Id="R4bcc72ea9c2d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3410cfa9e34513" /><Relationship Type="http://schemas.openxmlformats.org/officeDocument/2006/relationships/notesMaster" Target="/ppt/notesMasters/notesMaster1.xml" Id="Rdfc33dcc33bb4c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938d078b94c88" /><Relationship Type="http://schemas.openxmlformats.org/officeDocument/2006/relationships/notesMaster" Target="/ppt/notesMasters/notesMaster1.xml" Id="R5fc31cc194374e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6cee085234348" /><Relationship Type="http://schemas.openxmlformats.org/officeDocument/2006/relationships/notesMaster" Target="/ppt/notesMasters/notesMaster1.xml" Id="R5bacbcf346d4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Country, Care and Future Farms as the next step in the Farm in a Box learning sequence.</a:t>
            </a:r>
          </a:p>
          <a:p xmlns:a="http://schemas.openxmlformats.org/drawingml/2006/main">
            <a:r>
              <a:t>Student outcome for this deck: Learn from publicly shared, attributed examples and compare how different knowledge and technologies guide responsible production.</a:t>
            </a:r>
          </a:p>
          <a:p xmlns:a="http://schemas.openxmlformats.org/drawingml/2006/main">
            <a:r>
              <a:t>Opening prompt: ask students what evidence in the image makes this an agriculture system rather than a decorative container.</a:t>
            </a:r>
          </a:p>
          <a:p xmlns:a="http://schemas.openxmlformats.org/drawingml/2006/main">
            <a:r>
              <a:t>Boundary: crop, site, materials, tools, method and local safety controls remain Teacher to confirm.</a:t>
            </a:r>
          </a:p>
          <a:p xmlns:a="http://schemas.openxmlformats.org/drawingml/2006/main">
            <a:r>
              <a:t>Transition: preview the three named learning areas without answering the warm-up for students.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Unearthing the nutritional potential of Australia's sovereign grasses — https://www.csiro.au/en/news/all/articles/2024/january/wadawurrung-grasslands-nutrition</a:t>
            </a:r>
          </a:p>
          <a:p xmlns:a="http://schemas.openxmlformats.org/drawingml/2006/main">
            <a:r>
              <a:t>- Planting indigenous foods — https://australian.museum/learn/climate-change/climate-solutions/caring-for-country/planting-indigenous-foods/</a:t>
            </a:r>
          </a:p>
          <a:p xmlns:a="http://schemas.openxmlformats.org/drawingml/2006/main">
            <a:r>
              <a:t>- WaterWise precision irrigation — https://www.csiro.au/en/about/corporate-governance/ensuring-our-impact/impact-case-studies/future-industries/waterwise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Gunditjmara Culture &amp; People — Budj Bim Cultural Landscape — https://www.budjbim.com.au/about-us/our-culture/</a:t>
            </a:r>
          </a:p>
          <a:p xmlns:a="http://schemas.openxmlformats.org/drawingml/2006/main">
            <a:r>
              <a:t>- Budj Bim Cultural Landscape — https://whc.unesco.org/en/list/1577</a:t>
            </a:r>
          </a:p>
          <a:p xmlns:a="http://schemas.openxmlformats.org/drawingml/2006/main">
            <a:r>
              <a:t>- Healthy Jarjums — Traditional Aboriginal and Torres Strait Islander Foods — https://www.health.qld.gov.au/__data/assets/pdf_file/0032/428288/jarjums-sect3-less3.pdf</a:t>
            </a:r>
          </a:p>
          <a:p xmlns:a="http://schemas.openxmlformats.org/drawingml/2006/main">
            <a:r>
              <a:t>- Course design brief: resources/core/design-brief-v1.0.json.</a:t>
            </a:r>
          </a:p>
          <a:p xmlns:a="http://schemas.openxmlformats.org/drawingml/2006/main">
            <a:r>
              <a:t>- Generated title visual: assets/m02-s03-sustainability-lens.png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taking responses.</a:t>
            </a:r>
          </a:p>
          <a:p xmlns:a="http://schemas.openxmlformats.org/drawingml/2006/main">
            <a:r>
              <a:t>The three named areas are First foods: plants, animals and nutrition; Caring for Country and future farms; A sustainability lens.</a:t>
            </a:r>
          </a:p>
          <a:p xmlns:a="http://schemas.openxmlformats.org/drawingml/2006/main">
            <a:r>
              <a:t>Keep initial answers provisional. The deck is designed to improve them with evidence.</a:t>
            </a:r>
          </a:p>
          <a:p xmlns:a="http://schemas.openxmlformats.org/drawingml/2006/main">
            <a:r>
              <a:t>Do not introduce outcome codes or local practical facts on this student-facing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Unearthing the nutritional potential of Australia's sovereign grasses — https://www.csiro.au/en/news/all/articles/2024/january/wadawurrung-grasslands-nutrition</a:t>
            </a:r>
          </a:p>
          <a:p xmlns:a="http://schemas.openxmlformats.org/drawingml/2006/main">
            <a:r>
              <a:t>- Planting indigenous foods — https://australian.museum/learn/climate-change/climate-solutions/caring-for-country/planting-indigenous-foods/</a:t>
            </a:r>
          </a:p>
          <a:p xmlns:a="http://schemas.openxmlformats.org/drawingml/2006/main">
            <a:r>
              <a:t>- WaterWise precision irrigation — https://www.csiro.au/en/about/corporate-governance/ensuring-our-impact/impact-case-studies/future-industries/waterwise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Gunditjmara Culture &amp; People — Budj Bim Cultural Landscape — https://www.budjbim.com.au/about-us/our-culture/</a:t>
            </a:r>
          </a:p>
          <a:p xmlns:a="http://schemas.openxmlformats.org/drawingml/2006/main">
            <a:r>
              <a:t>- Budj Bim Cultural Landscape — https://whc.unesco.org/en/list/1577</a:t>
            </a:r>
          </a:p>
          <a:p xmlns:a="http://schemas.openxmlformats.org/drawingml/2006/main">
            <a:r>
              <a:t>- Healthy Jarjums — Traditional Aboriginal and Torres Strait Islander Foods — https://www.health.qld.gov.au/__data/assets/pdf_file/0032/428288/jarjums-sect3-less3.pdf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First foods: plants, animals and nutrition concrete before students apply it to the Farm in a Box.</a:t>
            </a:r>
          </a:p>
          <a:p xmlns:a="http://schemas.openxmlformats.org/drawingml/2006/main">
            <a:r>
              <a:t>Talking point 1: First-food learning requires accurate attribution, respect for knowledge authority and attention to place. Named Wadawurrung plant, Gunditjmara animal-food and public Torres Strait Islander examples show that selection and use connect culture, ecology, nutrition and food availability.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Named plant case: the publicly shared Wadawurrung sovereign-grasses partnership with Wadawurrung Traditional Owners Aboriginal Corporation keeps Traditional Owner authority, grassland care and nutrition research connected.</a:t>
            </a:r>
          </a:p>
          <a:p xmlns:a="http://schemas.openxmlformats.org/drawingml/2006/main">
            <a:r>
              <a:t>Named animal case: Gunditj Mirring Traditional Owners Aboriginal Corporation / Budj Bim Cultural Landscape publicly describes channels and holding ponds on Gunditjmara Country supporting trapping, containment, live storage and harvest of kooyang (short-finned eel), increasing available food resources.</a:t>
            </a:r>
          </a:p>
          <a:p xmlns:a="http://schemas.openxmlformats.org/drawingml/2006/main">
            <a:r>
              <a:t>Broad public overview: Queensland Health's Healthy Jarjums lesson identifies Torres Strait Islander garden foods and marine animal foods, linking selection with place, season and nutrition.</a:t>
            </a:r>
          </a:p>
          <a:p xmlns:a="http://schemas.openxmlformats.org/drawingml/2006/main">
            <a:r>
              <a:t>Boundary: these are public, place-specific or broad overview sources. They do not authorise local Cultural Knowledge, nutrient figures or classroom harvesting procedures.</a:t>
            </a:r>
          </a:p>
          <a:p xmlns:a="http://schemas.openxmlformats.org/drawingml/2006/main">
            <a:r>
              <a:t>Likely misconception: One public plant or animal example can stand for all Aboriginal and Torres Strait Islander Peoples or be copied as a local procedure.</a:t>
            </a:r>
          </a:p>
          <a:p xmlns:a="http://schemas.openxmlformats.org/drawingml/2006/main">
            <a:r>
              <a:t>Correction: Each case is place-specific and authority-bound. Compare only what named public sources share, and mark local knowledge and procedures as unclaimed.</a:t>
            </a:r>
          </a:p>
          <a:p xmlns:a="http://schemas.openxmlformats.org/drawingml/2006/main">
            <a:r>
              <a:t>Prompt: Create a three-source evidence note: Wadawurrung sovereign grasses, Gunditjmara Budj Bim kooyang and the Queensland Health Torres Strait Islander overview. Record plant or animal resource, selection/use, nutrition or availability evidence, authority and one limit.</a:t>
            </a:r>
          </a:p>
          <a:p xmlns:a="http://schemas.openxmlformats.org/drawingml/2006/main">
            <a:r>
              <a:t>Transition: connect this idea to Caring for Country and future farms.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Unearthing the nutritional potential of Australia's sovereign grasses — https://www.csiro.au/en/news/all/articles/2024/january/wadawurrung-grasslands-nutrition</a:t>
            </a:r>
          </a:p>
          <a:p xmlns:a="http://schemas.openxmlformats.org/drawingml/2006/main">
            <a:r>
              <a:t>- Gunditjmara Culture &amp; People — Budj Bim Cultural Landscape — https://www.budjbim.com.au/about-us/our-culture/</a:t>
            </a:r>
          </a:p>
          <a:p xmlns:a="http://schemas.openxmlformats.org/drawingml/2006/main">
            <a:r>
              <a:t>- Budj Bim Cultural Landscape — https://whc.unesco.org/en/list/1577</a:t>
            </a:r>
          </a:p>
          <a:p xmlns:a="http://schemas.openxmlformats.org/drawingml/2006/main">
            <a:r>
              <a:t>- Healthy Jarjums — Traditional Aboriginal and Torres Strait Islander Foods — https://www.health.qld.gov.au/__data/assets/pdf_file/0032/428288/jarjums-sect3-less3.pdf</a:t>
            </a:r>
          </a:p>
          <a:p xmlns:a="http://schemas.openxmlformats.org/drawingml/2006/main">
            <a:r>
              <a:t>- Generated teaching visual: assets/m02-s01-first-foods-plants.png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Caring for Country and future farms concrete before students apply it to the Farm in a Box.</a:t>
            </a:r>
          </a:p>
          <a:p xmlns:a="http://schemas.openxmlformats.org/drawingml/2006/main">
            <a:r>
              <a:t>Talking point 1: Responsible comparison keeps context and authority visible. The Wadawurrung partnership and WaterWise case both support informed resource decisions, but they use distinct knowledge, governance and technologies.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Wadawurrung partnership principles: keep Traditional Owner authority, care for grasslands and research priorities visible in the named public context.</a:t>
            </a:r>
          </a:p>
          <a:p xmlns:a="http://schemas.openxmlformats.org/drawingml/2006/main">
            <a:r>
              <a:t>CSIRO WaterWise: sensing, data and prediction support irrigation decisions as an emerging agricultural approach.</a:t>
            </a:r>
          </a:p>
          <a:p xmlns:a="http://schemas.openxmlformats.org/drawingml/2006/main">
            <a:r>
              <a:t>Comparison rule: use common headings, but do not treat the knowledge systems, governance, technologies, scales or purposes as interchangeable.</a:t>
            </a:r>
          </a:p>
          <a:p xmlns:a="http://schemas.openxmlformats.org/drawingml/2006/main">
            <a:r>
              <a:t>Likely misconception: If two approaches share one goal, their knowledge, authority and methods are basically the same.</a:t>
            </a:r>
          </a:p>
          <a:p xmlns:a="http://schemas.openxmlformats.org/drawingml/2006/main">
            <a:r>
              <a:t>Correction: A shared concern can coexist with major differences in context, governance, evidence, time scale and responsibility.</a:t>
            </a:r>
          </a:p>
          <a:p xmlns:a="http://schemas.openxmlformats.org/drawingml/2006/main">
            <a:r>
              <a:t>Prompt: Compare the two named public cases under purpose, authority, evidence, time scale and resource decision; finish with one similarity and two differences.</a:t>
            </a:r>
          </a:p>
          <a:p xmlns:a="http://schemas.openxmlformats.org/drawingml/2006/main">
            <a:r>
              <a:t>Transition: connect this idea to A sustainability lens.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Unearthing the nutritional potential of Australia's sovereign grasses — https://www.csiro.au/en/news/all/articles/2024/january/wadawurrung-grasslands-nutrition</a:t>
            </a:r>
          </a:p>
          <a:p xmlns:a="http://schemas.openxmlformats.org/drawingml/2006/main">
            <a:r>
              <a:t>- WaterWise precision irrigation — https://www.csiro.au/en/about/corporate-governance/ensuring-our-impact/impact-case-studies/future-industries/waterwise</a:t>
            </a:r>
          </a:p>
          <a:p xmlns:a="http://schemas.openxmlformats.org/drawingml/2006/main">
            <a:r>
              <a:t>- Generated teaching visual: assets/m02-s02-country-future-farms.png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A sustainability lens concrete before students apply it to the Farm in a Box.</a:t>
            </a:r>
          </a:p>
          <a:p xmlns:a="http://schemas.openxmlformats.org/drawingml/2006/main">
            <a:r>
              <a:t>Talking point 1: Sustainability combines environmental, social and economic effects over time. Strong criteria make a claimed benefit testable and expose trade-offs.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A product is sustainable if it has one green-looking feature.</a:t>
            </a:r>
          </a:p>
          <a:p xmlns:a="http://schemas.openxmlformats.org/drawingml/2006/main">
            <a:r>
              <a:t>Correction: Sustainability requires evidence across interacting environmental, social and economic effects and across the system's life.</a:t>
            </a:r>
          </a:p>
          <a:p xmlns:a="http://schemas.openxmlformats.org/drawingml/2006/main">
            <a:r>
              <a:t>Prompt: Use a three-lens table to test two small-space growing concepts and write one criterion that reveals an important trade-off.</a:t>
            </a:r>
          </a:p>
          <a:p xmlns:a="http://schemas.openxmlformats.org/drawingml/2006/main">
            <a:r>
              <a:t>Transition: move from explanation 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assets/m02-s03-sustainability-lens.png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think-pair-share: students answer silently, cite one deck idea, then improve their explanation with a partner.</a:t>
            </a:r>
          </a:p>
          <a:p xmlns:a="http://schemas.openxmlformats.org/drawingml/2006/main">
            <a:r>
              <a:t>Question 1 checks First foods: plants, animals and nutrition.</a:t>
            </a:r>
          </a:p>
          <a:p xmlns:a="http://schemas.openxmlformats.org/drawingml/2006/main">
            <a:r>
              <a:t>Question 2 checks Caring for Country and future farms.</a:t>
            </a:r>
          </a:p>
          <a:p xmlns:a="http://schemas.openxmlformats.org/drawingml/2006/main">
            <a:r>
              <a:t>Question 3 checks A sustainability lens.</a:t>
            </a:r>
          </a:p>
          <a:p xmlns:a="http://schemas.openxmlformats.org/drawingml/2006/main">
            <a:r>
              <a:t>Ask for reasoning, not only a short answer. Correct overclaiming and invented local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Unearthing the nutritional potential of Australia's sovereign grasses — https://www.csiro.au/en/news/all/articles/2024/january/wadawurrung-grasslands-nutrition</a:t>
            </a:r>
          </a:p>
          <a:p xmlns:a="http://schemas.openxmlformats.org/drawingml/2006/main">
            <a:r>
              <a:t>- Planting indigenous foods — https://australian.museum/learn/climate-change/climate-solutions/caring-for-country/planting-indigenous-foods/</a:t>
            </a:r>
          </a:p>
          <a:p xmlns:a="http://schemas.openxmlformats.org/drawingml/2006/main">
            <a:r>
              <a:t>- WaterWise precision irrigation — https://www.csiro.au/en/about/corporate-governance/ensuring-our-impact/impact-case-studies/future-industries/waterwise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Gunditjmara Culture &amp; People — Budj Bim Cultural Landscape — https://www.budjbim.com.au/about-us/our-culture/</a:t>
            </a:r>
          </a:p>
          <a:p xmlns:a="http://schemas.openxmlformats.org/drawingml/2006/main">
            <a:r>
              <a:t>- Budj Bim Cultural Landscape — https://whc.unesco.org/en/list/1577</a:t>
            </a:r>
          </a:p>
          <a:p xmlns:a="http://schemas.openxmlformats.org/drawingml/2006/main">
            <a:r>
              <a:t>- Healthy Jarjums — Traditional Aboriginal and Torres Strait Islander Foods — https://www.health.qld.gov.au/__data/assets/pdf_file/0032/428288/jarjums-sect3-less3.pdf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Response purpose: Evaluate one proposed Farm in a Box feature through environmental, social and economic lenses, then write a checkable sustainability criterion.</a:t>
            </a:r>
          </a:p>
          <a:p xmlns:a="http://schemas.openxmlformats.org/drawingml/2006/main">
            <a:r>
              <a:t>Scaffold prompts: What environmental benefit and cost might the feature create? | How could it affect access, care or responsibility? | What time, labour, maintenance or affordability issue matters? | Which trade-off is most important, and what criterion would test it?</a:t>
            </a:r>
          </a:p>
          <a:p xmlns:a="http://schemas.openxmlformats.org/drawingml/2006/main">
            <a:r>
              <a:t>Success criteria: Considers all three sustainability lenses and more than one life-cycle stage. | Names at least one genuine trade-off. | Writes an observable or measurable criterion linked to evidence.</a:t>
            </a:r>
          </a:p>
          <a:p xmlns:a="http://schemas.openxmlformats.org/drawingml/2006/main">
            <a:r>
              <a:t>Appropriate response example for teacher modelling: A replaceable water-delivery part may reduce whole-system waste because a worn part can be changed without discarding everything. Socially, it must remain easy for the team to access and understand. Economically, replacement time and availability matter. A trade-off is that extra connections may add complexity. A useful criterion is: the water-delivery part can be inspected and replaced without damaging the main system, and the team records the time and material involved.</a:t>
            </a:r>
          </a:p>
          <a:p xmlns:a="http://schemas.openxmlformats.org/drawingml/2006/main">
            <a:r>
              <a:t>Model how to acknowledge uncertainty without weakening a claim supported by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destination: attributed plant-and-animal first-foods source notes; resource-management comparison; sustainability criterion and reflection.</a:t>
            </a:r>
          </a:p>
          <a:p xmlns:a="http://schemas.openxmlformats.org/drawingml/2006/main">
            <a:r>
              <a:t>Students save a concise exit response in their local folio or on paper.</a:t>
            </a:r>
          </a:p>
          <a:p xmlns:a="http://schemas.openxmlformats.org/drawingml/2006/main">
            <a:r>
              <a:t>Accept a specific unanswered local-control question; do not pressure students to invent the answer.</a:t>
            </a:r>
          </a:p>
          <a:p xmlns:a="http://schemas.openxmlformats.org/drawingml/2006/main">
            <a:r>
              <a:t>Next step: continue to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Unearthing the nutritional potential of Australia's sovereign grasses — https://www.csiro.au/en/news/all/articles/2024/january/wadawurrung-grasslands-nutrition</a:t>
            </a:r>
          </a:p>
          <a:p xmlns:a="http://schemas.openxmlformats.org/drawingml/2006/main">
            <a:r>
              <a:t>- Planting indigenous foods — https://australian.museum/learn/climate-change/climate-solutions/caring-for-country/planting-indigenous-foods/</a:t>
            </a:r>
          </a:p>
          <a:p xmlns:a="http://schemas.openxmlformats.org/drawingml/2006/main">
            <a:r>
              <a:t>- WaterWise precision irrigation — https://www.csiro.au/en/about/corporate-governance/ensuring-our-impact/impact-case-studies/future-industries/waterwise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Gunditjmara Culture &amp; People — Budj Bim Cultural Landscape — https://www.budjbim.com.au/about-us/our-culture/</a:t>
            </a:r>
          </a:p>
          <a:p xmlns:a="http://schemas.openxmlformats.org/drawingml/2006/main">
            <a:r>
              <a:t>- Budj Bim Cultural Landscape — https://whc.unesco.org/en/list/1577</a:t>
            </a:r>
          </a:p>
          <a:p xmlns:a="http://schemas.openxmlformats.org/drawingml/2006/main">
            <a:r>
              <a:t>- Healthy Jarjums — Traditional Aboriginal and Torres Strait Islander Foods — https://www.health.qld.gov.au/__data/assets/pdf_file/0032/428288/jarjums-sect3-less3.pdf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ee34adc5040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9d4f833a49494e" /><Relationship Type="http://schemas.openxmlformats.org/officeDocument/2006/relationships/slideLayout" Target="/ppt/slideLayouts/slideLayout1.xml" Id="R026ece1b9030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ece1b9030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f6efc57ce4c60" /><Relationship Type="http://schemas.openxmlformats.org/officeDocument/2006/relationships/image" Target="/ppt/media/image.png" Id="Rd94d43bebb784d35" /><Relationship Type="http://schemas.openxmlformats.org/officeDocument/2006/relationships/notesSlide" Target="/ppt/notesSlides/notesSlide1.xml" Id="Rb7cc1e3067e2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2762ed3584d39" /><Relationship Type="http://schemas.openxmlformats.org/officeDocument/2006/relationships/notesSlide" Target="/ppt/notesSlides/notesSlide2.xml" Id="R0d99790919fa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abaaa04854876" /><Relationship Type="http://schemas.openxmlformats.org/officeDocument/2006/relationships/image" Target="/ppt/media/image2.png" Id="R76511ec090ac4ea6" /><Relationship Type="http://schemas.openxmlformats.org/officeDocument/2006/relationships/notesSlide" Target="/ppt/notesSlides/notesSlide3.xml" Id="Rd5a7e48113e948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2d2883f624979" /><Relationship Type="http://schemas.openxmlformats.org/officeDocument/2006/relationships/image" Target="/ppt/media/image3.png" Id="R6106183a2d0d4d1d" /><Relationship Type="http://schemas.openxmlformats.org/officeDocument/2006/relationships/notesSlide" Target="/ppt/notesSlides/notesSlide4.xml" Id="Ref8394417f3a4b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c092180d1480f" /><Relationship Type="http://schemas.openxmlformats.org/officeDocument/2006/relationships/image" Target="/ppt/media/image4.png" Id="Re5e366fa7650438e" /><Relationship Type="http://schemas.openxmlformats.org/officeDocument/2006/relationships/notesSlide" Target="/ppt/notesSlides/notesSlide5.xml" Id="Rf38de9a03a8f4c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e7a243b3445f3" /><Relationship Type="http://schemas.openxmlformats.org/officeDocument/2006/relationships/notesSlide" Target="/ppt/notesSlides/notesSlide6.xml" Id="R1437914619894c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1f94dcaaa463b" /><Relationship Type="http://schemas.openxmlformats.org/officeDocument/2006/relationships/notesSlide" Target="/ppt/notesSlides/notesSlide7.xml" Id="R7545d5a69b2f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c73acd42f4645" /><Relationship Type="http://schemas.openxmlformats.org/officeDocument/2006/relationships/notesSlide" Target="/ppt/notesSlides/notesSlide8.xml" Id="R76bd8e155f95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A student examines a portable planter alongside measured water, a drainage tray, compost and reusable material offcu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d43bebb784d35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D307C-989B-49A6-B63A-70B8C51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DF387-50AF-4135-A007-1930E70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B7435-77A3-4C38-8E20-8F220CD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A7493-4E96-4D94-9D19-F31D12C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Country, Care and Future Farms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A4367-EBB2-4D5D-8F0E-43AD03D4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Learn from publicly shared, attributed examples and compare how different knowledge and technologies guide responsible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B0EDF-5641-47AA-A071-88D839D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91348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24A72-F33F-4D03-A402-8C15EE4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EDAFA-1A2D-4BB6-ADF4-12A23BA4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6F3A9-121F-4A34-8513-87A5CC71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925CB-93DD-46FA-9F2F-D37F7B2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C858D-8DC2-4E58-9E5F-B0502627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78CFC-957E-448F-B5CC-872C941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A388A-E4AD-4CE1-9994-46BD8F5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D3C89-C0C2-4A34-BBAF-522E388C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DA8C0-01B7-48DC-8C63-CB75D351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First foods: plants, animals and nutrition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8199A-D1AB-49BA-A449-054F6D6B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94EBB-0111-44B9-B51D-93415A4A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A30A6-D6A1-43F6-AEA1-23F25E48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909EA-CEC3-4832-9F98-C6E5E848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Caring for Country and future farms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809C3-4506-4FEB-8125-38B8212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50D12-1C3E-4978-B921-83CA1D5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E1781-4862-49B9-883F-CFC3C119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B84FC-A6F6-4E84-B3D6-9BC340D3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A sustainability lens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799FB-D2E7-4BC4-8235-4E256F4A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B0318-7875-43CD-8791-C460357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04D54-31F4-42EA-A627-760E4704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3DDD8-49EC-4DD9-94F8-C033AF2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1. Define one key word from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2. Predict one practical or design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3. Name one question you have.</a:t>
            </a:r>
          </a:p>
        </p:txBody>
      </p:sp>
    </p:spTree>
    <p:extLst>
      <p:ext uri="{BB962C8B-B14F-4D97-AF65-F5344CB8AC3E}">
        <p14:creationId xmlns:p14="http://schemas.microsoft.com/office/powerpoint/2010/main" val="1172939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9C012-F46C-4886-BEF4-670B098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38384-C0BE-4799-A345-FC104B26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2.1 FIRST FOODS: PLANTS, ANIMALS AND 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5E4C8-3B1B-423B-8724-432F94C9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11E42-E091-4184-9A77-D97274FC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ED383-88D5-4A0B-9958-92326C3B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First foods: plants, animals and nutrition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74849-E282-41D8-97DF-69FCCEE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00A81-BA64-4711-AC9E-4453FE0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6A781-31F1-455E-A932-30E4E6B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Wadawurrung sovereign grasses are a named plant case linking authority, care and nutrition research.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79697-F08E-4810-875D-EB34F10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5B0E5-D73E-4B02-95B8-305A3182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Budj Bim kooyang (short-finned eel) is a named Gunditjmara animal-food and aquaculture case.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53AE3-32FF-42DD-A054-7C0CA85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5B410-CBE8-414F-A587-1B0B8C1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Queensland Health's broad Torres Strait Islander overview links garden and marine foods with place, season and nutrition.</a:t>
            </a:r>
          </a:p>
        </p:txBody>
      </p:sp>
      <p:pic>
        <p:nvPicPr>
          <p:cNvPr id="30" name="" descr="Illustrative native grass seed heads grow in a sunlit Australian grassland beside a plain dish containing a small seed samp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11ec090ac4ea6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3A821-5E8A-423B-80BB-83980E7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EA944-4494-440A-A1F6-DFEAC5B9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“What makes this common claim incomplete?”</a:t>
            </a:r>
          </a:p>
        </p:txBody>
      </p:sp>
    </p:spTree>
    <p:extLst>
      <p:ext uri="{BB962C8B-B14F-4D97-AF65-F5344CB8AC3E}">
        <p14:creationId xmlns:p14="http://schemas.microsoft.com/office/powerpoint/2010/main" val="144113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4080F-1789-4E87-8E13-1DDBA2AC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CCC1F-AB4F-4B6D-BC52-B9F76485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2.2 CARING FOR COUNTRY AND FUTURE FARMS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B567-599F-452A-87B9-06E35C8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7529E-59AF-422D-A168-838E81F6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BD59B-5FF2-4483-94B4-5E43535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Caring for Country and future farms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37606-348A-4D2F-999D-EFFAE4E2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30D99-86E6-452E-BAEB-D1ADE982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82833-F379-4EFC-B290-C1C8C3E5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Wadawurrung partnership: Traditional Owner authority, grassland care and research priorities stay connected.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C7928-710D-492F-9D2E-0351ABB5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5020A-FFA9-44C5-9310-24A3FAAB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CSIRO WaterWise: sensing, data and prediction support irrigation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AD5AD-ADCC-44C2-A23D-8B4BEC1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08273-338E-483C-8F58-90DD9D1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Compare purpose, decision-maker, evidence, time scale and responsibility without collapsing differences.</a:t>
            </a:r>
          </a:p>
        </p:txBody>
      </p:sp>
      <p:pic>
        <p:nvPicPr>
          <p:cNvPr id="30" name="" descr="Illustrative side-by-side view of a biodiverse grassland and a cultivated crop system using controlled irrigation li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6183a2d0d4d1d"/>
          <a:stretch xmlns:a="http://schemas.openxmlformats.org/drawingml/2006/main"/>
        </p:blipFill>
        <p:spPr>
          <a:xfrm xmlns:a="http://schemas.openxmlformats.org/drawingml/2006/main">
            <a:off x="7667625" y="1838325"/>
            <a:ext cx="3857625" cy="222885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6F75E-0013-40E3-AFC6-D8309B65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D93C5-07E1-4849-A051-519AE695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“If two approaches share one goal, their knowledge, authority and methods are basically the same.”</a:t>
            </a:r>
          </a:p>
        </p:txBody>
      </p:sp>
    </p:spTree>
    <p:extLst>
      <p:ext uri="{BB962C8B-B14F-4D97-AF65-F5344CB8AC3E}">
        <p14:creationId xmlns:p14="http://schemas.microsoft.com/office/powerpoint/2010/main" val="479257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EDBC1-7F13-4A1E-8DC7-ABFF153E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5C209-83AB-485C-8E0E-E98E5AD3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2.3 A SUSTAINABILITY 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16E3B-4DC8-4187-BA6A-FF270AA0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FB1D5-A043-4125-9E39-A43E750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60865-8F18-4551-AEF2-946ED114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A sustainability lens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A0D3-3CF4-47D7-8D05-DD69D7FD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C3CA-4BDA-461D-9E58-0667A7C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78F60-A7DE-4702-BBCE-EED6E2EA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Sustainability combines environmental, social and economic effects over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D9F5-1CBD-4CAD-9470-EE7B333E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3E0E1-5696-482A-A5FC-525D0AAA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Strong criteria make a claimed benefit testable and expose trade-offs.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5A0D2-EA1D-411E-9578-486F31BE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D9B8E-94AE-451A-9BC2-BFA09A08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Sustainability requires evidence across interacting environmental, social and economic effects and across the system's life.</a:t>
            </a:r>
          </a:p>
        </p:txBody>
      </p:sp>
      <p:pic>
        <p:nvPicPr>
          <p:cNvPr id="30" name="" descr="A student examines a portable planter alongside measured water, a drainage tray, compost and reusable material offcu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366fa7650438e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4144B-C528-4741-9A92-420613E3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22B34-0ECE-4B97-8275-CC562D9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“A product is sustainable if it has one green-looking feature.”</a:t>
            </a:r>
          </a:p>
        </p:txBody>
      </p:sp>
    </p:spTree>
    <p:extLst>
      <p:ext uri="{BB962C8B-B14F-4D97-AF65-F5344CB8AC3E}">
        <p14:creationId xmlns:p14="http://schemas.microsoft.com/office/powerpoint/2010/main" val="665656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70389-E8CD-40EF-98AF-00AFBED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79B62-88BD-42FE-AC02-FB064220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5BC26-67D7-4FEE-BED3-D4DECC89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A7DC6-7379-44CE-875D-E4AB95CC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EF50B-8CC9-4A19-BDF7-192844E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30F72-0A5C-40C2-84A7-1714FD1C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E642A-AEA4-4D68-87DA-65B54093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84EE8-AFDB-439B-94E2-9E68904C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BE657-8D5E-4B56-9A3D-A6F491CF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is the most responsible way to introduce the sovereign-grasses case study?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6B6CD-1C1B-4D59-8514-E80CCD76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880F4-FD40-4893-ACDB-6161DBD2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7F18F-F62A-4D5A-B142-DFFD752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makes a comparison between the two cases fair?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1D2EC-06E3-464D-85BA-95B73B4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BA89C-7F02-4A60-B5FC-816EB54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A5760-3E1E-4AB4-872E-2C401A2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judgement uses a complete sustainability lens?</a:t>
            </a:r>
          </a:p>
        </p:txBody>
      </p:sp>
    </p:spTree>
    <p:extLst>
      <p:ext uri="{BB962C8B-B14F-4D97-AF65-F5344CB8AC3E}">
        <p14:creationId xmlns:p14="http://schemas.microsoft.com/office/powerpoint/2010/main" val="518005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D177E-CEA0-4470-8D6A-B878678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8AAE1-1EA4-4C6F-87A7-2024F4F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9A39F-643A-4881-875D-1FCA2117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1F242-4F1F-4051-9B6B-401A748D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91E9-73BD-4B47-8875-1F493CA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77D68-46C0-4596-A542-8763A6EE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32C2A-DD12-40E5-814A-D2BBFF8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BB324-92BE-4B2C-BD11-CAD7119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Evaluate one Farm in a Box feature through environmental, social and economic lenses. Write one checkable sustainability criterion.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2005A-EC13-47F3-8325-F5871EB1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4162E-D146-4B9D-BAFB-5210EFF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75DD1-4B60-4A33-ADB2-1DBEABF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Considers all three sustainability lenses and more than one life-cycle stage. Names at least one genuine trade-off.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A25EB-4260-4727-BD4F-94D9D4C0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98D5B-7352-4EB4-913E-D0E11766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A4B9D-82E8-4F14-9331-EA979153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Select the exact theory, observation or record that answers the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74C75-B43E-4A51-A3C6-BD3A3AF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9376D-AF6F-4642-92B4-E0EE7812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25F8F-E44B-4EEB-88DB-CB7801CA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Use subject vocabulary and show the because, so or therefore connection.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3D352-1ED8-4E4D-9FBE-440733A7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99D7F-2982-4F21-886A-AFE1542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E63CF-1B6D-468B-9336-A4263FB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Answer every part, state limits honestly and remove unsupported local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D9871-F20D-48FA-B0D9-2894A2A5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The feature may improve ______ because..., but across its life it could also...</a:t>
            </a:r>
          </a:p>
        </p:txBody>
      </p:sp>
    </p:spTree>
    <p:extLst>
      <p:ext uri="{BB962C8B-B14F-4D97-AF65-F5344CB8AC3E}">
        <p14:creationId xmlns:p14="http://schemas.microsoft.com/office/powerpoint/2010/main" val="1472622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93A29-732C-4EC9-BEB8-21E0187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1E452-4ADA-45BA-A2D4-B5FFB8EA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C503E-4EE8-4F81-9B98-3D54526C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2  •  COUNTRY, CARE AND FUTURE FARMS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BB5F2-A340-4AD5-91AA-D0139845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8D2A0-6999-42CC-B1D0-B027B431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0270B-F84C-446D-AAF7-91B5D4B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ECE93-0372-4344-BEC6-1DDA02EE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idea I can now explain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BE3C6-2109-44EE-886D-6602729C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68A9E-97A3-4EA3-998B-061DB066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decision or practical action this changes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87731-8FF2-44F1-B7CB-21F5B3D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9A0E2-3FD1-4118-89DF-4AF07A35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local detail my teacher still needs to confirm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DFAC3-AF76-4C86-B66E-F36C14E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3C4F2-A5DC-4E09-92FE-E72D8014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TO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FOLIO</a:t>
            </a:r>
          </a:p>
        </p:txBody>
      </p:sp>
    </p:spTree>
    <p:extLst>
      <p:ext uri="{BB962C8B-B14F-4D97-AF65-F5344CB8AC3E}">
        <p14:creationId xmlns:p14="http://schemas.microsoft.com/office/powerpoint/2010/main" val="714506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2026-09-02T00:59:50.1930000Z</dcterms:created>
  <dcterms:modified xsi:type="dcterms:W3CDTF">2026-09-02T00:59:50.1930000Z</dcterms:modified>
</coreProperties>
</file>