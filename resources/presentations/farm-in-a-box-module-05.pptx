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73616c5b80470c" /><Relationship Type="http://schemas.openxmlformats.org/officeDocument/2006/relationships/extended-properties" Target="/docProps/app.xml" Id="Re4d1663daf324800" /><Relationship Type="http://schemas.openxmlformats.org/officeDocument/2006/relationships/officeDocument" Target="/ppt/presentation.xml" Id="R32f376e9992e4fed" /></Relationships>
</file>

<file path=ppt/presentation.xml><?xml version="1.0" encoding="utf-8"?>
<p:presentation xmlns:p="http://schemas.openxmlformats.org/presentationml/2006/main">
  <p:sldMasterIdLst>
    <p:sldMasterId xmlns:r="http://schemas.openxmlformats.org/officeDocument/2006/relationships" id="2147483648" r:id="R352572ff9ba640af"/>
  </p:sldMasterIdLst>
  <p:notesMasterIdLst>
    <p:notesMasterId xmlns:r="http://schemas.openxmlformats.org/officeDocument/2006/relationships" r:id="R4495c33b70d84fd7"/>
  </p:notesMasterIdLst>
  <p:sldIdLst>
    <p:sldId xmlns:r="http://schemas.openxmlformats.org/officeDocument/2006/relationships" id="256" r:id="R6ef297aff1934ee0"/>
    <p:sldId xmlns:r="http://schemas.openxmlformats.org/officeDocument/2006/relationships" id="257" r:id="Re5402844864f4ea2"/>
    <p:sldId xmlns:r="http://schemas.openxmlformats.org/officeDocument/2006/relationships" id="258" r:id="R50f36451fec04d11"/>
    <p:sldId xmlns:r="http://schemas.openxmlformats.org/officeDocument/2006/relationships" id="259" r:id="R7ffa896b299d4d38"/>
    <p:sldId xmlns:r="http://schemas.openxmlformats.org/officeDocument/2006/relationships" id="260" r:id="R97365d5bf2454e01"/>
    <p:sldId xmlns:r="http://schemas.openxmlformats.org/officeDocument/2006/relationships" id="261" r:id="Rb3a0e80eab874d30"/>
    <p:sldId xmlns:r="http://schemas.openxmlformats.org/officeDocument/2006/relationships" id="262" r:id="Rf7e9723859314a35"/>
    <p:sldId xmlns:r="http://schemas.openxmlformats.org/officeDocument/2006/relationships" id="263" r:id="Rb75c205a5b7c4e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b4ab172b234b8f" /><Relationship Type="http://schemas.openxmlformats.org/officeDocument/2006/relationships/slideMaster" Target="/ppt/slideMasters/slideMaster1.xml" Id="R352572ff9ba640af" /><Relationship Type="http://schemas.openxmlformats.org/officeDocument/2006/relationships/notesMaster" Target="/ppt/notesMasters/notesMaster1.xml" Id="R4495c33b70d84fd7" /><Relationship Type="http://schemas.openxmlformats.org/officeDocument/2006/relationships/presProps" Target="/ppt/presProps.xml" Id="R30af7562635f4a90" /><Relationship Type="http://schemas.openxmlformats.org/officeDocument/2006/relationships/tableStyles" Target="/ppt/tableStyles.xml" Id="R9f28808bb9874dba" /><Relationship Type="http://schemas.openxmlformats.org/officeDocument/2006/relationships/slide" Target="/ppt/slides/slide1.xml" Id="R6ef297aff1934ee0" /><Relationship Type="http://schemas.openxmlformats.org/officeDocument/2006/relationships/slide" Target="/ppt/slides/slide2.xml" Id="Re5402844864f4ea2" /><Relationship Type="http://schemas.openxmlformats.org/officeDocument/2006/relationships/slide" Target="/ppt/slides/slide3.xml" Id="R50f36451fec04d11" /><Relationship Type="http://schemas.openxmlformats.org/officeDocument/2006/relationships/slide" Target="/ppt/slides/slide4.xml" Id="R7ffa896b299d4d38" /><Relationship Type="http://schemas.openxmlformats.org/officeDocument/2006/relationships/slide" Target="/ppt/slides/slide5.xml" Id="R97365d5bf2454e01" /><Relationship Type="http://schemas.openxmlformats.org/officeDocument/2006/relationships/slide" Target="/ppt/slides/slide6.xml" Id="Rb3a0e80eab874d30" /><Relationship Type="http://schemas.openxmlformats.org/officeDocument/2006/relationships/slide" Target="/ppt/slides/slide7.xml" Id="Rf7e9723859314a35" /><Relationship Type="http://schemas.openxmlformats.org/officeDocument/2006/relationships/slide" Target="/ppt/slides/slide8.xml" Id="Rb75c205a5b7c4e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2f6e0c223646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9e50868b1841ac" /><Relationship Type="http://schemas.openxmlformats.org/officeDocument/2006/relationships/notesMaster" Target="/ppt/notesMasters/notesMaster1.xml" Id="R6b6ce51d39d242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37f60192e04d25" /><Relationship Type="http://schemas.openxmlformats.org/officeDocument/2006/relationships/notesMaster" Target="/ppt/notesMasters/notesMaster1.xml" Id="R528843aa7f2547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c1ce5492564878" /><Relationship Type="http://schemas.openxmlformats.org/officeDocument/2006/relationships/notesMaster" Target="/ppt/notesMasters/notesMaster1.xml" Id="R0a198f27a9b04d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baf96e3ac44d6e" /><Relationship Type="http://schemas.openxmlformats.org/officeDocument/2006/relationships/notesMaster" Target="/ppt/notesMasters/notesMaster1.xml" Id="R5fc797fb73a949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20f96c35674aca" /><Relationship Type="http://schemas.openxmlformats.org/officeDocument/2006/relationships/notesMaster" Target="/ppt/notesMasters/notesMaster1.xml" Id="Ra7948becfcd946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51bf340fb44bbf" /><Relationship Type="http://schemas.openxmlformats.org/officeDocument/2006/relationships/notesMaster" Target="/ppt/notesMasters/notesMaster1.xml" Id="Rab4de94369d646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c229921e0243c0" /><Relationship Type="http://schemas.openxmlformats.org/officeDocument/2006/relationships/notesMaster" Target="/ppt/notesMasters/notesMaster1.xml" Id="Rf060354ff9f648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bbd3b1b05947ae" /><Relationship Type="http://schemas.openxmlformats.org/officeDocument/2006/relationships/notesMaster" Target="/ppt/notesMasters/notesMaster1.xml" Id="Ra16f0411452441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Water-Smart Growing as the next step in the Farm in a Box learning sequence.</a:t>
            </a:r>
          </a:p>
          <a:p xmlns:a="http://schemas.openxmlformats.org/drawingml/2006/main">
            <a:r>
              <a:t>Student outcome for this deck: Trace each drop, compare water-delivery ideas and test a passive wick concept with evidence.</a:t>
            </a:r>
          </a:p>
          <a:p xmlns:a="http://schemas.openxmlformats.org/drawingml/2006/main">
            <a:r>
              <a:t>Opening prompt: ask students what evidence in the image makes this an agriculture system rather than a decorative container.</a:t>
            </a:r>
          </a:p>
          <a:p xmlns:a="http://schemas.openxmlformats.org/drawingml/2006/main">
            <a:r>
              <a:t>Boundary: crop, site, materials, tools, method and local safety controls remain Teacher to confirm.</a:t>
            </a:r>
          </a:p>
          <a:p xmlns:a="http://schemas.openxmlformats.org/drawingml/2006/main">
            <a:r>
              <a:t>Transition: preview the three named learning areas without answering the warm-up for students.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Course design brief: resources/core/design-brief-v1.0.json.</a:t>
            </a:r>
          </a:p>
          <a:p xmlns:a="http://schemas.openxmlformats.org/drawingml/2006/main">
            <a:r>
              <a:t>- Generated title visual: assets/m05-s03-build-test-wick.png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quiet thinking time before taking responses.</a:t>
            </a:r>
          </a:p>
          <a:p xmlns:a="http://schemas.openxmlformats.org/drawingml/2006/main">
            <a:r>
              <a:t>The three named areas are Where every drop goes; Choose a water-smart idea; Build and test a wick.</a:t>
            </a:r>
          </a:p>
          <a:p xmlns:a="http://schemas.openxmlformats.org/drawingml/2006/main">
            <a:r>
              <a:t>Keep initial answers provisional. The deck is designed to improve them with evidence.</a:t>
            </a:r>
          </a:p>
          <a:p xmlns:a="http://schemas.openxmlformats.org/drawingml/2006/main">
            <a:r>
              <a:t>Do not introduce outcome codes or local practical facts on this student-facing slide.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Where every drop goes concrete before students apply it to the Farm in a Box.</a:t>
            </a:r>
          </a:p>
          <a:p xmlns:a="http://schemas.openxmlformats.org/drawingml/2006/main">
            <a:r>
              <a:t>Talking point 1: Water moves through several pathways in a growing system. A water budget makes inputs, useful availability and losses visible so feedback can guide decisions.</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Every drop that leaves a leaf is wasted, and using the least water always gives the best crop system.</a:t>
            </a:r>
          </a:p>
          <a:p xmlns:a="http://schemas.openxmlformats.org/drawingml/2006/main">
            <a:r>
              <a:t>Correction: Transpiration is part of plant function; water-smart design matches supply with need and reduces avoidable loss without creating shortage.</a:t>
            </a:r>
          </a:p>
          <a:p xmlns:a="http://schemas.openxmlformats.org/drawingml/2006/main">
            <a:r>
              <a:t>Prompt: Annotate a generic container system with water pathways, then nominate two observable indicators that could become feedback for later decisions.</a:t>
            </a:r>
          </a:p>
          <a:p xmlns:a="http://schemas.openxmlformats.org/drawingml/2006/main">
            <a:r>
              <a:t>Transition: connect this idea to Choose a water-smart idea.</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Generated teaching visual: assets/m05-s01-water-pathway.png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Choose a water-smart idea concrete before students apply it to the Farm in a Box.</a:t>
            </a:r>
          </a:p>
          <a:p xmlns:a="http://schemas.openxmlformats.org/drawingml/2006/main">
            <a:r>
              <a:t>Talking point 1: Manual, drip, wick and data-informed systems offer different benefits and burdens. Selection should use shared criteria, show the whole water path and remain open to prototype evidence.</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The most automated or expensive system is always the most water-smart.</a:t>
            </a:r>
          </a:p>
          <a:p xmlns:a="http://schemas.openxmlformats.org/drawingml/2006/main">
            <a:r>
              <a:t>Correction: Suitability depends on function, context, maintenance, evidence, access, cost and the problem being solved.</a:t>
            </a:r>
          </a:p>
          <a:p xmlns:a="http://schemas.openxmlformats.org/drawingml/2006/main">
            <a:r>
              <a:t>Prompt: Use a weighted comparison matrix to select a water-delivery concept for a supplied care scenario and annotate the chosen water path and feedback point.</a:t>
            </a:r>
          </a:p>
          <a:p xmlns:a="http://schemas.openxmlformats.org/drawingml/2006/main">
            <a:r>
              <a:t>Transition: connect this idea to Build and test a wick.</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Generated teaching visual: assets/m05-s02-water-smart-options.png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Build and test a wick concrete before students apply it to the Farm in a Box.</a:t>
            </a:r>
          </a:p>
          <a:p xmlns:a="http://schemas.openxmlformats.org/drawingml/2006/main">
            <a:r>
              <a:t>Talking point 1: Wicks use adhesion, cohesion and capillary action to transfer water passively. Performance varies with material, contact and geometry, so a controlled prototype is needed before system claims.</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Any strip of material will lift any amount of water to any height forever.</a:t>
            </a:r>
          </a:p>
          <a:p xmlns:a="http://schemas.openxmlformats.org/drawingml/2006/main">
            <a:r>
              <a:t>Correction: Wick transfer depends on material structure, contact, geometry and conditions; it is limited and must be tested.</a:t>
            </a:r>
          </a:p>
          <a:p xmlns:a="http://schemas.openxmlformats.org/drawingml/2006/main">
            <a:r>
              <a:t>Prompt: Conduct a teacher-approved wick transfer test, change one variable for a second trial and recommend whether the concept merits full-system prototyping.</a:t>
            </a:r>
          </a:p>
          <a:p xmlns:a="http://schemas.openxmlformats.org/drawingml/2006/main">
            <a:r>
              <a:t>Transition: move from explanation to retrieval across all three ideas.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Generated teaching visual: assets/m05-s03-build-test-wick.png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think-pair-share: students answer silently, cite one deck idea, then improve their explanation with a partner.</a:t>
            </a:r>
          </a:p>
          <a:p xmlns:a="http://schemas.openxmlformats.org/drawingml/2006/main">
            <a:r>
              <a:t>Question 1 checks Where every drop goes.</a:t>
            </a:r>
          </a:p>
          <a:p xmlns:a="http://schemas.openxmlformats.org/drawingml/2006/main">
            <a:r>
              <a:t>Question 2 checks Choose a water-smart idea.</a:t>
            </a:r>
          </a:p>
          <a:p xmlns:a="http://schemas.openxmlformats.org/drawingml/2006/main">
            <a:r>
              <a:t>Question 3 checks Build and test a wick.</a:t>
            </a:r>
          </a:p>
          <a:p xmlns:a="http://schemas.openxmlformats.org/drawingml/2006/main">
            <a:r>
              <a:t>Ask for reasoning, not only a short answer. Correct overclaiming and invented local detail.</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Response purpose: Evaluate a wick-test result, justify one controlled modification and explain what further evidence is required before using the concept in the full Farm in a Box system.</a:t>
            </a:r>
          </a:p>
          <a:p xmlns:a="http://schemas.openxmlformats.org/drawingml/2006/main">
            <a:r>
              <a:t>Scaffold prompts: What transfer evidence was recorded and how consistent was it? | What role might adhesion, cohesion, contact or geometry have played? | Which one variable should change next, and which conditions stay matched? | What can the bench test not prove about the full crop system?</a:t>
            </a:r>
          </a:p>
          <a:p xmlns:a="http://schemas.openxmlformats.org/drawingml/2006/main">
            <a:r>
              <a:t>Success criteria: Interprets the result using capillary-action concepts. | Proposes one controlled modification and a relevant measure. | Separates wick-transfer evidence from untested crop and full-system performance.</a:t>
            </a:r>
          </a:p>
          <a:p xmlns:a="http://schemas.openxmlformats.org/drawingml/2006/main">
            <a:r>
              <a:t>Appropriate response example for teacher modelling: The test shows that the approved wick transferred water across the bench arrangement, although repeated results varied. Continuous contact and the height difference may have affected the wetting front. I would change only the wick width for the next trial while keeping material, length, height, source level and timing method consistent. The bench result does not prove that the full root zone will receive suitable water or that the crop will grow well, so system-level observations are still required.</a:t>
            </a:r>
          </a:p>
          <a:p xmlns:a="http://schemas.openxmlformats.org/drawingml/2006/main">
            <a:r>
              <a:t>Model how to acknowledge uncertainty without weakening a claim supported by evidence.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destination: water-technology comparison; annotated water-smart concept; wick prototype test and modification.</a:t>
            </a:r>
          </a:p>
          <a:p xmlns:a="http://schemas.openxmlformats.org/drawingml/2006/main">
            <a:r>
              <a:t>Students save a concise exit response in their local folio or on paper.</a:t>
            </a:r>
          </a:p>
          <a:p xmlns:a="http://schemas.openxmlformats.org/drawingml/2006/main">
            <a:r>
              <a:t>Accept a specific unanswered local-control question; do not pressure students to invent the answer.</a:t>
            </a:r>
          </a:p>
          <a:p xmlns:a="http://schemas.openxmlformats.org/drawingml/2006/main">
            <a:r>
              <a:t>Next step: continue to Module 6.</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85ed350d794b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7d1de620df4f22" /><Relationship Type="http://schemas.openxmlformats.org/officeDocument/2006/relationships/slideLayout" Target="/ppt/slideLayouts/slideLayout1.xml" Id="R302067ad6cca44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2067ad6cca44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9c6fef344d451e" /><Relationship Type="http://schemas.openxmlformats.org/officeDocument/2006/relationships/image" Target="/ppt/media/image.png" Id="R3f0869cd26324c49" /><Relationship Type="http://schemas.openxmlformats.org/officeDocument/2006/relationships/notesSlide" Target="/ppt/notesSlides/notesSlide1.xml" Id="R14e5dcc15f5847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4b4e78d5b04640" /><Relationship Type="http://schemas.openxmlformats.org/officeDocument/2006/relationships/notesSlide" Target="/ppt/notesSlides/notesSlide2.xml" Id="R327c3331a5c349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661cd34341410f" /><Relationship Type="http://schemas.openxmlformats.org/officeDocument/2006/relationships/image" Target="/ppt/media/image2.png" Id="Ra3f3c8fef35c4f7b" /><Relationship Type="http://schemas.openxmlformats.org/officeDocument/2006/relationships/notesSlide" Target="/ppt/notesSlides/notesSlide3.xml" Id="Ree61216c53ea40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ed4f4f89ca4490a" /><Relationship Type="http://schemas.openxmlformats.org/officeDocument/2006/relationships/image" Target="/ppt/media/image3.png" Id="R781a7236821c4cf3" /><Relationship Type="http://schemas.openxmlformats.org/officeDocument/2006/relationships/notesSlide" Target="/ppt/notesSlides/notesSlide4.xml" Id="R1162d6dc94b74d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ace482dad8498d" /><Relationship Type="http://schemas.openxmlformats.org/officeDocument/2006/relationships/image" Target="/ppt/media/image4.png" Id="R8eb00d85e2f14f61" /><Relationship Type="http://schemas.openxmlformats.org/officeDocument/2006/relationships/notesSlide" Target="/ppt/notesSlides/notesSlide5.xml" Id="R4c5a51cd4c864c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3b59cd38ed4e37" /><Relationship Type="http://schemas.openxmlformats.org/officeDocument/2006/relationships/notesSlide" Target="/ppt/notesSlides/notesSlide6.xml" Id="Ra4ac4916ad9148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ab9c61efd84045" /><Relationship Type="http://schemas.openxmlformats.org/officeDocument/2006/relationships/notesSlide" Target="/ppt/notesSlides/notesSlide7.xml" Id="R4fcd2a521f9740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56c1b122c44e8a" /><Relationship Type="http://schemas.openxmlformats.org/officeDocument/2006/relationships/notesSlide" Target="/ppt/notesSlides/notesSlide8.xml" Id="Rcf767e9e6fe849ef" /></Relationships>
</file>

<file path=ppt/slides/slide1.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pic>
        <p:nvPicPr>
          <p:cNvPr id="9" name="" descr="Students position a cotton wick through a perforated pot above a clear reservoir while a completed prototype shows a wetted wick."/>
          <p:cNvPicPr>
            <a:picLocks xmlns:a="http://schemas.openxmlformats.org/drawingml/2006/main" noChangeAspect="1"/>
          </p:cNvPicPr>
          <p:nvPr/>
        </p:nvPicPr>
        <p:blipFill>
          <a:blip xmlns:r="http://schemas.openxmlformats.org/officeDocument/2006/relationships" xmlns:a="http://schemas.openxmlformats.org/drawingml/2006/main" r:embed="R3f0869cd26324c49"/>
          <a:srcRect xmlns:a="http://schemas.openxmlformats.org/drawingml/2006/main" l="24074" t="0" r="24074"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0475FCEB-9DAD-4E5B-B0C9-F22E3C48E910}"/>
              </a:ext>
            </a:extLst>
          </p:cNvPr>
          <p:cNvSpPr>
            <a:spLocks xmlns:a="http://schemas.openxmlformats.org/drawingml/2006/main" noGrp="1"/>
          </p:cNvSpPr>
          <p:nvPr/>
        </p:nvSpPr>
        <p:spPr>
          <a:xfrm xmlns:a="http://schemas.openxmlformats.org/drawingml/2006/main">
            <a:off x="0" y="0"/>
            <a:ext cx="7381875" cy="6858000"/>
          </a:xfrm>
          <a:prstGeom xmlns:a="http://schemas.openxmlformats.org/drawingml/2006/main" prst="rect">
            <a:avLst/>
          </a:prstGeom>
          <a:solidFill xmlns:a="http://schemas.openxmlformats.org/drawingml/2006/main">
            <a:srgbClr val="183B2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32E1AC8-E733-489B-8A7F-8385B36C98CA}"/>
              </a:ext>
            </a:extLst>
          </p:cNvPr>
          <p:cNvSpPr>
            <a:spLocks xmlns:a="http://schemas.openxmlformats.org/drawingml/2006/main" noGrp="1"/>
          </p:cNvSpPr>
          <p:nvPr/>
        </p:nvSpPr>
        <p:spPr>
          <a:xfrm xmlns:a="http://schemas.openxmlformats.org/drawingml/2006/main">
            <a:off x="609600" y="781050"/>
            <a:ext cx="914400" cy="952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0975AB-D0C8-4B3D-B39E-D1EB3026FD49}"/>
              </a:ext>
            </a:extLst>
          </p:cNvPr>
          <p:cNvSpPr>
            <a:spLocks xmlns:a="http://schemas.openxmlformats.org/drawingml/2006/main" noGrp="1"/>
          </p:cNvSpPr>
          <p:nvPr/>
        </p:nvSpPr>
        <p:spPr>
          <a:xfrm xmlns:a="http://schemas.openxmlformats.org/drawingml/2006/main">
            <a:off x="609600" y="1123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FFF4BA"/>
                </a:solidFill>
              </a:defRPr>
            </a:pPr>
            <a:r>
              <a:rPr sz="1350" b="1" i="0">
                <a:solidFill>
                  <a:srgbClr val="FFF4BA"/>
                </a:solidFill>
              </a:rPr>
              <a:t>MODULE 5</a:t>
            </a:r>
          </a:p>
        </p:txBody>
      </p:sp>
      <p:sp>
        <p:nvSpPr>
          <p:cNvPr id="5" name="">
            <a:extLst xmlns:a="http://schemas.openxmlformats.org/drawingml/2006/main">
              <a:ext uri="{FF2B5EF4-FFF2-40B4-BE49-F238E27FC236}">
                <a16:creationId xmlns:a16="http://schemas.microsoft.com/office/drawing/2014/main" id="{961C6FA5-D3BC-46A7-BD7A-B7105AB25124}"/>
              </a:ext>
            </a:extLst>
          </p:cNvPr>
          <p:cNvSpPr>
            <a:spLocks xmlns:a="http://schemas.openxmlformats.org/drawingml/2006/main" noGrp="1"/>
          </p:cNvSpPr>
          <p:nvPr/>
        </p:nvSpPr>
        <p:spPr>
          <a:xfrm xmlns:a="http://schemas.openxmlformats.org/drawingml/2006/main">
            <a:off x="609600" y="1695450"/>
            <a:ext cx="5715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i="0">
                <a:solidFill>
                  <a:srgbClr val="FFFFFF"/>
                </a:solidFill>
              </a:defRPr>
            </a:pPr>
            <a:r>
              <a:rPr sz="4050" b="1" i="0">
                <a:solidFill>
                  <a:srgbClr val="FFFFFF"/>
                </a:solidFill>
              </a:rPr>
              <a:t>Water-Smart Growing</a:t>
            </a:r>
          </a:p>
        </p:txBody>
      </p:sp>
      <p:sp>
        <p:nvSpPr>
          <p:cNvPr id="6" name="">
            <a:extLst xmlns:a="http://schemas.openxmlformats.org/drawingml/2006/main">
              <a:ext uri="{FF2B5EF4-FFF2-40B4-BE49-F238E27FC236}">
                <a16:creationId xmlns:a16="http://schemas.microsoft.com/office/drawing/2014/main" id="{CF0C672C-3814-4535-A989-EF6849B953E7}"/>
              </a:ext>
            </a:extLst>
          </p:cNvPr>
          <p:cNvSpPr>
            <a:spLocks xmlns:a="http://schemas.openxmlformats.org/drawingml/2006/main" noGrp="1"/>
          </p:cNvSpPr>
          <p:nvPr/>
        </p:nvSpPr>
        <p:spPr>
          <a:xfrm xmlns:a="http://schemas.openxmlformats.org/drawingml/2006/main">
            <a:off x="609600" y="3486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EAF2E6"/>
                </a:solidFill>
              </a:defRPr>
            </a:pPr>
            <a:r>
              <a:rPr sz="1875" b="0" i="0">
                <a:solidFill>
                  <a:srgbClr val="EAF2E6"/>
                </a:solidFill>
              </a:rPr>
              <a:t>Trace each drop, compare water-delivery ideas and test a passive wick concept with evidence.</a:t>
            </a:r>
          </a:p>
        </p:txBody>
      </p:sp>
      <p:sp>
        <p:nvSpPr>
          <p:cNvPr id="7" name="">
            <a:extLst xmlns:a="http://schemas.openxmlformats.org/drawingml/2006/main">
              <a:ext uri="{FF2B5EF4-FFF2-40B4-BE49-F238E27FC236}">
                <a16:creationId xmlns:a16="http://schemas.microsoft.com/office/drawing/2014/main" id="{DE204F2B-B300-4B21-B06C-630508993D87}"/>
              </a:ext>
            </a:extLst>
          </p:cNvPr>
          <p:cNvSpPr>
            <a:spLocks xmlns:a="http://schemas.openxmlformats.org/drawingml/2006/main" noGrp="1"/>
          </p:cNvSpPr>
          <p:nvPr/>
        </p:nvSpPr>
        <p:spPr>
          <a:xfrm xmlns:a="http://schemas.openxmlformats.org/drawingml/2006/main">
            <a:off x="609600" y="58102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C8D8C6"/>
                </a:solidFill>
              </a:defRPr>
            </a:pPr>
            <a:r>
              <a:rPr sz="1125" b="1" i="0">
                <a:solidFill>
                  <a:srgbClr val="C8D8C6"/>
                </a:solidFill>
              </a:rPr>
              <a:t>Teacher-led classroom presentation</a:t>
            </a:r>
          </a:p>
        </p:txBody>
      </p:sp>
    </p:spTree>
    <p:extLst>
      <p:ext uri="{BB962C8B-B14F-4D97-AF65-F5344CB8AC3E}">
        <p14:creationId xmlns:p14="http://schemas.microsoft.com/office/powerpoint/2010/main" val="501813602"/>
      </p:ext>
    </p:extLst>
  </p:cSld>
</p:sld>
</file>

<file path=ppt/slides/slide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E448722-FDCF-416F-8101-219DF299B82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AE9F8E-FC70-4A85-A286-B9C87434ECED}"/>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TODAY’S LEARNING PATH</a:t>
            </a:r>
          </a:p>
        </p:txBody>
      </p:sp>
      <p:sp>
        <p:nvSpPr>
          <p:cNvPr id="3" name="">
            <a:extLst xmlns:a="http://schemas.openxmlformats.org/drawingml/2006/main">
              <a:ext uri="{FF2B5EF4-FFF2-40B4-BE49-F238E27FC236}">
                <a16:creationId xmlns:a16="http://schemas.microsoft.com/office/drawing/2014/main" id="{C91EF419-1190-4FE7-BC09-E941DD4AF055}"/>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5  •  WATER-SMART GROWING</a:t>
            </a:r>
          </a:p>
        </p:txBody>
      </p:sp>
      <p:sp>
        <p:nvSpPr>
          <p:cNvPr id="4" name="">
            <a:extLst xmlns:a="http://schemas.openxmlformats.org/drawingml/2006/main">
              <a:ext uri="{FF2B5EF4-FFF2-40B4-BE49-F238E27FC236}">
                <a16:creationId xmlns:a16="http://schemas.microsoft.com/office/drawing/2014/main" id="{CEACF11B-3A28-40FB-B462-820AACBCC578}"/>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02</a:t>
            </a:r>
          </a:p>
        </p:txBody>
      </p:sp>
      <p:sp>
        <p:nvSpPr>
          <p:cNvPr id="5" name="">
            <a:extLst xmlns:a="http://schemas.openxmlformats.org/drawingml/2006/main">
              <a:ext uri="{FF2B5EF4-FFF2-40B4-BE49-F238E27FC236}">
                <a16:creationId xmlns:a16="http://schemas.microsoft.com/office/drawing/2014/main" id="{E51AD4BF-587F-418F-8F36-1DB7E5D49A9A}"/>
              </a:ext>
            </a:extLst>
          </p:cNvPr>
          <p:cNvSpPr>
            <a:spLocks xmlns:a="http://schemas.openxmlformats.org/drawingml/2006/main" noGrp="1"/>
          </p:cNvSpPr>
          <p:nvPr/>
        </p:nvSpPr>
        <p:spPr>
          <a:xfrm xmlns:a="http://schemas.openxmlformats.org/drawingml/2006/main">
            <a:off x="590550" y="800100"/>
            <a:ext cx="638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Where are we going?</a:t>
            </a:r>
          </a:p>
        </p:txBody>
      </p:sp>
      <p:sp>
        <p:nvSpPr>
          <p:cNvPr id="6" name="">
            <a:extLst xmlns:a="http://schemas.openxmlformats.org/drawingml/2006/main">
              <a:ext uri="{FF2B5EF4-FFF2-40B4-BE49-F238E27FC236}">
                <a16:creationId xmlns:a16="http://schemas.microsoft.com/office/drawing/2014/main" id="{A209DF3A-3CE2-4E1F-AEBE-7945A4D9B5EC}"/>
              </a:ext>
            </a:extLst>
          </p:cNvPr>
          <p:cNvSpPr>
            <a:spLocks xmlns:a="http://schemas.openxmlformats.org/drawingml/2006/main" noGrp="1"/>
          </p:cNvSpPr>
          <p:nvPr/>
        </p:nvSpPr>
        <p:spPr>
          <a:xfrm xmlns:a="http://schemas.openxmlformats.org/drawingml/2006/main">
            <a:off x="590550" y="18097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3B9A52F4-E8F5-4C3A-8571-F3E70FFEE2B1}"/>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150A0F8-22B2-4369-A64B-E7F70C66E8C6}"/>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9" name="">
            <a:extLst xmlns:a="http://schemas.openxmlformats.org/drawingml/2006/main">
              <a:ext uri="{FF2B5EF4-FFF2-40B4-BE49-F238E27FC236}">
                <a16:creationId xmlns:a16="http://schemas.microsoft.com/office/drawing/2014/main" id="{85338636-A5CE-4C65-B75B-3DFA77E65664}"/>
              </a:ext>
            </a:extLst>
          </p:cNvPr>
          <p:cNvSpPr>
            <a:spLocks xmlns:a="http://schemas.openxmlformats.org/drawingml/2006/main" noGrp="1"/>
          </p:cNvSpPr>
          <p:nvPr/>
        </p:nvSpPr>
        <p:spPr>
          <a:xfrm xmlns:a="http://schemas.openxmlformats.org/drawingml/2006/main">
            <a:off x="1466850" y="19716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Where every drop goes</a:t>
            </a:r>
          </a:p>
        </p:txBody>
      </p:sp>
      <p:sp>
        <p:nvSpPr>
          <p:cNvPr id="10" name="">
            <a:extLst xmlns:a="http://schemas.openxmlformats.org/drawingml/2006/main">
              <a:ext uri="{FF2B5EF4-FFF2-40B4-BE49-F238E27FC236}">
                <a16:creationId xmlns:a16="http://schemas.microsoft.com/office/drawing/2014/main" id="{2AD16CCA-3EC4-41E2-8BC1-76FC8E0D4ECB}"/>
              </a:ext>
            </a:extLst>
          </p:cNvPr>
          <p:cNvSpPr>
            <a:spLocks xmlns:a="http://schemas.openxmlformats.org/drawingml/2006/main" noGrp="1"/>
          </p:cNvSpPr>
          <p:nvPr/>
        </p:nvSpPr>
        <p:spPr>
          <a:xfrm xmlns:a="http://schemas.openxmlformats.org/drawingml/2006/main">
            <a:off x="590550" y="30289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1" name="">
            <a:extLst xmlns:a="http://schemas.openxmlformats.org/drawingml/2006/main">
              <a:ext uri="{FF2B5EF4-FFF2-40B4-BE49-F238E27FC236}">
                <a16:creationId xmlns:a16="http://schemas.microsoft.com/office/drawing/2014/main" id="{334AF725-6504-480B-A738-EA20E7C04A0C}"/>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F5FC0C-9544-4FF4-9264-585D9BAC9F23}"/>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2</a:t>
            </a:r>
          </a:p>
        </p:txBody>
      </p:sp>
      <p:sp>
        <p:nvSpPr>
          <p:cNvPr id="13" name="">
            <a:extLst xmlns:a="http://schemas.openxmlformats.org/drawingml/2006/main">
              <a:ext uri="{FF2B5EF4-FFF2-40B4-BE49-F238E27FC236}">
                <a16:creationId xmlns:a16="http://schemas.microsoft.com/office/drawing/2014/main" id="{974EDD13-4797-4D70-A857-3AB8C18A8600}"/>
              </a:ext>
            </a:extLst>
          </p:cNvPr>
          <p:cNvSpPr>
            <a:spLocks xmlns:a="http://schemas.openxmlformats.org/drawingml/2006/main" noGrp="1"/>
          </p:cNvSpPr>
          <p:nvPr/>
        </p:nvSpPr>
        <p:spPr>
          <a:xfrm xmlns:a="http://schemas.openxmlformats.org/drawingml/2006/main">
            <a:off x="1466850" y="31908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Choose a water-smart idea</a:t>
            </a:r>
          </a:p>
        </p:txBody>
      </p:sp>
      <p:sp>
        <p:nvSpPr>
          <p:cNvPr id="14" name="">
            <a:extLst xmlns:a="http://schemas.openxmlformats.org/drawingml/2006/main">
              <a:ext uri="{FF2B5EF4-FFF2-40B4-BE49-F238E27FC236}">
                <a16:creationId xmlns:a16="http://schemas.microsoft.com/office/drawing/2014/main" id="{25E7BB44-0575-46D2-8EC6-B2D938D491DF}"/>
              </a:ext>
            </a:extLst>
          </p:cNvPr>
          <p:cNvSpPr>
            <a:spLocks xmlns:a="http://schemas.openxmlformats.org/drawingml/2006/main" noGrp="1"/>
          </p:cNvSpPr>
          <p:nvPr/>
        </p:nvSpPr>
        <p:spPr>
          <a:xfrm xmlns:a="http://schemas.openxmlformats.org/drawingml/2006/main">
            <a:off x="590550" y="42481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5" name="">
            <a:extLst xmlns:a="http://schemas.openxmlformats.org/drawingml/2006/main">
              <a:ext uri="{FF2B5EF4-FFF2-40B4-BE49-F238E27FC236}">
                <a16:creationId xmlns:a16="http://schemas.microsoft.com/office/drawing/2014/main" id="{D3C7B7FA-FC56-48A4-B032-DA52D340052B}"/>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2C8E198-6493-4585-80EF-AA62056F3DAE}"/>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3</a:t>
            </a:r>
          </a:p>
        </p:txBody>
      </p:sp>
      <p:sp>
        <p:nvSpPr>
          <p:cNvPr id="17" name="">
            <a:extLst xmlns:a="http://schemas.openxmlformats.org/drawingml/2006/main">
              <a:ext uri="{FF2B5EF4-FFF2-40B4-BE49-F238E27FC236}">
                <a16:creationId xmlns:a16="http://schemas.microsoft.com/office/drawing/2014/main" id="{B2C0AC45-D772-40D0-94AA-DBD7FE436D0B}"/>
              </a:ext>
            </a:extLst>
          </p:cNvPr>
          <p:cNvSpPr>
            <a:spLocks xmlns:a="http://schemas.openxmlformats.org/drawingml/2006/main" noGrp="1"/>
          </p:cNvSpPr>
          <p:nvPr/>
        </p:nvSpPr>
        <p:spPr>
          <a:xfrm xmlns:a="http://schemas.openxmlformats.org/drawingml/2006/main">
            <a:off x="1466850" y="44100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Build and test a wick</a:t>
            </a:r>
          </a:p>
        </p:txBody>
      </p:sp>
      <p:sp>
        <p:nvSpPr>
          <p:cNvPr id="18" name="">
            <a:extLst xmlns:a="http://schemas.openxmlformats.org/drawingml/2006/main">
              <a:ext uri="{FF2B5EF4-FFF2-40B4-BE49-F238E27FC236}">
                <a16:creationId xmlns:a16="http://schemas.microsoft.com/office/drawing/2014/main" id="{4290D6B7-E24B-4A7D-B26E-F881E3732C9C}"/>
              </a:ext>
            </a:extLst>
          </p:cNvPr>
          <p:cNvSpPr>
            <a:spLocks xmlns:a="http://schemas.openxmlformats.org/drawingml/2006/main" noGrp="1"/>
          </p:cNvSpPr>
          <p:nvPr/>
        </p:nvSpPr>
        <p:spPr>
          <a:xfrm xmlns:a="http://schemas.openxmlformats.org/drawingml/2006/main">
            <a:off x="7905750" y="1809750"/>
            <a:ext cx="3619500" cy="3333750"/>
          </a:xfrm>
          <a:prstGeom xmlns:a="http://schemas.openxmlformats.org/drawingml/2006/main" prst="roundRect">
            <a:avLst>
              <a:gd name="adj" fmla="val 3429"/>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075F864-37AC-45A3-9EB1-D2A24B86DF3B}"/>
              </a:ext>
            </a:extLst>
          </p:cNvPr>
          <p:cNvSpPr>
            <a:spLocks xmlns:a="http://schemas.openxmlformats.org/drawingml/2006/main" noGrp="1"/>
          </p:cNvSpPr>
          <p:nvPr/>
        </p:nvSpPr>
        <p:spPr>
          <a:xfrm xmlns:a="http://schemas.openxmlformats.org/drawingml/2006/main">
            <a:off x="8239125" y="2133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FFF4BA"/>
                </a:solidFill>
              </a:defRPr>
            </a:pPr>
            <a:r>
              <a:rPr sz="1125" b="1" i="0">
                <a:solidFill>
                  <a:srgbClr val="FFF4BA"/>
                </a:solidFill>
              </a:rPr>
              <a:t>RETRIEVAL WARM-UP</a:t>
            </a:r>
          </a:p>
        </p:txBody>
      </p:sp>
      <p:sp>
        <p:nvSpPr>
          <p:cNvPr id="20" name="">
            <a:extLst xmlns:a="http://schemas.openxmlformats.org/drawingml/2006/main">
              <a:ext uri="{FF2B5EF4-FFF2-40B4-BE49-F238E27FC236}">
                <a16:creationId xmlns:a16="http://schemas.microsoft.com/office/drawing/2014/main" id="{CE12E1EA-652C-466A-ACB1-C3B699702DC9}"/>
              </a:ext>
            </a:extLst>
          </p:cNvPr>
          <p:cNvSpPr>
            <a:spLocks xmlns:a="http://schemas.openxmlformats.org/drawingml/2006/main" noGrp="1"/>
          </p:cNvSpPr>
          <p:nvPr/>
        </p:nvSpPr>
        <p:spPr>
          <a:xfrm xmlns:a="http://schemas.openxmlformats.org/drawingml/2006/main">
            <a:off x="8239125" y="261937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FFFFFF"/>
                </a:solidFill>
              </a:defRPr>
            </a:pPr>
            <a:r>
              <a:rPr sz="2100" b="1" i="0">
                <a:solidFill>
                  <a:srgbClr val="FFFFFF"/>
                </a:solidFill>
              </a:rPr>
              <a:t>What do you already know?</a:t>
            </a:r>
          </a:p>
        </p:txBody>
      </p:sp>
      <p:sp>
        <p:nvSpPr>
          <p:cNvPr id="21" name="">
            <a:extLst xmlns:a="http://schemas.openxmlformats.org/drawingml/2006/main">
              <a:ext uri="{FF2B5EF4-FFF2-40B4-BE49-F238E27FC236}">
                <a16:creationId xmlns:a16="http://schemas.microsoft.com/office/drawing/2014/main" id="{C26A8776-504D-4FDC-8317-1D71B409F8E0}"/>
              </a:ext>
            </a:extLst>
          </p:cNvPr>
          <p:cNvSpPr>
            <a:spLocks xmlns:a="http://schemas.openxmlformats.org/drawingml/2006/main" noGrp="1"/>
          </p:cNvSpPr>
          <p:nvPr/>
        </p:nvSpPr>
        <p:spPr>
          <a:xfrm xmlns:a="http://schemas.openxmlformats.org/drawingml/2006/main">
            <a:off x="8239125" y="342900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EAF2E6"/>
                </a:solidFill>
              </a:defRPr>
            </a:pPr>
            <a:r>
              <a:rPr sz="1500" b="0" i="0">
                <a:solidFill>
                  <a:srgbClr val="EAF2E6"/>
                </a:solidFill>
              </a:rPr>
              <a:t>1. Define one key word from the module.</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2. Predict one practical or design decision.</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3. Name one question you have.</a:t>
            </a:r>
          </a:p>
        </p:txBody>
      </p:sp>
    </p:spTree>
    <p:extLst>
      <p:ext uri="{BB962C8B-B14F-4D97-AF65-F5344CB8AC3E}">
        <p14:creationId xmlns:p14="http://schemas.microsoft.com/office/powerpoint/2010/main" val="1941652914"/>
      </p:ext>
    </p:extLst>
  </p:cSld>
</p:sld>
</file>

<file path=ppt/slides/slide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071A8DE-EFA4-4EE0-B6D6-A1216959B8D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00D94F-C8C0-4003-B014-631271D9D388}"/>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5.1 WHERE EVERY DROP GOES</a:t>
            </a:r>
          </a:p>
        </p:txBody>
      </p:sp>
      <p:sp>
        <p:nvSpPr>
          <p:cNvPr id="3" name="">
            <a:extLst xmlns:a="http://schemas.openxmlformats.org/drawingml/2006/main">
              <a:ext uri="{FF2B5EF4-FFF2-40B4-BE49-F238E27FC236}">
                <a16:creationId xmlns:a16="http://schemas.microsoft.com/office/drawing/2014/main" id="{0BB31C0D-E980-4B44-8168-5C919D091273}"/>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5  •  WATER-SMART GROWING</a:t>
            </a:r>
          </a:p>
        </p:txBody>
      </p:sp>
      <p:sp>
        <p:nvSpPr>
          <p:cNvPr id="4" name="">
            <a:extLst xmlns:a="http://schemas.openxmlformats.org/drawingml/2006/main">
              <a:ext uri="{FF2B5EF4-FFF2-40B4-BE49-F238E27FC236}">
                <a16:creationId xmlns:a16="http://schemas.microsoft.com/office/drawing/2014/main" id="{DC0D8CA3-DD45-4EF3-A78D-505630545037}"/>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03</a:t>
            </a:r>
          </a:p>
        </p:txBody>
      </p:sp>
      <p:sp>
        <p:nvSpPr>
          <p:cNvPr id="5" name="">
            <a:extLst xmlns:a="http://schemas.openxmlformats.org/drawingml/2006/main">
              <a:ext uri="{FF2B5EF4-FFF2-40B4-BE49-F238E27FC236}">
                <a16:creationId xmlns:a16="http://schemas.microsoft.com/office/drawing/2014/main" id="{0D9C9B23-3096-4833-AAD6-3D7E64987241}"/>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Where every drop goes</a:t>
            </a:r>
          </a:p>
        </p:txBody>
      </p:sp>
      <p:sp>
        <p:nvSpPr>
          <p:cNvPr id="6" name="">
            <a:extLst xmlns:a="http://schemas.openxmlformats.org/drawingml/2006/main">
              <a:ext uri="{FF2B5EF4-FFF2-40B4-BE49-F238E27FC236}">
                <a16:creationId xmlns:a16="http://schemas.microsoft.com/office/drawing/2014/main" id="{F4036ECD-04C0-4204-8848-6E19C903EC05}"/>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8A904574-ABC7-4B66-BE7F-C3585EB324A5}"/>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07FE0E-CABE-497F-8FC1-A00C89F0F445}"/>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Water moves through several pathways in a growing system.</a:t>
            </a:r>
          </a:p>
        </p:txBody>
      </p:sp>
      <p:sp>
        <p:nvSpPr>
          <p:cNvPr id="9" name="">
            <a:extLst xmlns:a="http://schemas.openxmlformats.org/drawingml/2006/main">
              <a:ext uri="{FF2B5EF4-FFF2-40B4-BE49-F238E27FC236}">
                <a16:creationId xmlns:a16="http://schemas.microsoft.com/office/drawing/2014/main" id="{1E61A1B5-7E5F-41FD-94D7-4B48356C2069}"/>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E00B17-CC47-4433-8D43-9910FC361FC3}"/>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water budget makes inputs, useful availability and losses visible so feedback can guide decisions.</a:t>
            </a:r>
          </a:p>
        </p:txBody>
      </p:sp>
      <p:sp>
        <p:nvSpPr>
          <p:cNvPr id="11" name="">
            <a:extLst xmlns:a="http://schemas.openxmlformats.org/drawingml/2006/main">
              <a:ext uri="{FF2B5EF4-FFF2-40B4-BE49-F238E27FC236}">
                <a16:creationId xmlns:a16="http://schemas.microsoft.com/office/drawing/2014/main" id="{331D1465-BF0D-460D-A40C-6D401B917F1E}"/>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20888D-E611-416E-BA81-D87011ACC353}"/>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Transpiration is part of plant function; water-smart design matches supply with need and reduces avoidable loss without creating shortage.</a:t>
            </a:r>
          </a:p>
        </p:txBody>
      </p:sp>
      <p:pic>
        <p:nvPicPr>
          <p:cNvPr id="30" name="" descr="A clear passive-watering planter shows water in the lower reservoir, cotton wicks, moist growing medium, fine roots and a seedling."/>
          <p:cNvPicPr>
            <a:picLocks xmlns:a="http://schemas.openxmlformats.org/drawingml/2006/main" noChangeAspect="1"/>
          </p:cNvPicPr>
          <p:nvPr/>
        </p:nvPicPr>
        <p:blipFill>
          <a:blip xmlns:r="http://schemas.openxmlformats.org/officeDocument/2006/relationships" xmlns:a="http://schemas.openxmlformats.org/drawingml/2006/main" r:embed="Ra3f3c8fef35c4f7b"/>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98795046-4BB7-4AAA-BA7B-AEEB8337E0C5}"/>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D702B86-1855-489B-B775-326852DA6682}"/>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“Every drop that leaves a leaf is wasted, and using the least water always gives the best crop system.”</a:t>
            </a:r>
          </a:p>
        </p:txBody>
      </p:sp>
    </p:spTree>
    <p:extLst>
      <p:ext uri="{BB962C8B-B14F-4D97-AF65-F5344CB8AC3E}">
        <p14:creationId xmlns:p14="http://schemas.microsoft.com/office/powerpoint/2010/main" val="1484826476"/>
      </p:ext>
    </p:extLst>
  </p:cSld>
</p:sld>
</file>

<file path=ppt/slides/slide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C1E3D02-9AA2-4479-83C5-E4AB107CB94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2C177B-5305-49D3-9357-88C55FC47A28}"/>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5.2 CHOOSE A WATER-SMART IDEA</a:t>
            </a:r>
          </a:p>
        </p:txBody>
      </p:sp>
      <p:sp>
        <p:nvSpPr>
          <p:cNvPr id="3" name="">
            <a:extLst xmlns:a="http://schemas.openxmlformats.org/drawingml/2006/main">
              <a:ext uri="{FF2B5EF4-FFF2-40B4-BE49-F238E27FC236}">
                <a16:creationId xmlns:a16="http://schemas.microsoft.com/office/drawing/2014/main" id="{5A2A2660-18FE-4F77-9DDD-DFDCE46332F9}"/>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5  •  WATER-SMART GROWING</a:t>
            </a:r>
          </a:p>
        </p:txBody>
      </p:sp>
      <p:sp>
        <p:nvSpPr>
          <p:cNvPr id="4" name="">
            <a:extLst xmlns:a="http://schemas.openxmlformats.org/drawingml/2006/main">
              <a:ext uri="{FF2B5EF4-FFF2-40B4-BE49-F238E27FC236}">
                <a16:creationId xmlns:a16="http://schemas.microsoft.com/office/drawing/2014/main" id="{51F5CE5B-8088-4E4F-B362-897EB018FE2B}"/>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04</a:t>
            </a:r>
          </a:p>
        </p:txBody>
      </p:sp>
      <p:sp>
        <p:nvSpPr>
          <p:cNvPr id="5" name="">
            <a:extLst xmlns:a="http://schemas.openxmlformats.org/drawingml/2006/main">
              <a:ext uri="{FF2B5EF4-FFF2-40B4-BE49-F238E27FC236}">
                <a16:creationId xmlns:a16="http://schemas.microsoft.com/office/drawing/2014/main" id="{C7DDAFE7-EDD7-4A8D-9455-C9E35AE870A2}"/>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Choose a water-smart idea</a:t>
            </a:r>
          </a:p>
        </p:txBody>
      </p:sp>
      <p:sp>
        <p:nvSpPr>
          <p:cNvPr id="6" name="">
            <a:extLst xmlns:a="http://schemas.openxmlformats.org/drawingml/2006/main">
              <a:ext uri="{FF2B5EF4-FFF2-40B4-BE49-F238E27FC236}">
                <a16:creationId xmlns:a16="http://schemas.microsoft.com/office/drawing/2014/main" id="{DF500A32-4C34-4DE0-A5EC-12C52BAC74D8}"/>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F9975912-5DA4-4A73-AF6E-D019088A503B}"/>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51F488-114A-4423-A573-4E437C44ABC2}"/>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Manual, drip, wick and data-informed systems offer different benefits and burdens.</a:t>
            </a:r>
          </a:p>
        </p:txBody>
      </p:sp>
      <p:sp>
        <p:nvSpPr>
          <p:cNvPr id="9" name="">
            <a:extLst xmlns:a="http://schemas.openxmlformats.org/drawingml/2006/main">
              <a:ext uri="{FF2B5EF4-FFF2-40B4-BE49-F238E27FC236}">
                <a16:creationId xmlns:a16="http://schemas.microsoft.com/office/drawing/2014/main" id="{A4C00649-1DF6-4F84-BF2F-5EB8B19EF590}"/>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729EFD6-95CC-46FA-AAC9-59C24045659F}"/>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Selection should use shared criteria, show the whole water path and remain open to prototype evidence.</a:t>
            </a:r>
          </a:p>
        </p:txBody>
      </p:sp>
      <p:sp>
        <p:nvSpPr>
          <p:cNvPr id="11" name="">
            <a:extLst xmlns:a="http://schemas.openxmlformats.org/drawingml/2006/main">
              <a:ext uri="{FF2B5EF4-FFF2-40B4-BE49-F238E27FC236}">
                <a16:creationId xmlns:a16="http://schemas.microsoft.com/office/drawing/2014/main" id="{45DA95E3-A654-4AB1-A8C1-BBBBF646282E}"/>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0B68DB8-1789-49AA-8366-89E40D89CE62}"/>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Suitability depends on function, context, maintenance, evidence, access, cost and the problem being solved.</a:t>
            </a:r>
          </a:p>
        </p:txBody>
      </p:sp>
      <p:pic>
        <p:nvPicPr>
          <p:cNvPr id="30" name="" descr="Three small crop systems compare a wick reservoir, a gravity-drip bottle and a capillary tray, each beside an equal cup of water."/>
          <p:cNvPicPr>
            <a:picLocks xmlns:a="http://schemas.openxmlformats.org/drawingml/2006/main" noChangeAspect="1"/>
          </p:cNvPicPr>
          <p:nvPr/>
        </p:nvPicPr>
        <p:blipFill>
          <a:blip xmlns:r="http://schemas.openxmlformats.org/officeDocument/2006/relationships" xmlns:a="http://schemas.openxmlformats.org/drawingml/2006/main" r:embed="R781a7236821c4cf3"/>
          <a:stretch xmlns:a="http://schemas.openxmlformats.org/drawingml/2006/main"/>
        </p:blipFill>
        <p:spPr>
          <a:xfrm xmlns:a="http://schemas.openxmlformats.org/drawingml/2006/main">
            <a:off x="7667625" y="2123361"/>
            <a:ext cx="3857625" cy="1658779"/>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6B6F41B8-56DE-4BFA-8EB5-CCCCF2766131}"/>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83946C-AE6F-4B53-B21E-51FABDE58831}"/>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“The most automated or expensive system is always the most water-smart.”</a:t>
            </a:r>
          </a:p>
        </p:txBody>
      </p:sp>
    </p:spTree>
    <p:extLst>
      <p:ext uri="{BB962C8B-B14F-4D97-AF65-F5344CB8AC3E}">
        <p14:creationId xmlns:p14="http://schemas.microsoft.com/office/powerpoint/2010/main" val="1233902788"/>
      </p:ext>
    </p:extLst>
  </p:cSld>
</p:sld>
</file>

<file path=ppt/slides/slide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A76FFB0-9A94-40F1-AE90-14701B1A869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0D8887-8ABB-4B81-96A3-9E4FD2F207F1}"/>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5.3 BUILD AND TEST A WICK</a:t>
            </a:r>
          </a:p>
        </p:txBody>
      </p:sp>
      <p:sp>
        <p:nvSpPr>
          <p:cNvPr id="3" name="">
            <a:extLst xmlns:a="http://schemas.openxmlformats.org/drawingml/2006/main">
              <a:ext uri="{FF2B5EF4-FFF2-40B4-BE49-F238E27FC236}">
                <a16:creationId xmlns:a16="http://schemas.microsoft.com/office/drawing/2014/main" id="{8756C0A4-1A4D-4DAF-B817-6BE4BDEDC94F}"/>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5  •  WATER-SMART GROWING</a:t>
            </a:r>
          </a:p>
        </p:txBody>
      </p:sp>
      <p:sp>
        <p:nvSpPr>
          <p:cNvPr id="4" name="">
            <a:extLst xmlns:a="http://schemas.openxmlformats.org/drawingml/2006/main">
              <a:ext uri="{FF2B5EF4-FFF2-40B4-BE49-F238E27FC236}">
                <a16:creationId xmlns:a16="http://schemas.microsoft.com/office/drawing/2014/main" id="{60B3D270-93C6-49EE-BC58-C3AC0AA40EB8}"/>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05</a:t>
            </a:r>
          </a:p>
        </p:txBody>
      </p:sp>
      <p:sp>
        <p:nvSpPr>
          <p:cNvPr id="5" name="">
            <a:extLst xmlns:a="http://schemas.openxmlformats.org/drawingml/2006/main">
              <a:ext uri="{FF2B5EF4-FFF2-40B4-BE49-F238E27FC236}">
                <a16:creationId xmlns:a16="http://schemas.microsoft.com/office/drawing/2014/main" id="{05045DA1-425B-4815-8A64-69AA1BAAEE6A}"/>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Build and test a wick</a:t>
            </a:r>
          </a:p>
        </p:txBody>
      </p:sp>
      <p:sp>
        <p:nvSpPr>
          <p:cNvPr id="6" name="">
            <a:extLst xmlns:a="http://schemas.openxmlformats.org/drawingml/2006/main">
              <a:ext uri="{FF2B5EF4-FFF2-40B4-BE49-F238E27FC236}">
                <a16:creationId xmlns:a16="http://schemas.microsoft.com/office/drawing/2014/main" id="{E17CBA1E-AEA9-47AB-B875-D6984F26B126}"/>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59ACCF5C-A0C3-4687-AB16-859E80EA8A8D}"/>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980AAC3-EE7A-465E-95B0-368D2034FFCE}"/>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Wicks use adhesion, cohesion and capillary action to transfer water passively.</a:t>
            </a:r>
          </a:p>
        </p:txBody>
      </p:sp>
      <p:sp>
        <p:nvSpPr>
          <p:cNvPr id="9" name="">
            <a:extLst xmlns:a="http://schemas.openxmlformats.org/drawingml/2006/main">
              <a:ext uri="{FF2B5EF4-FFF2-40B4-BE49-F238E27FC236}">
                <a16:creationId xmlns:a16="http://schemas.microsoft.com/office/drawing/2014/main" id="{9325501D-25E0-47F1-93A8-63CE5E550AD7}"/>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21F21C-D9B2-4C5E-91DA-3A4A0F136419}"/>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Performance varies with material, contact and geometry, so a controlled prototype is needed before system claims.</a:t>
            </a:r>
          </a:p>
        </p:txBody>
      </p:sp>
      <p:sp>
        <p:nvSpPr>
          <p:cNvPr id="11" name="">
            <a:extLst xmlns:a="http://schemas.openxmlformats.org/drawingml/2006/main">
              <a:ext uri="{FF2B5EF4-FFF2-40B4-BE49-F238E27FC236}">
                <a16:creationId xmlns:a16="http://schemas.microsoft.com/office/drawing/2014/main" id="{38026E73-6B83-48AA-A3EA-F2810DCF3A3B}"/>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A45594B-992C-4C03-BA4E-94248096CDA8}"/>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Wick transfer depends on material structure, contact, geometry and conditions; it is limited and must be tested.</a:t>
            </a:r>
          </a:p>
        </p:txBody>
      </p:sp>
      <p:pic>
        <p:nvPicPr>
          <p:cNvPr id="30" name="" descr="Students position a cotton wick through a perforated pot above a clear reservoir while a completed prototype shows a wetted wick."/>
          <p:cNvPicPr>
            <a:picLocks xmlns:a="http://schemas.openxmlformats.org/drawingml/2006/main" noChangeAspect="1"/>
          </p:cNvPicPr>
          <p:nvPr/>
        </p:nvPicPr>
        <p:blipFill>
          <a:blip xmlns:r="http://schemas.openxmlformats.org/officeDocument/2006/relationships" xmlns:a="http://schemas.openxmlformats.org/drawingml/2006/main" r:embed="R8eb00d85e2f14f61"/>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DDBE13F4-83A0-44D4-AF49-771302240621}"/>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981C8D8-5D01-4CBE-9BB9-9EC16365EC43}"/>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“Any strip of material will lift any amount of water to any height forever.”</a:t>
            </a:r>
          </a:p>
        </p:txBody>
      </p:sp>
    </p:spTree>
    <p:extLst>
      <p:ext uri="{BB962C8B-B14F-4D97-AF65-F5344CB8AC3E}">
        <p14:creationId xmlns:p14="http://schemas.microsoft.com/office/powerpoint/2010/main" val="765438072"/>
      </p:ext>
    </p:extLst>
  </p:cSld>
</p:sld>
</file>

<file path=ppt/slides/slide6.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380A2AB-D642-42E3-93BD-F38C1B9CD1C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A07BBB-FC35-47F9-97AE-081AE8243C24}"/>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CHECK FOR UNDERSTANDING</a:t>
            </a:r>
          </a:p>
        </p:txBody>
      </p:sp>
      <p:sp>
        <p:nvSpPr>
          <p:cNvPr id="3" name="">
            <a:extLst xmlns:a="http://schemas.openxmlformats.org/drawingml/2006/main">
              <a:ext uri="{FF2B5EF4-FFF2-40B4-BE49-F238E27FC236}">
                <a16:creationId xmlns:a16="http://schemas.microsoft.com/office/drawing/2014/main" id="{132DFECB-360D-4082-A4CD-3158105149C7}"/>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5  •  WATER-SMART GROWING</a:t>
            </a:r>
          </a:p>
        </p:txBody>
      </p:sp>
      <p:sp>
        <p:nvSpPr>
          <p:cNvPr id="4" name="">
            <a:extLst xmlns:a="http://schemas.openxmlformats.org/drawingml/2006/main">
              <a:ext uri="{FF2B5EF4-FFF2-40B4-BE49-F238E27FC236}">
                <a16:creationId xmlns:a16="http://schemas.microsoft.com/office/drawing/2014/main" id="{DCD32482-07DD-4838-9D02-FC1FD5EBCCF2}"/>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06</a:t>
            </a:r>
          </a:p>
        </p:txBody>
      </p:sp>
      <p:sp>
        <p:nvSpPr>
          <p:cNvPr id="5" name="">
            <a:extLst xmlns:a="http://schemas.openxmlformats.org/drawingml/2006/main">
              <a:ext uri="{FF2B5EF4-FFF2-40B4-BE49-F238E27FC236}">
                <a16:creationId xmlns:a16="http://schemas.microsoft.com/office/drawing/2014/main" id="{9FDC8691-B385-43AE-A5FA-09132A949115}"/>
              </a:ext>
            </a:extLst>
          </p:cNvPr>
          <p:cNvSpPr>
            <a:spLocks xmlns:a="http://schemas.openxmlformats.org/drawingml/2006/main" noGrp="1"/>
          </p:cNvSpPr>
          <p:nvPr/>
        </p:nvSpPr>
        <p:spPr>
          <a:xfrm xmlns:a="http://schemas.openxmlformats.org/drawingml/2006/main">
            <a:off x="590550" y="7810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i="0">
                <a:solidFill>
                  <a:srgbClr val="FFFFFF"/>
                </a:solidFill>
              </a:defRPr>
            </a:pPr>
            <a:r>
              <a:rPr sz="3000" b="1" i="0">
                <a:solidFill>
                  <a:srgbClr val="FFFFFF"/>
                </a:solidFill>
              </a:rPr>
              <a:t>Stop. Think. Explain.</a:t>
            </a:r>
          </a:p>
        </p:txBody>
      </p:sp>
      <p:sp>
        <p:nvSpPr>
          <p:cNvPr id="6" name="">
            <a:extLst xmlns:a="http://schemas.openxmlformats.org/drawingml/2006/main">
              <a:ext uri="{FF2B5EF4-FFF2-40B4-BE49-F238E27FC236}">
                <a16:creationId xmlns:a16="http://schemas.microsoft.com/office/drawing/2014/main" id="{F441D306-6EAD-4AC7-9F4A-5990938C6D35}"/>
              </a:ext>
            </a:extLst>
          </p:cNvPr>
          <p:cNvSpPr>
            <a:spLocks xmlns:a="http://schemas.openxmlformats.org/drawingml/2006/main" noGrp="1"/>
          </p:cNvSpPr>
          <p:nvPr/>
        </p:nvSpPr>
        <p:spPr>
          <a:xfrm xmlns:a="http://schemas.openxmlformats.org/drawingml/2006/main">
            <a:off x="590550" y="14668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DDE9DB"/>
                </a:solidFill>
              </a:defRPr>
            </a:pPr>
            <a:r>
              <a:rPr sz="1500" b="0" i="0">
                <a:solidFill>
                  <a:srgbClr val="DDE9DB"/>
                </a:solidFill>
              </a:rPr>
              <a:t>Answer silently first, then justify with a partner.</a:t>
            </a:r>
          </a:p>
        </p:txBody>
      </p:sp>
      <p:sp>
        <p:nvSpPr>
          <p:cNvPr id="7" name="">
            <a:extLst xmlns:a="http://schemas.openxmlformats.org/drawingml/2006/main">
              <a:ext uri="{FF2B5EF4-FFF2-40B4-BE49-F238E27FC236}">
                <a16:creationId xmlns:a16="http://schemas.microsoft.com/office/drawing/2014/main" id="{CF80C054-FB0C-45A0-B5D0-0A6870ACC3F2}"/>
              </a:ext>
            </a:extLst>
          </p:cNvPr>
          <p:cNvSpPr>
            <a:spLocks xmlns:a="http://schemas.openxmlformats.org/drawingml/2006/main" noGrp="1"/>
          </p:cNvSpPr>
          <p:nvPr/>
        </p:nvSpPr>
        <p:spPr>
          <a:xfrm xmlns:a="http://schemas.openxmlformats.org/drawingml/2006/main">
            <a:off x="590550" y="21907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8" name="">
            <a:extLst xmlns:a="http://schemas.openxmlformats.org/drawingml/2006/main">
              <a:ext uri="{FF2B5EF4-FFF2-40B4-BE49-F238E27FC236}">
                <a16:creationId xmlns:a16="http://schemas.microsoft.com/office/drawing/2014/main" id="{371BF091-FB4B-48C9-B108-DBD1F38BC279}"/>
              </a:ext>
            </a:extLst>
          </p:cNvPr>
          <p:cNvSpPr>
            <a:spLocks xmlns:a="http://schemas.openxmlformats.org/drawingml/2006/main" noGrp="1"/>
          </p:cNvSpPr>
          <p:nvPr/>
        </p:nvSpPr>
        <p:spPr>
          <a:xfrm xmlns:a="http://schemas.openxmlformats.org/drawingml/2006/main">
            <a:off x="819150" y="24098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1</a:t>
            </a:r>
          </a:p>
        </p:txBody>
      </p:sp>
      <p:sp>
        <p:nvSpPr>
          <p:cNvPr id="9" name="">
            <a:extLst xmlns:a="http://schemas.openxmlformats.org/drawingml/2006/main">
              <a:ext uri="{FF2B5EF4-FFF2-40B4-BE49-F238E27FC236}">
                <a16:creationId xmlns:a16="http://schemas.microsoft.com/office/drawing/2014/main" id="{30D8044F-F6C3-490D-89F6-DCA17EDEF4BC}"/>
              </a:ext>
            </a:extLst>
          </p:cNvPr>
          <p:cNvSpPr>
            <a:spLocks xmlns:a="http://schemas.openxmlformats.org/drawingml/2006/main" noGrp="1"/>
          </p:cNvSpPr>
          <p:nvPr/>
        </p:nvSpPr>
        <p:spPr>
          <a:xfrm xmlns:a="http://schemas.openxmlformats.org/drawingml/2006/main">
            <a:off x="1428750" y="23241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is transpiration?</a:t>
            </a:r>
          </a:p>
        </p:txBody>
      </p:sp>
      <p:sp>
        <p:nvSpPr>
          <p:cNvPr id="10" name="">
            <a:extLst xmlns:a="http://schemas.openxmlformats.org/drawingml/2006/main">
              <a:ext uri="{FF2B5EF4-FFF2-40B4-BE49-F238E27FC236}">
                <a16:creationId xmlns:a16="http://schemas.microsoft.com/office/drawing/2014/main" id="{558218AB-622C-4140-BE7A-E8F625826DA4}"/>
              </a:ext>
            </a:extLst>
          </p:cNvPr>
          <p:cNvSpPr>
            <a:spLocks xmlns:a="http://schemas.openxmlformats.org/drawingml/2006/main" noGrp="1"/>
          </p:cNvSpPr>
          <p:nvPr/>
        </p:nvSpPr>
        <p:spPr>
          <a:xfrm xmlns:a="http://schemas.openxmlformats.org/drawingml/2006/main">
            <a:off x="590550" y="3429000"/>
            <a:ext cx="10953750" cy="952500"/>
          </a:xfrm>
          <a:prstGeom xmlns:a="http://schemas.openxmlformats.org/drawingml/2006/main" prst="roundRect">
            <a:avLst>
              <a:gd name="adj" fmla="val 12000"/>
            </a:avLst>
          </a:prstGeom>
          <a:solidFill xmlns:a="http://schemas.openxmlformats.org/drawingml/2006/main">
            <a:srgbClr val="284B30"/>
          </a:solidFill>
          <a:ln xmlns:a="http://schemas.openxmlformats.org/drawingml/2006/main" w="9525">
            <a:solidFill>
              <a:srgbClr val="4D7254"/>
            </a:solidFill>
            <a:prstDash val="solid"/>
          </a:ln>
        </p:spPr>
      </p:sp>
      <p:sp>
        <p:nvSpPr>
          <p:cNvPr id="11" name="">
            <a:extLst xmlns:a="http://schemas.openxmlformats.org/drawingml/2006/main">
              <a:ext uri="{FF2B5EF4-FFF2-40B4-BE49-F238E27FC236}">
                <a16:creationId xmlns:a16="http://schemas.microsoft.com/office/drawing/2014/main" id="{AF7A7682-8861-449B-A943-A4BB02946023}"/>
              </a:ext>
            </a:extLst>
          </p:cNvPr>
          <p:cNvSpPr>
            <a:spLocks xmlns:a="http://schemas.openxmlformats.org/drawingml/2006/main" noGrp="1"/>
          </p:cNvSpPr>
          <p:nvPr/>
        </p:nvSpPr>
        <p:spPr>
          <a:xfrm xmlns:a="http://schemas.openxmlformats.org/drawingml/2006/main">
            <a:off x="819150" y="364807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2</a:t>
            </a:r>
          </a:p>
        </p:txBody>
      </p:sp>
      <p:sp>
        <p:nvSpPr>
          <p:cNvPr id="12" name="">
            <a:extLst xmlns:a="http://schemas.openxmlformats.org/drawingml/2006/main">
              <a:ext uri="{FF2B5EF4-FFF2-40B4-BE49-F238E27FC236}">
                <a16:creationId xmlns:a16="http://schemas.microsoft.com/office/drawing/2014/main" id="{1FA78DE7-3124-4B76-B34F-DD440FE5755E}"/>
              </a:ext>
            </a:extLst>
          </p:cNvPr>
          <p:cNvSpPr>
            <a:spLocks xmlns:a="http://schemas.openxmlformats.org/drawingml/2006/main" noGrp="1"/>
          </p:cNvSpPr>
          <p:nvPr/>
        </p:nvSpPr>
        <p:spPr>
          <a:xfrm xmlns:a="http://schemas.openxmlformats.org/drawingml/2006/main">
            <a:off x="1428750" y="356235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is the main strength of using common criteria to compare water ideas?</a:t>
            </a:r>
          </a:p>
        </p:txBody>
      </p:sp>
      <p:sp>
        <p:nvSpPr>
          <p:cNvPr id="13" name="">
            <a:extLst xmlns:a="http://schemas.openxmlformats.org/drawingml/2006/main">
              <a:ext uri="{FF2B5EF4-FFF2-40B4-BE49-F238E27FC236}">
                <a16:creationId xmlns:a16="http://schemas.microsoft.com/office/drawing/2014/main" id="{CB0D0866-0694-43A7-96A6-1D382783DEC7}"/>
              </a:ext>
            </a:extLst>
          </p:cNvPr>
          <p:cNvSpPr>
            <a:spLocks xmlns:a="http://schemas.openxmlformats.org/drawingml/2006/main" noGrp="1"/>
          </p:cNvSpPr>
          <p:nvPr/>
        </p:nvSpPr>
        <p:spPr>
          <a:xfrm xmlns:a="http://schemas.openxmlformats.org/drawingml/2006/main">
            <a:off x="590550" y="46672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14" name="">
            <a:extLst xmlns:a="http://schemas.openxmlformats.org/drawingml/2006/main">
              <a:ext uri="{FF2B5EF4-FFF2-40B4-BE49-F238E27FC236}">
                <a16:creationId xmlns:a16="http://schemas.microsoft.com/office/drawing/2014/main" id="{1A31033D-15A4-43EE-90A5-AB5BD39B1D3A}"/>
              </a:ext>
            </a:extLst>
          </p:cNvPr>
          <p:cNvSpPr>
            <a:spLocks xmlns:a="http://schemas.openxmlformats.org/drawingml/2006/main" noGrp="1"/>
          </p:cNvSpPr>
          <p:nvPr/>
        </p:nvSpPr>
        <p:spPr>
          <a:xfrm xmlns:a="http://schemas.openxmlformats.org/drawingml/2006/main">
            <a:off x="819150" y="48863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3</a:t>
            </a:r>
          </a:p>
        </p:txBody>
      </p:sp>
      <p:sp>
        <p:nvSpPr>
          <p:cNvPr id="15" name="">
            <a:extLst xmlns:a="http://schemas.openxmlformats.org/drawingml/2006/main">
              <a:ext uri="{FF2B5EF4-FFF2-40B4-BE49-F238E27FC236}">
                <a16:creationId xmlns:a16="http://schemas.microsoft.com/office/drawing/2014/main" id="{BA8E1B89-8C1E-4975-8BF8-BF3BB67FEFE0}"/>
              </a:ext>
            </a:extLst>
          </p:cNvPr>
          <p:cNvSpPr>
            <a:spLocks xmlns:a="http://schemas.openxmlformats.org/drawingml/2006/main" noGrp="1"/>
          </p:cNvSpPr>
          <p:nvPr/>
        </p:nvSpPr>
        <p:spPr>
          <a:xfrm xmlns:a="http://schemas.openxmlformats.org/drawingml/2006/main">
            <a:off x="1428750" y="48006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is adhesion in a wick system?</a:t>
            </a:r>
          </a:p>
        </p:txBody>
      </p:sp>
    </p:spTree>
    <p:extLst>
      <p:ext uri="{BB962C8B-B14F-4D97-AF65-F5344CB8AC3E}">
        <p14:creationId xmlns:p14="http://schemas.microsoft.com/office/powerpoint/2010/main" val="2012400678"/>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0308EA-CC79-43CD-893A-9B1B8D15A51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0F1F4B3-8EF2-4E22-AC1A-0849E0B95805}"/>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MODEL A LONGER RESPONSE</a:t>
            </a:r>
          </a:p>
        </p:txBody>
      </p:sp>
      <p:sp>
        <p:nvSpPr>
          <p:cNvPr id="3" name="">
            <a:extLst xmlns:a="http://schemas.openxmlformats.org/drawingml/2006/main">
              <a:ext uri="{FF2B5EF4-FFF2-40B4-BE49-F238E27FC236}">
                <a16:creationId xmlns:a16="http://schemas.microsoft.com/office/drawing/2014/main" id="{3DA8768D-E3F8-41EE-9C25-C1CE3311CB60}"/>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5  •  WATER-SMART GROWING</a:t>
            </a:r>
          </a:p>
        </p:txBody>
      </p:sp>
      <p:sp>
        <p:nvSpPr>
          <p:cNvPr id="4" name="">
            <a:extLst xmlns:a="http://schemas.openxmlformats.org/drawingml/2006/main">
              <a:ext uri="{FF2B5EF4-FFF2-40B4-BE49-F238E27FC236}">
                <a16:creationId xmlns:a16="http://schemas.microsoft.com/office/drawing/2014/main" id="{963EAD50-538D-410B-9DF2-F1A2EF0B783C}"/>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07</a:t>
            </a:r>
          </a:p>
        </p:txBody>
      </p:sp>
      <p:sp>
        <p:nvSpPr>
          <p:cNvPr id="5" name="">
            <a:extLst xmlns:a="http://schemas.openxmlformats.org/drawingml/2006/main">
              <a:ext uri="{FF2B5EF4-FFF2-40B4-BE49-F238E27FC236}">
                <a16:creationId xmlns:a16="http://schemas.microsoft.com/office/drawing/2014/main" id="{23BA9D49-64DA-4BD3-9962-118A13D5C700}"/>
              </a:ext>
            </a:extLst>
          </p:cNvPr>
          <p:cNvSpPr>
            <a:spLocks xmlns:a="http://schemas.openxmlformats.org/drawingml/2006/main" noGrp="1"/>
          </p:cNvSpPr>
          <p:nvPr/>
        </p:nvSpPr>
        <p:spPr>
          <a:xfrm xmlns:a="http://schemas.openxmlformats.org/drawingml/2006/main">
            <a:off x="590550" y="781050"/>
            <a:ext cx="752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Read → Select → Explain → Check</a:t>
            </a:r>
          </a:p>
        </p:txBody>
      </p:sp>
      <p:sp>
        <p:nvSpPr>
          <p:cNvPr id="6" name="">
            <a:extLst xmlns:a="http://schemas.openxmlformats.org/drawingml/2006/main">
              <a:ext uri="{FF2B5EF4-FFF2-40B4-BE49-F238E27FC236}">
                <a16:creationId xmlns:a16="http://schemas.microsoft.com/office/drawing/2014/main" id="{869F858B-B20F-406E-8846-AEE98E201A84}"/>
              </a:ext>
            </a:extLst>
          </p:cNvPr>
          <p:cNvSpPr>
            <a:spLocks xmlns:a="http://schemas.openxmlformats.org/drawingml/2006/main" noGrp="1"/>
          </p:cNvSpPr>
          <p:nvPr/>
        </p:nvSpPr>
        <p:spPr>
          <a:xfrm xmlns:a="http://schemas.openxmlformats.org/drawingml/2006/main">
            <a:off x="590550" y="1676400"/>
            <a:ext cx="561975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2C543FD5-F074-4BFE-8F72-3246A9C9C8F0}"/>
              </a:ext>
            </a:extLst>
          </p:cNvPr>
          <p:cNvSpPr>
            <a:spLocks xmlns:a="http://schemas.openxmlformats.org/drawingml/2006/main" noGrp="1"/>
          </p:cNvSpPr>
          <p:nvPr/>
        </p:nvSpPr>
        <p:spPr>
          <a:xfrm xmlns:a="http://schemas.openxmlformats.org/drawingml/2006/main">
            <a:off x="838200" y="1885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THE QUESTION</a:t>
            </a:r>
          </a:p>
        </p:txBody>
      </p:sp>
      <p:sp>
        <p:nvSpPr>
          <p:cNvPr id="8" name="">
            <a:extLst xmlns:a="http://schemas.openxmlformats.org/drawingml/2006/main">
              <a:ext uri="{FF2B5EF4-FFF2-40B4-BE49-F238E27FC236}">
                <a16:creationId xmlns:a16="http://schemas.microsoft.com/office/drawing/2014/main" id="{21FD8071-281A-4AAC-B26F-9F92D4AC53B9}"/>
              </a:ext>
            </a:extLst>
          </p:cNvPr>
          <p:cNvSpPr>
            <a:spLocks xmlns:a="http://schemas.openxmlformats.org/drawingml/2006/main" noGrp="1"/>
          </p:cNvSpPr>
          <p:nvPr/>
        </p:nvSpPr>
        <p:spPr>
          <a:xfrm xmlns:a="http://schemas.openxmlformats.org/drawingml/2006/main">
            <a:off x="838200" y="2266950"/>
            <a:ext cx="5095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183B23"/>
                </a:solidFill>
              </a:defRPr>
            </a:pPr>
            <a:r>
              <a:rPr sz="1725" b="1" i="0">
                <a:solidFill>
                  <a:srgbClr val="183B23"/>
                </a:solidFill>
              </a:rPr>
              <a:t>Evaluate a wick-test result, justify one controlled change, and name the evidence needed before full-system use.</a:t>
            </a:r>
          </a:p>
        </p:txBody>
      </p:sp>
      <p:sp>
        <p:nvSpPr>
          <p:cNvPr id="9" name="">
            <a:extLst xmlns:a="http://schemas.openxmlformats.org/drawingml/2006/main">
              <a:ext uri="{FF2B5EF4-FFF2-40B4-BE49-F238E27FC236}">
                <a16:creationId xmlns:a16="http://schemas.microsoft.com/office/drawing/2014/main" id="{50493C4D-B0F8-433E-9D09-B14BFDF6C731}"/>
              </a:ext>
            </a:extLst>
          </p:cNvPr>
          <p:cNvSpPr>
            <a:spLocks xmlns:a="http://schemas.openxmlformats.org/drawingml/2006/main" noGrp="1"/>
          </p:cNvSpPr>
          <p:nvPr/>
        </p:nvSpPr>
        <p:spPr>
          <a:xfrm xmlns:a="http://schemas.openxmlformats.org/drawingml/2006/main">
            <a:off x="6534150" y="1676400"/>
            <a:ext cx="5010150" cy="1762125"/>
          </a:xfrm>
          <a:prstGeom xmlns:a="http://schemas.openxmlformats.org/drawingml/2006/main" prst="roundRect">
            <a:avLst>
              <a:gd name="adj" fmla="val 6486"/>
            </a:avLst>
          </a:prstGeom>
          <a:solidFill xmlns:a="http://schemas.openxmlformats.org/drawingml/2006/main">
            <a:srgbClr val="E8EF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6ACF873-1E1D-4493-BA37-920FABE26AA6}"/>
              </a:ext>
            </a:extLst>
          </p:cNvPr>
          <p:cNvSpPr>
            <a:spLocks xmlns:a="http://schemas.openxmlformats.org/drawingml/2006/main" noGrp="1"/>
          </p:cNvSpPr>
          <p:nvPr/>
        </p:nvSpPr>
        <p:spPr>
          <a:xfrm xmlns:a="http://schemas.openxmlformats.org/drawingml/2006/main">
            <a:off x="6781800" y="1885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WHAT IS THIS ASKING?</a:t>
            </a:r>
          </a:p>
        </p:txBody>
      </p:sp>
      <p:sp>
        <p:nvSpPr>
          <p:cNvPr id="11" name="">
            <a:extLst xmlns:a="http://schemas.openxmlformats.org/drawingml/2006/main">
              <a:ext uri="{FF2B5EF4-FFF2-40B4-BE49-F238E27FC236}">
                <a16:creationId xmlns:a16="http://schemas.microsoft.com/office/drawing/2014/main" id="{CADA53C7-5B04-40D6-80F5-276ED191BF11}"/>
              </a:ext>
            </a:extLst>
          </p:cNvPr>
          <p:cNvSpPr>
            <a:spLocks xmlns:a="http://schemas.openxmlformats.org/drawingml/2006/main" noGrp="1"/>
          </p:cNvSpPr>
          <p:nvPr/>
        </p:nvSpPr>
        <p:spPr>
          <a:xfrm xmlns:a="http://schemas.openxmlformats.org/drawingml/2006/main">
            <a:off x="6781800" y="2266950"/>
            <a:ext cx="4514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i="0">
                <a:solidFill>
                  <a:srgbClr val="243024"/>
                </a:solidFill>
              </a:defRPr>
            </a:pPr>
            <a:r>
              <a:rPr sz="1575" b="0" i="0">
                <a:solidFill>
                  <a:srgbClr val="243024"/>
                </a:solidFill>
              </a:rPr>
              <a:t>Interprets the result using capillary-action concepts. Proposes one controlled modification and a relevant measure.</a:t>
            </a:r>
          </a:p>
        </p:txBody>
      </p:sp>
      <p:sp>
        <p:nvSpPr>
          <p:cNvPr id="12" name="">
            <a:extLst xmlns:a="http://schemas.openxmlformats.org/drawingml/2006/main">
              <a:ext uri="{FF2B5EF4-FFF2-40B4-BE49-F238E27FC236}">
                <a16:creationId xmlns:a16="http://schemas.microsoft.com/office/drawing/2014/main" id="{228132ED-5371-4354-ABDD-E966CC13D79A}"/>
              </a:ext>
            </a:extLst>
          </p:cNvPr>
          <p:cNvSpPr>
            <a:spLocks xmlns:a="http://schemas.openxmlformats.org/drawingml/2006/main" noGrp="1"/>
          </p:cNvSpPr>
          <p:nvPr/>
        </p:nvSpPr>
        <p:spPr>
          <a:xfrm xmlns:a="http://schemas.openxmlformats.org/drawingml/2006/main">
            <a:off x="5905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8D82ED3-E050-45FF-83C5-7F4C760580F0}"/>
              </a:ext>
            </a:extLst>
          </p:cNvPr>
          <p:cNvSpPr>
            <a:spLocks xmlns:a="http://schemas.openxmlformats.org/drawingml/2006/main" noGrp="1"/>
          </p:cNvSpPr>
          <p:nvPr/>
        </p:nvSpPr>
        <p:spPr>
          <a:xfrm xmlns:a="http://schemas.openxmlformats.org/drawingml/2006/main">
            <a:off x="8191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1  SELECT</a:t>
            </a:r>
          </a:p>
        </p:txBody>
      </p:sp>
      <p:sp>
        <p:nvSpPr>
          <p:cNvPr id="14" name="">
            <a:extLst xmlns:a="http://schemas.openxmlformats.org/drawingml/2006/main">
              <a:ext uri="{FF2B5EF4-FFF2-40B4-BE49-F238E27FC236}">
                <a16:creationId xmlns:a16="http://schemas.microsoft.com/office/drawing/2014/main" id="{9476904C-2C3F-4526-8953-9402E7CC14AA}"/>
              </a:ext>
            </a:extLst>
          </p:cNvPr>
          <p:cNvSpPr>
            <a:spLocks xmlns:a="http://schemas.openxmlformats.org/drawingml/2006/main" noGrp="1"/>
          </p:cNvSpPr>
          <p:nvPr/>
        </p:nvSpPr>
        <p:spPr>
          <a:xfrm xmlns:a="http://schemas.openxmlformats.org/drawingml/2006/main">
            <a:off x="8191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Select the exact theory, observation or record that answers the question.</a:t>
            </a:r>
          </a:p>
        </p:txBody>
      </p:sp>
      <p:sp>
        <p:nvSpPr>
          <p:cNvPr id="15" name="">
            <a:extLst xmlns:a="http://schemas.openxmlformats.org/drawingml/2006/main">
              <a:ext uri="{FF2B5EF4-FFF2-40B4-BE49-F238E27FC236}">
                <a16:creationId xmlns:a16="http://schemas.microsoft.com/office/drawing/2014/main" id="{8CE071B0-E590-4507-AE60-4CBAB3D2118D}"/>
              </a:ext>
            </a:extLst>
          </p:cNvPr>
          <p:cNvSpPr>
            <a:spLocks xmlns:a="http://schemas.openxmlformats.org/drawingml/2006/main" noGrp="1"/>
          </p:cNvSpPr>
          <p:nvPr/>
        </p:nvSpPr>
        <p:spPr>
          <a:xfrm xmlns:a="http://schemas.openxmlformats.org/drawingml/2006/main">
            <a:off x="4305300" y="3876675"/>
            <a:ext cx="3371850" cy="1428750"/>
          </a:xfrm>
          <a:prstGeom xmlns:a="http://schemas.openxmlformats.org/drawingml/2006/main" prst="roundRect">
            <a:avLst>
              <a:gd name="adj" fmla="val 8000"/>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0232EF-4B13-4D62-AA69-309A63948E9D}"/>
              </a:ext>
            </a:extLst>
          </p:cNvPr>
          <p:cNvSpPr>
            <a:spLocks xmlns:a="http://schemas.openxmlformats.org/drawingml/2006/main" noGrp="1"/>
          </p:cNvSpPr>
          <p:nvPr/>
        </p:nvSpPr>
        <p:spPr>
          <a:xfrm xmlns:a="http://schemas.openxmlformats.org/drawingml/2006/main">
            <a:off x="453390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183B23"/>
                </a:solidFill>
              </a:defRPr>
            </a:pPr>
            <a:r>
              <a:rPr sz="1050" b="1" i="0">
                <a:solidFill>
                  <a:srgbClr val="183B23"/>
                </a:solidFill>
              </a:rPr>
              <a:t>2  EXPLAIN</a:t>
            </a:r>
          </a:p>
        </p:txBody>
      </p:sp>
      <p:sp>
        <p:nvSpPr>
          <p:cNvPr id="17" name="">
            <a:extLst xmlns:a="http://schemas.openxmlformats.org/drawingml/2006/main">
              <a:ext uri="{FF2B5EF4-FFF2-40B4-BE49-F238E27FC236}">
                <a16:creationId xmlns:a16="http://schemas.microsoft.com/office/drawing/2014/main" id="{88BD4DC4-BC85-40FC-AB95-4D9DD72635ED}"/>
              </a:ext>
            </a:extLst>
          </p:cNvPr>
          <p:cNvSpPr>
            <a:spLocks xmlns:a="http://schemas.openxmlformats.org/drawingml/2006/main" noGrp="1"/>
          </p:cNvSpPr>
          <p:nvPr/>
        </p:nvSpPr>
        <p:spPr>
          <a:xfrm xmlns:a="http://schemas.openxmlformats.org/drawingml/2006/main">
            <a:off x="453390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183B23"/>
                </a:solidFill>
              </a:defRPr>
            </a:pPr>
            <a:r>
              <a:rPr sz="1350" b="0" i="0">
                <a:solidFill>
                  <a:srgbClr val="183B23"/>
                </a:solidFill>
              </a:rPr>
              <a:t>Use subject vocabulary and show the because, so or therefore connection.</a:t>
            </a:r>
          </a:p>
        </p:txBody>
      </p:sp>
      <p:sp>
        <p:nvSpPr>
          <p:cNvPr id="18" name="">
            <a:extLst xmlns:a="http://schemas.openxmlformats.org/drawingml/2006/main">
              <a:ext uri="{FF2B5EF4-FFF2-40B4-BE49-F238E27FC236}">
                <a16:creationId xmlns:a16="http://schemas.microsoft.com/office/drawing/2014/main" id="{A6C5412F-8AD9-4DAD-8729-A92C8A01EE57}"/>
              </a:ext>
            </a:extLst>
          </p:cNvPr>
          <p:cNvSpPr>
            <a:spLocks xmlns:a="http://schemas.openxmlformats.org/drawingml/2006/main" noGrp="1"/>
          </p:cNvSpPr>
          <p:nvPr/>
        </p:nvSpPr>
        <p:spPr>
          <a:xfrm xmlns:a="http://schemas.openxmlformats.org/drawingml/2006/main">
            <a:off x="80200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FF4E489-22BD-4324-9897-EE887D898F0C}"/>
              </a:ext>
            </a:extLst>
          </p:cNvPr>
          <p:cNvSpPr>
            <a:spLocks xmlns:a="http://schemas.openxmlformats.org/drawingml/2006/main" noGrp="1"/>
          </p:cNvSpPr>
          <p:nvPr/>
        </p:nvSpPr>
        <p:spPr>
          <a:xfrm xmlns:a="http://schemas.openxmlformats.org/drawingml/2006/main">
            <a:off x="82486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3  CHECK</a:t>
            </a:r>
          </a:p>
        </p:txBody>
      </p:sp>
      <p:sp>
        <p:nvSpPr>
          <p:cNvPr id="20" name="">
            <a:extLst xmlns:a="http://schemas.openxmlformats.org/drawingml/2006/main">
              <a:ext uri="{FF2B5EF4-FFF2-40B4-BE49-F238E27FC236}">
                <a16:creationId xmlns:a16="http://schemas.microsoft.com/office/drawing/2014/main" id="{5EF5BF70-2995-4AB9-A23B-96A908C35887}"/>
              </a:ext>
            </a:extLst>
          </p:cNvPr>
          <p:cNvSpPr>
            <a:spLocks xmlns:a="http://schemas.openxmlformats.org/drawingml/2006/main" noGrp="1"/>
          </p:cNvSpPr>
          <p:nvPr/>
        </p:nvSpPr>
        <p:spPr>
          <a:xfrm xmlns:a="http://schemas.openxmlformats.org/drawingml/2006/main">
            <a:off x="82486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Answer every part, state limits honestly and remove unsupported local claims.</a:t>
            </a:r>
          </a:p>
        </p:txBody>
      </p:sp>
      <p:sp>
        <p:nvSpPr>
          <p:cNvPr id="21" name="">
            <a:extLst xmlns:a="http://schemas.openxmlformats.org/drawingml/2006/main">
              <a:ext uri="{FF2B5EF4-FFF2-40B4-BE49-F238E27FC236}">
                <a16:creationId xmlns:a16="http://schemas.microsoft.com/office/drawing/2014/main" id="{DDE131F2-EE5E-4361-AD65-1611055ED93A}"/>
              </a:ext>
            </a:extLst>
          </p:cNvPr>
          <p:cNvSpPr>
            <a:spLocks xmlns:a="http://schemas.openxmlformats.org/drawingml/2006/main" noGrp="1"/>
          </p:cNvSpPr>
          <p:nvPr/>
        </p:nvSpPr>
        <p:spPr>
          <a:xfrm xmlns:a="http://schemas.openxmlformats.org/drawingml/2006/main">
            <a:off x="590550" y="5619750"/>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B6402D"/>
                </a:solidFill>
              </a:defRPr>
            </a:pPr>
            <a:r>
              <a:rPr sz="1350" b="1" i="0">
                <a:solidFill>
                  <a:srgbClr val="B6402D"/>
                </a:solidFill>
              </a:rPr>
              <a:t>Sentence starter: The test shows that ______ transferred... under..., but it does not yet show...</a:t>
            </a:r>
          </a:p>
        </p:txBody>
      </p:sp>
    </p:spTree>
    <p:extLst>
      <p:ext uri="{BB962C8B-B14F-4D97-AF65-F5344CB8AC3E}">
        <p14:creationId xmlns:p14="http://schemas.microsoft.com/office/powerpoint/2010/main" val="2065775681"/>
      </p:ext>
    </p:extLst>
  </p:cSld>
</p:sld>
</file>

<file path=ppt/slides/slide8.xml><?xml version="1.0" encoding="utf-8"?>
<p:sld xmlns:p="http://schemas.openxmlformats.org/presentationml/2006/main">
  <p:cSld>
    <p:bg>
      <p:bgPr>
        <a:solidFill xmlns:a="http://schemas.openxmlformats.org/drawingml/2006/main">
          <a:srgbClr val="B640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219106C-DF99-4649-B19C-9F0CE663CDA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6EC531-E1A8-4894-BF92-76E59B416A37}"/>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EXIT TICKET</a:t>
            </a:r>
          </a:p>
        </p:txBody>
      </p:sp>
      <p:sp>
        <p:nvSpPr>
          <p:cNvPr id="3" name="">
            <a:extLst xmlns:a="http://schemas.openxmlformats.org/drawingml/2006/main">
              <a:ext uri="{FF2B5EF4-FFF2-40B4-BE49-F238E27FC236}">
                <a16:creationId xmlns:a16="http://schemas.microsoft.com/office/drawing/2014/main" id="{D62EAE1F-6392-4C7F-8CEB-D83643D5D2BC}"/>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5  •  WATER-SMART GROWING</a:t>
            </a:r>
          </a:p>
        </p:txBody>
      </p:sp>
      <p:sp>
        <p:nvSpPr>
          <p:cNvPr id="4" name="">
            <a:extLst xmlns:a="http://schemas.openxmlformats.org/drawingml/2006/main">
              <a:ext uri="{FF2B5EF4-FFF2-40B4-BE49-F238E27FC236}">
                <a16:creationId xmlns:a16="http://schemas.microsoft.com/office/drawing/2014/main" id="{2B5EB5B4-FD4D-4250-B16E-D1C06D005CB8}"/>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08</a:t>
            </a:r>
          </a:p>
        </p:txBody>
      </p:sp>
      <p:sp>
        <p:nvSpPr>
          <p:cNvPr id="5" name="">
            <a:extLst xmlns:a="http://schemas.openxmlformats.org/drawingml/2006/main">
              <a:ext uri="{FF2B5EF4-FFF2-40B4-BE49-F238E27FC236}">
                <a16:creationId xmlns:a16="http://schemas.microsoft.com/office/drawing/2014/main" id="{3891F4F8-84D7-4419-91E4-D64933CF36A2}"/>
              </a:ext>
            </a:extLst>
          </p:cNvPr>
          <p:cNvSpPr>
            <a:spLocks xmlns:a="http://schemas.openxmlformats.org/drawingml/2006/main" noGrp="1"/>
          </p:cNvSpPr>
          <p:nvPr/>
        </p:nvSpPr>
        <p:spPr>
          <a:xfrm xmlns:a="http://schemas.openxmlformats.org/drawingml/2006/main">
            <a:off x="590550" y="83820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i="0">
                <a:solidFill>
                  <a:srgbClr val="FFFFFF"/>
                </a:solidFill>
              </a:defRPr>
            </a:pPr>
            <a:r>
              <a:rPr sz="3150" b="1" i="0">
                <a:solidFill>
                  <a:srgbClr val="FFFFFF"/>
                </a:solidFill>
              </a:rPr>
              <a:t>Before you pack up…</a:t>
            </a:r>
          </a:p>
        </p:txBody>
      </p:sp>
      <p:sp>
        <p:nvSpPr>
          <p:cNvPr id="6" name="">
            <a:extLst xmlns:a="http://schemas.openxmlformats.org/drawingml/2006/main">
              <a:ext uri="{FF2B5EF4-FFF2-40B4-BE49-F238E27FC236}">
                <a16:creationId xmlns:a16="http://schemas.microsoft.com/office/drawing/2014/main" id="{E2DAF6BF-281F-43DD-AC4E-F78F9B4EAEA0}"/>
              </a:ext>
            </a:extLst>
          </p:cNvPr>
          <p:cNvSpPr>
            <a:spLocks xmlns:a="http://schemas.openxmlformats.org/drawingml/2006/main" noGrp="1"/>
          </p:cNvSpPr>
          <p:nvPr/>
        </p:nvSpPr>
        <p:spPr>
          <a:xfrm xmlns:a="http://schemas.openxmlformats.org/drawingml/2006/main">
            <a:off x="590550" y="1952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CD02A0B-30A5-4459-819A-6C45B0746E2D}"/>
              </a:ext>
            </a:extLst>
          </p:cNvPr>
          <p:cNvSpPr>
            <a:spLocks xmlns:a="http://schemas.openxmlformats.org/drawingml/2006/main" noGrp="1"/>
          </p:cNvSpPr>
          <p:nvPr/>
        </p:nvSpPr>
        <p:spPr>
          <a:xfrm xmlns:a="http://schemas.openxmlformats.org/drawingml/2006/main">
            <a:off x="857250" y="2085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1. One idea I can now explain is…</a:t>
            </a:r>
          </a:p>
        </p:txBody>
      </p:sp>
      <p:sp>
        <p:nvSpPr>
          <p:cNvPr id="8" name="">
            <a:extLst xmlns:a="http://schemas.openxmlformats.org/drawingml/2006/main">
              <a:ext uri="{FF2B5EF4-FFF2-40B4-BE49-F238E27FC236}">
                <a16:creationId xmlns:a16="http://schemas.microsoft.com/office/drawing/2014/main" id="{1142007B-A10C-4E3F-8A95-2C636BD1AA8A}"/>
              </a:ext>
            </a:extLst>
          </p:cNvPr>
          <p:cNvSpPr>
            <a:spLocks xmlns:a="http://schemas.openxmlformats.org/drawingml/2006/main" noGrp="1"/>
          </p:cNvSpPr>
          <p:nvPr/>
        </p:nvSpPr>
        <p:spPr>
          <a:xfrm xmlns:a="http://schemas.openxmlformats.org/drawingml/2006/main">
            <a:off x="590550" y="3095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E7945F7-DF15-45C9-A3A8-24FD40EA4FE7}"/>
              </a:ext>
            </a:extLst>
          </p:cNvPr>
          <p:cNvSpPr>
            <a:spLocks xmlns:a="http://schemas.openxmlformats.org/drawingml/2006/main" noGrp="1"/>
          </p:cNvSpPr>
          <p:nvPr/>
        </p:nvSpPr>
        <p:spPr>
          <a:xfrm xmlns:a="http://schemas.openxmlformats.org/drawingml/2006/main">
            <a:off x="857250" y="3228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2. One decision or practical action this changes is…</a:t>
            </a:r>
          </a:p>
        </p:txBody>
      </p:sp>
      <p:sp>
        <p:nvSpPr>
          <p:cNvPr id="10" name="">
            <a:extLst xmlns:a="http://schemas.openxmlformats.org/drawingml/2006/main">
              <a:ext uri="{FF2B5EF4-FFF2-40B4-BE49-F238E27FC236}">
                <a16:creationId xmlns:a16="http://schemas.microsoft.com/office/drawing/2014/main" id="{68A5F821-6EA6-4E90-82F5-52F02F59B038}"/>
              </a:ext>
            </a:extLst>
          </p:cNvPr>
          <p:cNvSpPr>
            <a:spLocks xmlns:a="http://schemas.openxmlformats.org/drawingml/2006/main" noGrp="1"/>
          </p:cNvSpPr>
          <p:nvPr/>
        </p:nvSpPr>
        <p:spPr>
          <a:xfrm xmlns:a="http://schemas.openxmlformats.org/drawingml/2006/main">
            <a:off x="590550" y="4238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56F7D22-E2CD-4F7F-A319-9675A5AAE625}"/>
              </a:ext>
            </a:extLst>
          </p:cNvPr>
          <p:cNvSpPr>
            <a:spLocks xmlns:a="http://schemas.openxmlformats.org/drawingml/2006/main" noGrp="1"/>
          </p:cNvSpPr>
          <p:nvPr/>
        </p:nvSpPr>
        <p:spPr>
          <a:xfrm xmlns:a="http://schemas.openxmlformats.org/drawingml/2006/main">
            <a:off x="857250" y="4371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3. One local detail my teacher still needs to confirm is…</a:t>
            </a:r>
          </a:p>
        </p:txBody>
      </p:sp>
      <p:sp>
        <p:nvSpPr>
          <p:cNvPr id="12" name="">
            <a:extLst xmlns:a="http://schemas.openxmlformats.org/drawingml/2006/main">
              <a:ext uri="{FF2B5EF4-FFF2-40B4-BE49-F238E27FC236}">
                <a16:creationId xmlns:a16="http://schemas.microsoft.com/office/drawing/2014/main" id="{5FA0959D-3E66-4215-A9E6-E86E3AD3501C}"/>
              </a:ext>
            </a:extLst>
          </p:cNvPr>
          <p:cNvSpPr>
            <a:spLocks xmlns:a="http://schemas.openxmlformats.org/drawingml/2006/main" noGrp="1"/>
          </p:cNvSpPr>
          <p:nvPr/>
        </p:nvSpPr>
        <p:spPr>
          <a:xfrm xmlns:a="http://schemas.openxmlformats.org/drawingml/2006/main">
            <a:off x="9715500" y="2476500"/>
            <a:ext cx="1619250" cy="1619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984A882-19EE-4B5B-AF0D-15CC235BA589}"/>
              </a:ext>
            </a:extLst>
          </p:cNvPr>
          <p:cNvSpPr>
            <a:spLocks xmlns:a="http://schemas.openxmlformats.org/drawingml/2006/main" noGrp="1"/>
          </p:cNvSpPr>
          <p:nvPr/>
        </p:nvSpPr>
        <p:spPr>
          <a:xfrm xmlns:a="http://schemas.openxmlformats.org/drawingml/2006/main">
            <a:off x="9906000" y="2724150"/>
            <a:ext cx="123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83B23"/>
                </a:solidFill>
              </a:defRPr>
            </a:pPr>
            <a:r>
              <a:rPr sz="1800" b="1" i="0">
                <a:solidFill>
                  <a:srgbClr val="183B23"/>
                </a:solidFill>
              </a:rPr>
              <a:t>SAVE</a:t>
            </a:r>
          </a:p>
          <a:p xmlns:a="http://schemas.openxmlformats.org/drawingml/2006/main">
            <a:pPr algn="ctr">
              <a:buNone/>
              <a:defRPr sz="1800" b="1" i="0">
                <a:solidFill>
                  <a:srgbClr val="183B23"/>
                </a:solidFill>
              </a:defRPr>
            </a:pPr>
            <a:r>
              <a:rPr sz="1800" b="1" i="0">
                <a:solidFill>
                  <a:srgbClr val="183B23"/>
                </a:solidFill>
              </a:rPr>
              <a:t>TO</a:t>
            </a:r>
          </a:p>
          <a:p xmlns:a="http://schemas.openxmlformats.org/drawingml/2006/main">
            <a:pPr algn="ctr">
              <a:buNone/>
              <a:defRPr sz="1800" b="1" i="0">
                <a:solidFill>
                  <a:srgbClr val="183B23"/>
                </a:solidFill>
              </a:defRPr>
            </a:pPr>
            <a:r>
              <a:rPr sz="1800" b="1" i="0">
                <a:solidFill>
                  <a:srgbClr val="183B23"/>
                </a:solidFill>
              </a:rPr>
              <a:t>FOLIO</a:t>
            </a:r>
          </a:p>
        </p:txBody>
      </p:sp>
    </p:spTree>
    <p:extLst>
      <p:ext uri="{BB962C8B-B14F-4D97-AF65-F5344CB8AC3E}">
        <p14:creationId xmlns:p14="http://schemas.microsoft.com/office/powerpoint/2010/main" val="15421958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2026-09-01T23:40:14.1350000Z</dcterms:created>
  <dcterms:modified xsi:type="dcterms:W3CDTF">2026-09-01T23:40:14.1350000Z</dcterms:modified>
</coreProperties>
</file>