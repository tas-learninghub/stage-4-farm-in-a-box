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10e0301a1d54ac4" /><Relationship Type="http://schemas.openxmlformats.org/officeDocument/2006/relationships/extended-properties" Target="/docProps/app.xml" Id="Rb6a6907fe2094401" /><Relationship Type="http://schemas.openxmlformats.org/officeDocument/2006/relationships/officeDocument" Target="/ppt/presentation.xml" Id="R9574ba81c8274d81" /></Relationships>
</file>

<file path=ppt/presentation.xml><?xml version="1.0" encoding="utf-8"?>
<p:presentation xmlns:p="http://schemas.openxmlformats.org/presentationml/2006/main">
  <p:sldMasterIdLst>
    <p:sldMasterId xmlns:r="http://schemas.openxmlformats.org/officeDocument/2006/relationships" id="2147483648" r:id="Ra96caca43c754243"/>
  </p:sldMasterIdLst>
  <p:notesMasterIdLst>
    <p:notesMasterId xmlns:r="http://schemas.openxmlformats.org/officeDocument/2006/relationships" r:id="R05e2f27230734df9"/>
  </p:notesMasterIdLst>
  <p:sldIdLst>
    <p:sldId xmlns:r="http://schemas.openxmlformats.org/officeDocument/2006/relationships" id="256" r:id="R76228e7bee114913"/>
    <p:sldId xmlns:r="http://schemas.openxmlformats.org/officeDocument/2006/relationships" id="257" r:id="R606a6c63bad841b9"/>
    <p:sldId xmlns:r="http://schemas.openxmlformats.org/officeDocument/2006/relationships" id="258" r:id="Rc2695d719304410f"/>
    <p:sldId xmlns:r="http://schemas.openxmlformats.org/officeDocument/2006/relationships" id="259" r:id="R0825ac69a4df4073"/>
    <p:sldId xmlns:r="http://schemas.openxmlformats.org/officeDocument/2006/relationships" id="260" r:id="R620a573673fa47b9"/>
    <p:sldId xmlns:r="http://schemas.openxmlformats.org/officeDocument/2006/relationships" id="261" r:id="R9d7cf525489144aa"/>
    <p:sldId xmlns:r="http://schemas.openxmlformats.org/officeDocument/2006/relationships" id="262" r:id="Rdc2bb2b37a194825"/>
    <p:sldId xmlns:r="http://schemas.openxmlformats.org/officeDocument/2006/relationships" id="263" r:id="R808588815a2b4d2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a0a1646ada9424a" /><Relationship Type="http://schemas.openxmlformats.org/officeDocument/2006/relationships/slideMaster" Target="/ppt/slideMasters/slideMaster1.xml" Id="Ra96caca43c754243" /><Relationship Type="http://schemas.openxmlformats.org/officeDocument/2006/relationships/notesMaster" Target="/ppt/notesMasters/notesMaster1.xml" Id="R05e2f27230734df9" /><Relationship Type="http://schemas.openxmlformats.org/officeDocument/2006/relationships/presProps" Target="/ppt/presProps.xml" Id="R58de7b9ebf804f57" /><Relationship Type="http://schemas.openxmlformats.org/officeDocument/2006/relationships/tableStyles" Target="/ppt/tableStyles.xml" Id="R318ced32cef04890" /><Relationship Type="http://schemas.openxmlformats.org/officeDocument/2006/relationships/slide" Target="/ppt/slides/slide1.xml" Id="R76228e7bee114913" /><Relationship Type="http://schemas.openxmlformats.org/officeDocument/2006/relationships/slide" Target="/ppt/slides/slide2.xml" Id="R606a6c63bad841b9" /><Relationship Type="http://schemas.openxmlformats.org/officeDocument/2006/relationships/slide" Target="/ppt/slides/slide3.xml" Id="Rc2695d719304410f" /><Relationship Type="http://schemas.openxmlformats.org/officeDocument/2006/relationships/slide" Target="/ppt/slides/slide4.xml" Id="R0825ac69a4df4073" /><Relationship Type="http://schemas.openxmlformats.org/officeDocument/2006/relationships/slide" Target="/ppt/slides/slide5.xml" Id="R620a573673fa47b9" /><Relationship Type="http://schemas.openxmlformats.org/officeDocument/2006/relationships/slide" Target="/ppt/slides/slide6.xml" Id="R9d7cf525489144aa" /><Relationship Type="http://schemas.openxmlformats.org/officeDocument/2006/relationships/slide" Target="/ppt/slides/slide7.xml" Id="Rdc2bb2b37a194825" /><Relationship Type="http://schemas.openxmlformats.org/officeDocument/2006/relationships/slide" Target="/ppt/slides/slide8.xml" Id="R808588815a2b4d2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d0c6635441430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19ad9df70894d24" /><Relationship Type="http://schemas.openxmlformats.org/officeDocument/2006/relationships/notesMaster" Target="/ppt/notesMasters/notesMaster1.xml" Id="Rd92b52755ca64a7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6c12955ce114cbe" /><Relationship Type="http://schemas.openxmlformats.org/officeDocument/2006/relationships/notesMaster" Target="/ppt/notesMasters/notesMaster1.xml" Id="R05be9c2cac45434a" /></Relationships>
</file>

<file path=ppt/notesSlides/_rels/notesSlide3.xml.rels>&#65279;<?xml version="1.0" encoding="utf-8"?><Relationships xmlns="http://schemas.openxmlformats.org/package/2006/relationships"><Relationship Type="http://schemas.openxmlformats.org/officeDocument/2006/relationships/slide" Target="/ppt/slides/slide3.xml" Id="R0d770669fa224f84" /><Relationship Type="http://schemas.openxmlformats.org/officeDocument/2006/relationships/notesMaster" Target="/ppt/notesMasters/notesMaster1.xml" Id="Rda465daa928e42b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6c26118a8a945bc" /><Relationship Type="http://schemas.openxmlformats.org/officeDocument/2006/relationships/notesMaster" Target="/ppt/notesMasters/notesMaster1.xml" Id="Red0f5a8130e94a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4dac1a90ad433f" /><Relationship Type="http://schemas.openxmlformats.org/officeDocument/2006/relationships/notesMaster" Target="/ppt/notesMasters/notesMaster1.xml" Id="Reee7327c787a46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6bd825426c6459a" /><Relationship Type="http://schemas.openxmlformats.org/officeDocument/2006/relationships/notesMaster" Target="/ppt/notesMasters/notesMaster1.xml" Id="R42467e81e41e45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b898ba8b782c4ec2" /><Relationship Type="http://schemas.openxmlformats.org/officeDocument/2006/relationships/notesMaster" Target="/ppt/notesMasters/notesMaster1.xml" Id="R2ccfe60ce75247d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f38973f6474a8c" /><Relationship Type="http://schemas.openxmlformats.org/officeDocument/2006/relationships/notesMaster" Target="/ppt/notesMasters/notesMaster1.xml" Id="R0cedc5dc223540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introduce Soil, Media and Circular Nutrients as the next step in the Farm in a Box learning sequence.</a:t>
            </a:r>
          </a:p>
          <a:p xmlns:a="http://schemas.openxmlformats.org/drawingml/2006/main">
            <a:r>
              <a:t>Student outcome for this deck: Investigate the root-zone environment, trace nutrient cycling and use a fair test to choose rather than guess.</a:t>
            </a:r>
          </a:p>
          <a:p xmlns:a="http://schemas.openxmlformats.org/drawingml/2006/main">
            <a:r>
              <a:t>Opening prompt: ask students what evidence in the image makes this an agriculture system rather than a decorative container.</a:t>
            </a:r>
          </a:p>
          <a:p xmlns:a="http://schemas.openxmlformats.org/drawingml/2006/main">
            <a:r>
              <a:t>Boundary: crop, site, materials, tools, method and local safety controls remain Teacher to confirm.</a:t>
            </a:r>
          </a:p>
          <a:p xmlns:a="http://schemas.openxmlformats.org/drawingml/2006/main">
            <a:r>
              <a:t>Transition: preview the three named learning areas without answering the warm-up for students.</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Course design brief: resources/core/design-brief-v1.0.json.</a:t>
            </a:r>
          </a:p>
          <a:p xmlns:a="http://schemas.openxmlformats.org/drawingml/2006/main">
            <a:r>
              <a:t>- Generated title visual: assets/m04-s03-fair-media-test.png — OpenAI image generation, 2026-09-02.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students quiet thinking time before taking responses.</a:t>
            </a:r>
          </a:p>
          <a:p xmlns:a="http://schemas.openxmlformats.org/drawingml/2006/main">
            <a:r>
              <a:t>The three named areas are What makes a growing medium work?; Nutrients, compost and circular farming; Run a fair media test.</a:t>
            </a:r>
          </a:p>
          <a:p xmlns:a="http://schemas.openxmlformats.org/drawingml/2006/main">
            <a:r>
              <a:t>Keep initial answers provisional. The deck is designed to improve them with evidence.</a:t>
            </a:r>
          </a:p>
          <a:p xmlns:a="http://schemas.openxmlformats.org/drawingml/2006/main">
            <a:r>
              <a:t>Do not introduce outcome codes or local practical facts on this student-facing slide.</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Course design brief: resources/core/design-brief-v1.0.json.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make What makes a growing medium work? concrete before students apply it to the Farm in a Box.</a:t>
            </a:r>
          </a:p>
          <a:p xmlns:a="http://schemas.openxmlformats.org/drawingml/2006/main">
            <a:r>
              <a:t>Talking point 1: Growing media create the root-zone environment. Water holding, drainage, aeration, support and other properties interact, so selection requires context and evidence.</a:t>
            </a:r>
          </a:p>
          <a:p xmlns:a="http://schemas.openxmlformats.org/drawingml/2006/main">
            <a:r>
              <a:t>Talking point 2: connect the image to the decision or evidence prompt; ask students what feature they notice and why it matters.</a:t>
            </a:r>
          </a:p>
          <a:p xmlns:a="http://schemas.openxmlformats.org/drawingml/2006/main">
            <a:r>
              <a:t>Likely misconception: The best growing medium is always the one that holds the most water.</a:t>
            </a:r>
          </a:p>
          <a:p xmlns:a="http://schemas.openxmlformats.org/drawingml/2006/main">
            <a:r>
              <a:t>Correction: Roots need a suitable balance of water and oxygen as well as support; excessive water retention can reduce aeration.</a:t>
            </a:r>
          </a:p>
          <a:p xmlns:a="http://schemas.openxmlformats.org/drawingml/2006/main">
            <a:r>
              <a:t>Prompt: Compare two teacher-approved media descriptions and predict which property trade-off matters most for the confirmed Farm in a Box context.</a:t>
            </a:r>
          </a:p>
          <a:p xmlns:a="http://schemas.openxmlformats.org/drawingml/2006/main">
            <a:r>
              <a:t>Transition: connect this idea to Nutrients, compost and circular farming.</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Generated teaching visual: assets/m04-s01-growing-medium.png — OpenAI image generation, 2026-09-02.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make Nutrients, compost and circular farming concrete before students apply it to the Farm in a Box.</a:t>
            </a:r>
          </a:p>
          <a:p xmlns:a="http://schemas.openxmlformats.org/drawingml/2006/main">
            <a:r>
              <a:t>Talking point 1: Plants make sugars and take up mineral nutrients. Decomposition returns materials to nutrient cycles, while composting can create a circular pathway only when inputs, process and use are suitable and approved.</a:t>
            </a:r>
          </a:p>
          <a:p xmlns:a="http://schemas.openxmlformats.org/drawingml/2006/main">
            <a:r>
              <a:t>Talking point 2: connect the image to the decision or evidence prompt; ask students what feature they notice and why it matters.</a:t>
            </a:r>
          </a:p>
          <a:p xmlns:a="http://schemas.openxmlformats.org/drawingml/2006/main">
            <a:r>
              <a:t>Likely misconception: Compost is plant food that directly replaces photosynthesis, and any organic waste can be added safely.</a:t>
            </a:r>
          </a:p>
          <a:p xmlns:a="http://schemas.openxmlformats.org/drawingml/2006/main">
            <a:r>
              <a:t>Correction: Plants make sugars through photosynthesis; compost may contribute organic matter and nutrient cycling, but inputs and use require suitable, locally approved controls.</a:t>
            </a:r>
          </a:p>
          <a:p xmlns:a="http://schemas.openxmlformats.org/drawingml/2006/main">
            <a:r>
              <a:t>Prompt: Draw a nutrient-and-material loop for a hypothetical approved plant-residue pathway, marking where evidence, losses and teacher-controlled decisions occur.</a:t>
            </a:r>
          </a:p>
          <a:p xmlns:a="http://schemas.openxmlformats.org/drawingml/2006/main">
            <a:r>
              <a:t>Transition: connect this idea to Run a fair media test.</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Generated teaching visual: assets/m04-s02-circular-nutrients.png — OpenAI image generation, 2026-09-02.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make Run a fair media test concrete before students apply it to the Farm in a Box.</a:t>
            </a:r>
          </a:p>
          <a:p xmlns:a="http://schemas.openxmlformats.org/drawingml/2006/main">
            <a:r>
              <a:t>Talking point 1: A fair test controls competing factors, measures a relevant response consistently and uses repetition to reveal variation. Valid conclusions stay within what the test measured.</a:t>
            </a:r>
          </a:p>
          <a:p xmlns:a="http://schemas.openxmlformats.org/drawingml/2006/main">
            <a:r>
              <a:t>Talking point 2: connect the image to the decision or evidence prompt; ask students what feature they notice and why it matters.</a:t>
            </a:r>
          </a:p>
          <a:p xmlns:a="http://schemas.openxmlformats.org/drawingml/2006/main">
            <a:r>
              <a:t>Likely misconception: A fair test proves that one medium is best in every way and will produce the largest crop.</a:t>
            </a:r>
          </a:p>
          <a:p xmlns:a="http://schemas.openxmlformats.org/drawingml/2006/main">
            <a:r>
              <a:t>Correction: The test supports a conclusion only about the measured property under the stated conditions.</a:t>
            </a:r>
          </a:p>
          <a:p xmlns:a="http://schemas.openxmlformats.org/drawingml/2006/main">
            <a:r>
              <a:t>Prompt: Plan and analyse a teacher-approved media test, then write a limited decision statement linked to the Farm in a Box criteria.</a:t>
            </a:r>
          </a:p>
          <a:p xmlns:a="http://schemas.openxmlformats.org/drawingml/2006/main">
            <a:r>
              <a:t>Transition: move from explanation to retrieval across all three ideas.</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Generated teaching visual: assets/m04-s03-fair-media-test.png — OpenAI image generation, 2026-09-02.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think-pair-share: students answer silently, cite one deck idea, then improve their explanation with a partner.</a:t>
            </a:r>
          </a:p>
          <a:p xmlns:a="http://schemas.openxmlformats.org/drawingml/2006/main">
            <a:r>
              <a:t>Question 1 checks What makes a growing medium work?.</a:t>
            </a:r>
          </a:p>
          <a:p xmlns:a="http://schemas.openxmlformats.org/drawingml/2006/main">
            <a:r>
              <a:t>Question 2 checks Nutrients, compost and circular farming.</a:t>
            </a:r>
          </a:p>
          <a:p xmlns:a="http://schemas.openxmlformats.org/drawingml/2006/main">
            <a:r>
              <a:t>Question 3 checks Run a fair media test.</a:t>
            </a:r>
          </a:p>
          <a:p xmlns:a="http://schemas.openxmlformats.org/drawingml/2006/main">
            <a:r>
              <a:t>Ask for reasoning, not only a short answer. Correct overclaiming and invented local detail.</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Course design brief: resources/core/design-brief-v1.0.json.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Response purpose: Design a fair test for one growing-medium property and justify how its evidence could inform—but not completely determine—a Farm in a Box decision.</a:t>
            </a:r>
          </a:p>
          <a:p xmlns:a="http://schemas.openxmlformats.org/drawingml/2006/main">
            <a:r>
              <a:t>Scaffold prompts: What is the investigation question? | What are the independent, dependent and controlled variables? | How will measurement and repetition support validity and reliability? | Which decision criterion can the result inform, and what cannot it prove?</a:t>
            </a:r>
          </a:p>
          <a:p xmlns:a="http://schemas.openxmlformats.org/drawingml/2006/main">
            <a:r>
              <a:t>Success criteria: Identifies variables correctly and proposes consistent measurement. | Includes repetition or another reasonable reliability check. | Links the result to one criterion and clearly limits the conclusion.</a:t>
            </a:r>
          </a:p>
          <a:p xmlns:a="http://schemas.openxmlformats.org/drawingml/2006/main">
            <a:r>
              <a:t>Appropriate response example for teacher modelling: The test will compare two teacher-approved media by changing only the media option and measuring drainage under matched conditions. Container size, sample amount, supplied water and timing method will remain consistent, with repeated samples for each option. The result can inform the criterion about avoiding prolonged saturation, but it cannot prove nutrient suitability, long-term structure or final crop performance.</a:t>
            </a:r>
          </a:p>
          <a:p xmlns:a="http://schemas.openxmlformats.org/drawingml/2006/main">
            <a:r>
              <a:t>Model how to acknowledge uncertainty without weakening a claim supported by evidence.</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destination: growing-media comparison; circular nutrient diagram; fair-test record and evidence-based media decision.</a:t>
            </a:r>
          </a:p>
          <a:p xmlns:a="http://schemas.openxmlformats.org/drawingml/2006/main">
            <a:r>
              <a:t>Students save a concise exit response in their local folio or on paper.</a:t>
            </a:r>
          </a:p>
          <a:p xmlns:a="http://schemas.openxmlformats.org/drawingml/2006/main">
            <a:r>
              <a:t>Accept a specific unanswered local-control question; do not pressure students to invent the answer.</a:t>
            </a:r>
          </a:p>
          <a:p xmlns:a="http://schemas.openxmlformats.org/drawingml/2006/main">
            <a:r>
              <a:t>Next step: continue to Module 5.</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Course design brief: resources/core/design-brief-v1.0.json.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02e9ca402947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a3dcdc43f7e4cef" /><Relationship Type="http://schemas.openxmlformats.org/officeDocument/2006/relationships/slideLayout" Target="/ppt/slideLayouts/slideLayout1.xml" Id="Refbbc19ccd81474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bbc19ccd81474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052d4f6d7094c4c" /><Relationship Type="http://schemas.openxmlformats.org/officeDocument/2006/relationships/image" Target="/ppt/media/image.png" Id="Rad510942e1c34e4c" /><Relationship Type="http://schemas.openxmlformats.org/officeDocument/2006/relationships/notesSlide" Target="/ppt/notesSlides/notesSlide1.xml" Id="R40680d113b5c4f5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d9982f425404ae8" /><Relationship Type="http://schemas.openxmlformats.org/officeDocument/2006/relationships/notesSlide" Target="/ppt/notesSlides/notesSlide2.xml" Id="Rdacbcde777c242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71b029dc54b4f09" /><Relationship Type="http://schemas.openxmlformats.org/officeDocument/2006/relationships/image" Target="/ppt/media/image2.png" Id="R41268e1712a24e19" /><Relationship Type="http://schemas.openxmlformats.org/officeDocument/2006/relationships/notesSlide" Target="/ppt/notesSlides/notesSlide3.xml" Id="R037db49ec5a944f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8b08d9ff1da47c0" /><Relationship Type="http://schemas.openxmlformats.org/officeDocument/2006/relationships/image" Target="/ppt/media/image3.png" Id="R72953e1155604efa" /><Relationship Type="http://schemas.openxmlformats.org/officeDocument/2006/relationships/notesSlide" Target="/ppt/notesSlides/notesSlide4.xml" Id="Rd1b3c888b4c54c7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46161faa74746b7" /><Relationship Type="http://schemas.openxmlformats.org/officeDocument/2006/relationships/image" Target="/ppt/media/image4.png" Id="Rc5713a452b5c4e46" /><Relationship Type="http://schemas.openxmlformats.org/officeDocument/2006/relationships/notesSlide" Target="/ppt/notesSlides/notesSlide5.xml" Id="Rcde285f4b98c4bc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b1262a4e3e1419c" /><Relationship Type="http://schemas.openxmlformats.org/officeDocument/2006/relationships/notesSlide" Target="/ppt/notesSlides/notesSlide6.xml" Id="R5a7f8de6d20f456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f06683703064887" /><Relationship Type="http://schemas.openxmlformats.org/officeDocument/2006/relationships/notesSlide" Target="/ppt/notesSlides/notesSlide7.xml" Id="Rb3d328a01dce4e6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aedad31ff144100" /><Relationship Type="http://schemas.openxmlformats.org/officeDocument/2006/relationships/notesSlide" Target="/ppt/notesSlides/notesSlide8.xml" Id="R74840c77f54e423d" /></Relationships>
</file>

<file path=ppt/slides/slide1.xml><?xml version="1.0" encoding="utf-8"?>
<p:sld xmlns:p="http://schemas.openxmlformats.org/presentationml/2006/main">
  <p:cSld>
    <p:bg>
      <p:bgPr>
        <a:solidFill xmlns:a="http://schemas.openxmlformats.org/drawingml/2006/main">
          <a:srgbClr val="183B23"/>
        </a:solidFill>
      </p:bgPr>
    </p:bg>
    <p:spTree>
      <p:nvGrpSpPr>
        <p:cNvPr id="1" name=""/>
        <p:cNvGrpSpPr/>
        <p:nvPr/>
      </p:nvGrpSpPr>
      <p:grpSpPr>
        <a:xfrm xmlns:a="http://schemas.openxmlformats.org/drawingml/2006/main"/>
      </p:grpSpPr>
      <p:pic>
        <p:nvPicPr>
          <p:cNvPr id="9" name="" descr="Three similar seedlings in identical pots have different growing media, with equal water cups, a ruler and a blank record sheet."/>
          <p:cNvPicPr>
            <a:picLocks xmlns:a="http://schemas.openxmlformats.org/drawingml/2006/main" noChangeAspect="1"/>
          </p:cNvPicPr>
          <p:nvPr/>
        </p:nvPicPr>
        <p:blipFill>
          <a:blip xmlns:r="http://schemas.openxmlformats.org/officeDocument/2006/relationships" xmlns:a="http://schemas.openxmlformats.org/drawingml/2006/main" r:embed="Rad510942e1c34e4c"/>
          <a:srcRect xmlns:a="http://schemas.openxmlformats.org/drawingml/2006/main" l="24074" t="0" r="24074"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oundRect">
            <a:avLst/>
          </a:prstGeom>
        </p:spPr>
      </p:pic>
      <p:sp>
        <p:nvSpPr>
          <p:cNvPr id="2" name="">
            <a:extLst xmlns:a="http://schemas.openxmlformats.org/drawingml/2006/main">
              <a:ext uri="{FF2B5EF4-FFF2-40B4-BE49-F238E27FC236}">
                <a16:creationId xmlns:a16="http://schemas.microsoft.com/office/drawing/2014/main" id="{0F4B38CB-6913-443D-8434-B358226AF028}"/>
              </a:ext>
            </a:extLst>
          </p:cNvPr>
          <p:cNvSpPr>
            <a:spLocks xmlns:a="http://schemas.openxmlformats.org/drawingml/2006/main" noGrp="1"/>
          </p:cNvSpPr>
          <p:nvPr/>
        </p:nvSpPr>
        <p:spPr>
          <a:xfrm xmlns:a="http://schemas.openxmlformats.org/drawingml/2006/main">
            <a:off x="0" y="0"/>
            <a:ext cx="7381875" cy="6858000"/>
          </a:xfrm>
          <a:prstGeom xmlns:a="http://schemas.openxmlformats.org/drawingml/2006/main" prst="rect">
            <a:avLst/>
          </a:prstGeom>
          <a:solidFill xmlns:a="http://schemas.openxmlformats.org/drawingml/2006/main">
            <a:srgbClr val="183B2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26919B3-88BD-4D64-895E-80E96549382D}"/>
              </a:ext>
            </a:extLst>
          </p:cNvPr>
          <p:cNvSpPr>
            <a:spLocks xmlns:a="http://schemas.openxmlformats.org/drawingml/2006/main" noGrp="1"/>
          </p:cNvSpPr>
          <p:nvPr/>
        </p:nvSpPr>
        <p:spPr>
          <a:xfrm xmlns:a="http://schemas.openxmlformats.org/drawingml/2006/main">
            <a:off x="609600" y="781050"/>
            <a:ext cx="914400" cy="952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1CAA06C-57CA-447C-9A2B-E336AF06E3F7}"/>
              </a:ext>
            </a:extLst>
          </p:cNvPr>
          <p:cNvSpPr>
            <a:spLocks xmlns:a="http://schemas.openxmlformats.org/drawingml/2006/main" noGrp="1"/>
          </p:cNvSpPr>
          <p:nvPr/>
        </p:nvSpPr>
        <p:spPr>
          <a:xfrm xmlns:a="http://schemas.openxmlformats.org/drawingml/2006/main">
            <a:off x="609600" y="11239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FFF4BA"/>
                </a:solidFill>
              </a:defRPr>
            </a:pPr>
            <a:r>
              <a:rPr sz="1350" b="1" i="0">
                <a:solidFill>
                  <a:srgbClr val="FFF4BA"/>
                </a:solidFill>
              </a:rPr>
              <a:t>MODULE 4</a:t>
            </a:r>
          </a:p>
        </p:txBody>
      </p:sp>
      <p:sp>
        <p:nvSpPr>
          <p:cNvPr id="5" name="">
            <a:extLst xmlns:a="http://schemas.openxmlformats.org/drawingml/2006/main">
              <a:ext uri="{FF2B5EF4-FFF2-40B4-BE49-F238E27FC236}">
                <a16:creationId xmlns:a16="http://schemas.microsoft.com/office/drawing/2014/main" id="{D4C8D296-AD0E-4FEE-9386-397B1E61CA5E}"/>
              </a:ext>
            </a:extLst>
          </p:cNvPr>
          <p:cNvSpPr>
            <a:spLocks xmlns:a="http://schemas.openxmlformats.org/drawingml/2006/main" noGrp="1"/>
          </p:cNvSpPr>
          <p:nvPr/>
        </p:nvSpPr>
        <p:spPr>
          <a:xfrm xmlns:a="http://schemas.openxmlformats.org/drawingml/2006/main">
            <a:off x="609600" y="1695450"/>
            <a:ext cx="5715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4050" b="1" i="0">
                <a:solidFill>
                  <a:srgbClr val="FFFFFF"/>
                </a:solidFill>
              </a:defRPr>
            </a:pPr>
            <a:r>
              <a:rPr sz="4050" b="1" i="0">
                <a:solidFill>
                  <a:srgbClr val="FFFFFF"/>
                </a:solidFill>
              </a:rPr>
              <a:t>Soil, Media and Circular Nutrients</a:t>
            </a:r>
          </a:p>
        </p:txBody>
      </p:sp>
      <p:sp>
        <p:nvSpPr>
          <p:cNvPr id="6" name="">
            <a:extLst xmlns:a="http://schemas.openxmlformats.org/drawingml/2006/main">
              <a:ext uri="{FF2B5EF4-FFF2-40B4-BE49-F238E27FC236}">
                <a16:creationId xmlns:a16="http://schemas.microsoft.com/office/drawing/2014/main" id="{67749E4A-BD38-480E-9B7E-459E351E5FBA}"/>
              </a:ext>
            </a:extLst>
          </p:cNvPr>
          <p:cNvSpPr>
            <a:spLocks xmlns:a="http://schemas.openxmlformats.org/drawingml/2006/main" noGrp="1"/>
          </p:cNvSpPr>
          <p:nvPr/>
        </p:nvSpPr>
        <p:spPr>
          <a:xfrm xmlns:a="http://schemas.openxmlformats.org/drawingml/2006/main">
            <a:off x="609600" y="3486150"/>
            <a:ext cx="5429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EAF2E6"/>
                </a:solidFill>
              </a:defRPr>
            </a:pPr>
            <a:r>
              <a:rPr sz="1875" b="0" i="0">
                <a:solidFill>
                  <a:srgbClr val="EAF2E6"/>
                </a:solidFill>
              </a:rPr>
              <a:t>Investigate the root-zone environment, trace nutrient cycling and use a fair test to choose rather than guess.</a:t>
            </a:r>
          </a:p>
        </p:txBody>
      </p:sp>
      <p:sp>
        <p:nvSpPr>
          <p:cNvPr id="7" name="">
            <a:extLst xmlns:a="http://schemas.openxmlformats.org/drawingml/2006/main">
              <a:ext uri="{FF2B5EF4-FFF2-40B4-BE49-F238E27FC236}">
                <a16:creationId xmlns:a16="http://schemas.microsoft.com/office/drawing/2014/main" id="{ADA70983-89C4-4A60-9DCE-05D14BE92CE8}"/>
              </a:ext>
            </a:extLst>
          </p:cNvPr>
          <p:cNvSpPr>
            <a:spLocks xmlns:a="http://schemas.openxmlformats.org/drawingml/2006/main" noGrp="1"/>
          </p:cNvSpPr>
          <p:nvPr/>
        </p:nvSpPr>
        <p:spPr>
          <a:xfrm xmlns:a="http://schemas.openxmlformats.org/drawingml/2006/main">
            <a:off x="609600" y="581025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i="0">
                <a:solidFill>
                  <a:srgbClr val="C8D8C6"/>
                </a:solidFill>
              </a:defRPr>
            </a:pPr>
            <a:r>
              <a:rPr sz="1125" b="1" i="0">
                <a:solidFill>
                  <a:srgbClr val="C8D8C6"/>
                </a:solidFill>
              </a:rPr>
              <a:t>Teacher-led classroom presentation</a:t>
            </a:r>
          </a:p>
        </p:txBody>
      </p:sp>
    </p:spTree>
    <p:extLst>
      <p:ext uri="{BB962C8B-B14F-4D97-AF65-F5344CB8AC3E}">
        <p14:creationId xmlns:p14="http://schemas.microsoft.com/office/powerpoint/2010/main" val="2055144073"/>
      </p:ext>
    </p:extLst>
  </p:cSld>
</p:sld>
</file>

<file path=ppt/slides/slide2.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C764DF6-D5FB-490B-B322-00E1543B92A8}"/>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6E2F20A-33FB-4399-A654-0AFDE5D766CC}"/>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TODAY’S LEARNING PATH</a:t>
            </a:r>
          </a:p>
        </p:txBody>
      </p:sp>
      <p:sp>
        <p:nvSpPr>
          <p:cNvPr id="3" name="">
            <a:extLst xmlns:a="http://schemas.openxmlformats.org/drawingml/2006/main">
              <a:ext uri="{FF2B5EF4-FFF2-40B4-BE49-F238E27FC236}">
                <a16:creationId xmlns:a16="http://schemas.microsoft.com/office/drawing/2014/main" id="{64EF88AD-9E4E-4103-9D84-1C1E0F02DA62}"/>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4  •  SOIL, MEDIA AND CIRCULAR NUTRIENTS</a:t>
            </a:r>
          </a:p>
        </p:txBody>
      </p:sp>
      <p:sp>
        <p:nvSpPr>
          <p:cNvPr id="4" name="">
            <a:extLst xmlns:a="http://schemas.openxmlformats.org/drawingml/2006/main">
              <a:ext uri="{FF2B5EF4-FFF2-40B4-BE49-F238E27FC236}">
                <a16:creationId xmlns:a16="http://schemas.microsoft.com/office/drawing/2014/main" id="{707974B2-BF57-4AD9-8690-7250578E984A}"/>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02</a:t>
            </a:r>
          </a:p>
        </p:txBody>
      </p:sp>
      <p:sp>
        <p:nvSpPr>
          <p:cNvPr id="5" name="">
            <a:extLst xmlns:a="http://schemas.openxmlformats.org/drawingml/2006/main">
              <a:ext uri="{FF2B5EF4-FFF2-40B4-BE49-F238E27FC236}">
                <a16:creationId xmlns:a16="http://schemas.microsoft.com/office/drawing/2014/main" id="{22F49A5E-F115-42C2-84C3-CCD9105AA3EF}"/>
              </a:ext>
            </a:extLst>
          </p:cNvPr>
          <p:cNvSpPr>
            <a:spLocks xmlns:a="http://schemas.openxmlformats.org/drawingml/2006/main" noGrp="1"/>
          </p:cNvSpPr>
          <p:nvPr/>
        </p:nvSpPr>
        <p:spPr>
          <a:xfrm xmlns:a="http://schemas.openxmlformats.org/drawingml/2006/main">
            <a:off x="590550" y="800100"/>
            <a:ext cx="638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Where are we going?</a:t>
            </a:r>
          </a:p>
        </p:txBody>
      </p:sp>
      <p:sp>
        <p:nvSpPr>
          <p:cNvPr id="6" name="">
            <a:extLst xmlns:a="http://schemas.openxmlformats.org/drawingml/2006/main">
              <a:ext uri="{FF2B5EF4-FFF2-40B4-BE49-F238E27FC236}">
                <a16:creationId xmlns:a16="http://schemas.microsoft.com/office/drawing/2014/main" id="{2664DCBF-F863-4BDF-9147-A19D534E4462}"/>
              </a:ext>
            </a:extLst>
          </p:cNvPr>
          <p:cNvSpPr>
            <a:spLocks xmlns:a="http://schemas.openxmlformats.org/drawingml/2006/main" noGrp="1"/>
          </p:cNvSpPr>
          <p:nvPr/>
        </p:nvSpPr>
        <p:spPr>
          <a:xfrm xmlns:a="http://schemas.openxmlformats.org/drawingml/2006/main">
            <a:off x="590550" y="1809750"/>
            <a:ext cx="685800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9DDCF"/>
            </a:solidFill>
            <a:prstDash val="solid"/>
          </a:ln>
        </p:spPr>
      </p:sp>
      <p:sp>
        <p:nvSpPr>
          <p:cNvPr id="7" name="">
            <a:extLst xmlns:a="http://schemas.openxmlformats.org/drawingml/2006/main">
              <a:ext uri="{FF2B5EF4-FFF2-40B4-BE49-F238E27FC236}">
                <a16:creationId xmlns:a16="http://schemas.microsoft.com/office/drawing/2014/main" id="{1EB30E6B-5699-47BE-8E39-A72DBDAFB82C}"/>
              </a:ext>
            </a:extLst>
          </p:cNvPr>
          <p:cNvSpPr>
            <a:spLocks xmlns:a="http://schemas.openxmlformats.org/drawingml/2006/main" noGrp="1"/>
          </p:cNvSpPr>
          <p:nvPr/>
        </p:nvSpPr>
        <p:spPr>
          <a:xfrm xmlns:a="http://schemas.openxmlformats.org/drawingml/2006/main">
            <a:off x="781050" y="2019300"/>
            <a:ext cx="476250" cy="476250"/>
          </a:xfrm>
          <a:prstGeom xmlns:a="http://schemas.openxmlformats.org/drawingml/2006/main" prst="ellipse">
            <a:avLst/>
          </a:prstGeom>
          <a:solidFill xmlns:a="http://schemas.openxmlformats.org/drawingml/2006/main">
            <a:srgbClr val="B6402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6405818-5FA6-4122-8BBC-FB9853C05830}"/>
              </a:ext>
            </a:extLst>
          </p:cNvPr>
          <p:cNvSpPr>
            <a:spLocks xmlns:a="http://schemas.openxmlformats.org/drawingml/2006/main" noGrp="1"/>
          </p:cNvSpPr>
          <p:nvPr/>
        </p:nvSpPr>
        <p:spPr>
          <a:xfrm xmlns:a="http://schemas.openxmlformats.org/drawingml/2006/main">
            <a:off x="781050" y="20193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9" name="">
            <a:extLst xmlns:a="http://schemas.openxmlformats.org/drawingml/2006/main">
              <a:ext uri="{FF2B5EF4-FFF2-40B4-BE49-F238E27FC236}">
                <a16:creationId xmlns:a16="http://schemas.microsoft.com/office/drawing/2014/main" id="{D1EABAE9-CAEC-441D-B950-E756FF118705}"/>
              </a:ext>
            </a:extLst>
          </p:cNvPr>
          <p:cNvSpPr>
            <a:spLocks xmlns:a="http://schemas.openxmlformats.org/drawingml/2006/main" noGrp="1"/>
          </p:cNvSpPr>
          <p:nvPr/>
        </p:nvSpPr>
        <p:spPr>
          <a:xfrm xmlns:a="http://schemas.openxmlformats.org/drawingml/2006/main">
            <a:off x="1466850" y="1971675"/>
            <a:ext cx="552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What makes a growing medium work?</a:t>
            </a:r>
          </a:p>
        </p:txBody>
      </p:sp>
      <p:sp>
        <p:nvSpPr>
          <p:cNvPr id="10" name="">
            <a:extLst xmlns:a="http://schemas.openxmlformats.org/drawingml/2006/main">
              <a:ext uri="{FF2B5EF4-FFF2-40B4-BE49-F238E27FC236}">
                <a16:creationId xmlns:a16="http://schemas.microsoft.com/office/drawing/2014/main" id="{5B50A752-CF5E-4926-A2C0-411B843D339F}"/>
              </a:ext>
            </a:extLst>
          </p:cNvPr>
          <p:cNvSpPr>
            <a:spLocks xmlns:a="http://schemas.openxmlformats.org/drawingml/2006/main" noGrp="1"/>
          </p:cNvSpPr>
          <p:nvPr/>
        </p:nvSpPr>
        <p:spPr>
          <a:xfrm xmlns:a="http://schemas.openxmlformats.org/drawingml/2006/main">
            <a:off x="590550" y="3028950"/>
            <a:ext cx="685800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9DDCF"/>
            </a:solidFill>
            <a:prstDash val="solid"/>
          </a:ln>
        </p:spPr>
      </p:sp>
      <p:sp>
        <p:nvSpPr>
          <p:cNvPr id="11" name="">
            <a:extLst xmlns:a="http://schemas.openxmlformats.org/drawingml/2006/main">
              <a:ext uri="{FF2B5EF4-FFF2-40B4-BE49-F238E27FC236}">
                <a16:creationId xmlns:a16="http://schemas.microsoft.com/office/drawing/2014/main" id="{FD9428F1-8EE8-40BB-9BEE-ADCFE22A7D40}"/>
              </a:ext>
            </a:extLst>
          </p:cNvPr>
          <p:cNvSpPr>
            <a:spLocks xmlns:a="http://schemas.openxmlformats.org/drawingml/2006/main" noGrp="1"/>
          </p:cNvSpPr>
          <p:nvPr/>
        </p:nvSpPr>
        <p:spPr>
          <a:xfrm xmlns:a="http://schemas.openxmlformats.org/drawingml/2006/main">
            <a:off x="781050" y="3238500"/>
            <a:ext cx="476250" cy="4762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C971E9A-A27B-422A-92DE-FAD4879B8572}"/>
              </a:ext>
            </a:extLst>
          </p:cNvPr>
          <p:cNvSpPr>
            <a:spLocks xmlns:a="http://schemas.openxmlformats.org/drawingml/2006/main" noGrp="1"/>
          </p:cNvSpPr>
          <p:nvPr/>
        </p:nvSpPr>
        <p:spPr>
          <a:xfrm xmlns:a="http://schemas.openxmlformats.org/drawingml/2006/main">
            <a:off x="781050" y="32385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183B23"/>
                </a:solidFill>
              </a:defRPr>
            </a:pPr>
            <a:r>
              <a:rPr sz="1500" b="1" i="0">
                <a:solidFill>
                  <a:srgbClr val="183B23"/>
                </a:solidFill>
              </a:rPr>
              <a:t>2</a:t>
            </a:r>
          </a:p>
        </p:txBody>
      </p:sp>
      <p:sp>
        <p:nvSpPr>
          <p:cNvPr id="13" name="">
            <a:extLst xmlns:a="http://schemas.openxmlformats.org/drawingml/2006/main">
              <a:ext uri="{FF2B5EF4-FFF2-40B4-BE49-F238E27FC236}">
                <a16:creationId xmlns:a16="http://schemas.microsoft.com/office/drawing/2014/main" id="{A0BC1B1C-DAD5-42D0-A129-C750D54F0CCC}"/>
              </a:ext>
            </a:extLst>
          </p:cNvPr>
          <p:cNvSpPr>
            <a:spLocks xmlns:a="http://schemas.openxmlformats.org/drawingml/2006/main" noGrp="1"/>
          </p:cNvSpPr>
          <p:nvPr/>
        </p:nvSpPr>
        <p:spPr>
          <a:xfrm xmlns:a="http://schemas.openxmlformats.org/drawingml/2006/main">
            <a:off x="1466850" y="3190875"/>
            <a:ext cx="552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Nutrients, compost and circular farming</a:t>
            </a:r>
          </a:p>
        </p:txBody>
      </p:sp>
      <p:sp>
        <p:nvSpPr>
          <p:cNvPr id="14" name="">
            <a:extLst xmlns:a="http://schemas.openxmlformats.org/drawingml/2006/main">
              <a:ext uri="{FF2B5EF4-FFF2-40B4-BE49-F238E27FC236}">
                <a16:creationId xmlns:a16="http://schemas.microsoft.com/office/drawing/2014/main" id="{99937E30-FCD7-4D8F-A849-AF7F7084B8B8}"/>
              </a:ext>
            </a:extLst>
          </p:cNvPr>
          <p:cNvSpPr>
            <a:spLocks xmlns:a="http://schemas.openxmlformats.org/drawingml/2006/main" noGrp="1"/>
          </p:cNvSpPr>
          <p:nvPr/>
        </p:nvSpPr>
        <p:spPr>
          <a:xfrm xmlns:a="http://schemas.openxmlformats.org/drawingml/2006/main">
            <a:off x="590550" y="4248150"/>
            <a:ext cx="685800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9DDCF"/>
            </a:solidFill>
            <a:prstDash val="solid"/>
          </a:ln>
        </p:spPr>
      </p:sp>
      <p:sp>
        <p:nvSpPr>
          <p:cNvPr id="15" name="">
            <a:extLst xmlns:a="http://schemas.openxmlformats.org/drawingml/2006/main">
              <a:ext uri="{FF2B5EF4-FFF2-40B4-BE49-F238E27FC236}">
                <a16:creationId xmlns:a16="http://schemas.microsoft.com/office/drawing/2014/main" id="{F5967009-491E-4EDE-A066-5CC3F9F74DEE}"/>
              </a:ext>
            </a:extLst>
          </p:cNvPr>
          <p:cNvSpPr>
            <a:spLocks xmlns:a="http://schemas.openxmlformats.org/drawingml/2006/main" noGrp="1"/>
          </p:cNvSpPr>
          <p:nvPr/>
        </p:nvSpPr>
        <p:spPr>
          <a:xfrm xmlns:a="http://schemas.openxmlformats.org/drawingml/2006/main">
            <a:off x="781050" y="4457700"/>
            <a:ext cx="476250" cy="4762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9D2812D-AE99-47B6-8EDE-D1A947CB3ECA}"/>
              </a:ext>
            </a:extLst>
          </p:cNvPr>
          <p:cNvSpPr>
            <a:spLocks xmlns:a="http://schemas.openxmlformats.org/drawingml/2006/main" noGrp="1"/>
          </p:cNvSpPr>
          <p:nvPr/>
        </p:nvSpPr>
        <p:spPr>
          <a:xfrm xmlns:a="http://schemas.openxmlformats.org/drawingml/2006/main">
            <a:off x="781050" y="44577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183B23"/>
                </a:solidFill>
              </a:defRPr>
            </a:pPr>
            <a:r>
              <a:rPr sz="1500" b="1" i="0">
                <a:solidFill>
                  <a:srgbClr val="183B23"/>
                </a:solidFill>
              </a:rPr>
              <a:t>3</a:t>
            </a:r>
          </a:p>
        </p:txBody>
      </p:sp>
      <p:sp>
        <p:nvSpPr>
          <p:cNvPr id="17" name="">
            <a:extLst xmlns:a="http://schemas.openxmlformats.org/drawingml/2006/main">
              <a:ext uri="{FF2B5EF4-FFF2-40B4-BE49-F238E27FC236}">
                <a16:creationId xmlns:a16="http://schemas.microsoft.com/office/drawing/2014/main" id="{5B5D17FD-FDDA-4C5A-8178-D78E29A5B8C4}"/>
              </a:ext>
            </a:extLst>
          </p:cNvPr>
          <p:cNvSpPr>
            <a:spLocks xmlns:a="http://schemas.openxmlformats.org/drawingml/2006/main" noGrp="1"/>
          </p:cNvSpPr>
          <p:nvPr/>
        </p:nvSpPr>
        <p:spPr>
          <a:xfrm xmlns:a="http://schemas.openxmlformats.org/drawingml/2006/main">
            <a:off x="1466850" y="4410075"/>
            <a:ext cx="552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Run a fair media test</a:t>
            </a:r>
          </a:p>
        </p:txBody>
      </p:sp>
      <p:sp>
        <p:nvSpPr>
          <p:cNvPr id="18" name="">
            <a:extLst xmlns:a="http://schemas.openxmlformats.org/drawingml/2006/main">
              <a:ext uri="{FF2B5EF4-FFF2-40B4-BE49-F238E27FC236}">
                <a16:creationId xmlns:a16="http://schemas.microsoft.com/office/drawing/2014/main" id="{DB331E45-8CDF-400A-BAB1-913B136E22DE}"/>
              </a:ext>
            </a:extLst>
          </p:cNvPr>
          <p:cNvSpPr>
            <a:spLocks xmlns:a="http://schemas.openxmlformats.org/drawingml/2006/main" noGrp="1"/>
          </p:cNvSpPr>
          <p:nvPr/>
        </p:nvSpPr>
        <p:spPr>
          <a:xfrm xmlns:a="http://schemas.openxmlformats.org/drawingml/2006/main">
            <a:off x="7905750" y="1809750"/>
            <a:ext cx="3619500" cy="3333750"/>
          </a:xfrm>
          <a:prstGeom xmlns:a="http://schemas.openxmlformats.org/drawingml/2006/main" prst="roundRect">
            <a:avLst>
              <a:gd name="adj" fmla="val 3429"/>
            </a:avLst>
          </a:prstGeom>
          <a:solidFill xmlns:a="http://schemas.openxmlformats.org/drawingml/2006/main">
            <a:srgbClr val="183B2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8671C55-A884-426D-BBEF-A952CCB5C597}"/>
              </a:ext>
            </a:extLst>
          </p:cNvPr>
          <p:cNvSpPr>
            <a:spLocks xmlns:a="http://schemas.openxmlformats.org/drawingml/2006/main" noGrp="1"/>
          </p:cNvSpPr>
          <p:nvPr/>
        </p:nvSpPr>
        <p:spPr>
          <a:xfrm xmlns:a="http://schemas.openxmlformats.org/drawingml/2006/main">
            <a:off x="8239125" y="21336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i="0">
                <a:solidFill>
                  <a:srgbClr val="FFF4BA"/>
                </a:solidFill>
              </a:defRPr>
            </a:pPr>
            <a:r>
              <a:rPr sz="1125" b="1" i="0">
                <a:solidFill>
                  <a:srgbClr val="FFF4BA"/>
                </a:solidFill>
              </a:rPr>
              <a:t>RETRIEVAL WARM-UP</a:t>
            </a:r>
          </a:p>
        </p:txBody>
      </p:sp>
      <p:sp>
        <p:nvSpPr>
          <p:cNvPr id="20" name="">
            <a:extLst xmlns:a="http://schemas.openxmlformats.org/drawingml/2006/main">
              <a:ext uri="{FF2B5EF4-FFF2-40B4-BE49-F238E27FC236}">
                <a16:creationId xmlns:a16="http://schemas.microsoft.com/office/drawing/2014/main" id="{455C4CBA-5FAE-4F62-BC1A-C07DAE27AD51}"/>
              </a:ext>
            </a:extLst>
          </p:cNvPr>
          <p:cNvSpPr>
            <a:spLocks xmlns:a="http://schemas.openxmlformats.org/drawingml/2006/main" noGrp="1"/>
          </p:cNvSpPr>
          <p:nvPr/>
        </p:nvSpPr>
        <p:spPr>
          <a:xfrm xmlns:a="http://schemas.openxmlformats.org/drawingml/2006/main">
            <a:off x="8239125" y="2619375"/>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i="0">
                <a:solidFill>
                  <a:srgbClr val="FFFFFF"/>
                </a:solidFill>
              </a:defRPr>
            </a:pPr>
            <a:r>
              <a:rPr sz="2100" b="1" i="0">
                <a:solidFill>
                  <a:srgbClr val="FFFFFF"/>
                </a:solidFill>
              </a:rPr>
              <a:t>What do you already know?</a:t>
            </a:r>
          </a:p>
        </p:txBody>
      </p:sp>
      <p:sp>
        <p:nvSpPr>
          <p:cNvPr id="21" name="">
            <a:extLst xmlns:a="http://schemas.openxmlformats.org/drawingml/2006/main">
              <a:ext uri="{FF2B5EF4-FFF2-40B4-BE49-F238E27FC236}">
                <a16:creationId xmlns:a16="http://schemas.microsoft.com/office/drawing/2014/main" id="{5C7F7A4D-109E-475B-8EE3-8A7C810AF7E9}"/>
              </a:ext>
            </a:extLst>
          </p:cNvPr>
          <p:cNvSpPr>
            <a:spLocks xmlns:a="http://schemas.openxmlformats.org/drawingml/2006/main" noGrp="1"/>
          </p:cNvSpPr>
          <p:nvPr/>
        </p:nvSpPr>
        <p:spPr>
          <a:xfrm xmlns:a="http://schemas.openxmlformats.org/drawingml/2006/main">
            <a:off x="8239125" y="3429000"/>
            <a:ext cx="2857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i="0">
                <a:solidFill>
                  <a:srgbClr val="EAF2E6"/>
                </a:solidFill>
              </a:defRPr>
            </a:pPr>
            <a:r>
              <a:rPr sz="1500" b="0" i="0">
                <a:solidFill>
                  <a:srgbClr val="EAF2E6"/>
                </a:solidFill>
              </a:rPr>
              <a:t>1. Define one key word from the module.</a:t>
            </a:r>
          </a:p>
          <a:p xmlns:a="http://schemas.openxmlformats.org/drawingml/2006/main">
            <a:r>
              <a:t/>
            </a:r>
          </a:p>
          <a:p xmlns:a="http://schemas.openxmlformats.org/drawingml/2006/main">
            <a:pPr algn="l">
              <a:buNone/>
              <a:defRPr sz="1500" b="0" i="0">
                <a:solidFill>
                  <a:srgbClr val="EAF2E6"/>
                </a:solidFill>
              </a:defRPr>
            </a:pPr>
            <a:r>
              <a:rPr sz="1500" b="0" i="0">
                <a:solidFill>
                  <a:srgbClr val="EAF2E6"/>
                </a:solidFill>
              </a:rPr>
              <a:t>2. Predict one practical or design decision.</a:t>
            </a:r>
          </a:p>
          <a:p xmlns:a="http://schemas.openxmlformats.org/drawingml/2006/main">
            <a:r>
              <a:t/>
            </a:r>
          </a:p>
          <a:p xmlns:a="http://schemas.openxmlformats.org/drawingml/2006/main">
            <a:pPr algn="l">
              <a:buNone/>
              <a:defRPr sz="1500" b="0" i="0">
                <a:solidFill>
                  <a:srgbClr val="EAF2E6"/>
                </a:solidFill>
              </a:defRPr>
            </a:pPr>
            <a:r>
              <a:rPr sz="1500" b="0" i="0">
                <a:solidFill>
                  <a:srgbClr val="EAF2E6"/>
                </a:solidFill>
              </a:rPr>
              <a:t>3. Name one question you have.</a:t>
            </a:r>
          </a:p>
        </p:txBody>
      </p:sp>
    </p:spTree>
    <p:extLst>
      <p:ext uri="{BB962C8B-B14F-4D97-AF65-F5344CB8AC3E}">
        <p14:creationId xmlns:p14="http://schemas.microsoft.com/office/powerpoint/2010/main" val="1029275188"/>
      </p:ext>
    </p:extLst>
  </p:cSld>
</p:sld>
</file>

<file path=ppt/slides/slide3.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0DF58F3-BE9C-4870-85F1-47788D500995}"/>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5C314EE-118F-45F0-8BC5-6880EBE6D3C4}"/>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4.1 WHAT MAKES A GROWING MEDIUM WORK?</a:t>
            </a:r>
          </a:p>
        </p:txBody>
      </p:sp>
      <p:sp>
        <p:nvSpPr>
          <p:cNvPr id="3" name="">
            <a:extLst xmlns:a="http://schemas.openxmlformats.org/drawingml/2006/main">
              <a:ext uri="{FF2B5EF4-FFF2-40B4-BE49-F238E27FC236}">
                <a16:creationId xmlns:a16="http://schemas.microsoft.com/office/drawing/2014/main" id="{4E7EE43A-D278-4374-A2FC-2C223A783F09}"/>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4  •  SOIL, MEDIA AND CIRCULAR NUTRIENTS</a:t>
            </a:r>
          </a:p>
        </p:txBody>
      </p:sp>
      <p:sp>
        <p:nvSpPr>
          <p:cNvPr id="4" name="">
            <a:extLst xmlns:a="http://schemas.openxmlformats.org/drawingml/2006/main">
              <a:ext uri="{FF2B5EF4-FFF2-40B4-BE49-F238E27FC236}">
                <a16:creationId xmlns:a16="http://schemas.microsoft.com/office/drawing/2014/main" id="{BEAD7634-21B6-4E92-B5D7-E97D673A689B}"/>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03</a:t>
            </a:r>
          </a:p>
        </p:txBody>
      </p:sp>
      <p:sp>
        <p:nvSpPr>
          <p:cNvPr id="5" name="">
            <a:extLst xmlns:a="http://schemas.openxmlformats.org/drawingml/2006/main">
              <a:ext uri="{FF2B5EF4-FFF2-40B4-BE49-F238E27FC236}">
                <a16:creationId xmlns:a16="http://schemas.microsoft.com/office/drawing/2014/main" id="{B24DDD1C-BF3B-4506-A7C7-A337240DF2BB}"/>
              </a:ext>
            </a:extLst>
          </p:cNvPr>
          <p:cNvSpPr>
            <a:spLocks xmlns:a="http://schemas.openxmlformats.org/drawingml/2006/main" noGrp="1"/>
          </p:cNvSpPr>
          <p:nvPr/>
        </p:nvSpPr>
        <p:spPr>
          <a:xfrm xmlns:a="http://schemas.openxmlformats.org/drawingml/2006/main">
            <a:off x="590550" y="800100"/>
            <a:ext cx="657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What makes a growing medium work?</a:t>
            </a:r>
          </a:p>
        </p:txBody>
      </p:sp>
      <p:sp>
        <p:nvSpPr>
          <p:cNvPr id="6" name="">
            <a:extLst xmlns:a="http://schemas.openxmlformats.org/drawingml/2006/main">
              <a:ext uri="{FF2B5EF4-FFF2-40B4-BE49-F238E27FC236}">
                <a16:creationId xmlns:a16="http://schemas.microsoft.com/office/drawing/2014/main" id="{C3B0D884-D6A8-446B-B1BC-C8BB948F3E1E}"/>
              </a:ext>
            </a:extLst>
          </p:cNvPr>
          <p:cNvSpPr>
            <a:spLocks xmlns:a="http://schemas.openxmlformats.org/drawingml/2006/main" noGrp="1"/>
          </p:cNvSpPr>
          <p:nvPr/>
        </p:nvSpPr>
        <p:spPr>
          <a:xfrm xmlns:a="http://schemas.openxmlformats.org/drawingml/2006/main">
            <a:off x="590550" y="15240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THREE IDEAS TO PUT ON THE BOARD</a:t>
            </a:r>
          </a:p>
        </p:txBody>
      </p:sp>
      <p:sp>
        <p:nvSpPr>
          <p:cNvPr id="7" name="">
            <a:extLst xmlns:a="http://schemas.openxmlformats.org/drawingml/2006/main">
              <a:ext uri="{FF2B5EF4-FFF2-40B4-BE49-F238E27FC236}">
                <a16:creationId xmlns:a16="http://schemas.microsoft.com/office/drawing/2014/main" id="{D1CE2420-BD55-44A5-8888-631834212A45}"/>
              </a:ext>
            </a:extLst>
          </p:cNvPr>
          <p:cNvSpPr>
            <a:spLocks xmlns:a="http://schemas.openxmlformats.org/drawingml/2006/main" noGrp="1"/>
          </p:cNvSpPr>
          <p:nvPr/>
        </p:nvSpPr>
        <p:spPr>
          <a:xfrm xmlns:a="http://schemas.openxmlformats.org/drawingml/2006/main">
            <a:off x="647700" y="2181225"/>
            <a:ext cx="209550" cy="209550"/>
          </a:xfrm>
          <a:prstGeom xmlns:a="http://schemas.openxmlformats.org/drawingml/2006/main" prst="ellipse">
            <a:avLst/>
          </a:prstGeom>
          <a:solidFill xmlns:a="http://schemas.openxmlformats.org/drawingml/2006/main">
            <a:srgbClr val="B6402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C12CE3C-F83D-4812-9E87-3C4F90ED1C2C}"/>
              </a:ext>
            </a:extLst>
          </p:cNvPr>
          <p:cNvSpPr>
            <a:spLocks xmlns:a="http://schemas.openxmlformats.org/drawingml/2006/main" noGrp="1"/>
          </p:cNvSpPr>
          <p:nvPr/>
        </p:nvSpPr>
        <p:spPr>
          <a:xfrm xmlns:a="http://schemas.openxmlformats.org/drawingml/2006/main">
            <a:off x="1009650" y="20955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Growing media create the root-zone environment.</a:t>
            </a:r>
          </a:p>
        </p:txBody>
      </p:sp>
      <p:sp>
        <p:nvSpPr>
          <p:cNvPr id="9" name="">
            <a:extLst xmlns:a="http://schemas.openxmlformats.org/drawingml/2006/main">
              <a:ext uri="{FF2B5EF4-FFF2-40B4-BE49-F238E27FC236}">
                <a16:creationId xmlns:a16="http://schemas.microsoft.com/office/drawing/2014/main" id="{B1177556-B569-4B9B-85EE-92C3AC7ECD6B}"/>
              </a:ext>
            </a:extLst>
          </p:cNvPr>
          <p:cNvSpPr>
            <a:spLocks xmlns:a="http://schemas.openxmlformats.org/drawingml/2006/main" noGrp="1"/>
          </p:cNvSpPr>
          <p:nvPr/>
        </p:nvSpPr>
        <p:spPr>
          <a:xfrm xmlns:a="http://schemas.openxmlformats.org/drawingml/2006/main">
            <a:off x="647700" y="29813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4665F86-7C56-4AA0-843C-C6EC3D15488D}"/>
              </a:ext>
            </a:extLst>
          </p:cNvPr>
          <p:cNvSpPr>
            <a:spLocks xmlns:a="http://schemas.openxmlformats.org/drawingml/2006/main" noGrp="1"/>
          </p:cNvSpPr>
          <p:nvPr/>
        </p:nvSpPr>
        <p:spPr>
          <a:xfrm xmlns:a="http://schemas.openxmlformats.org/drawingml/2006/main">
            <a:off x="1009650" y="28956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Water holding, drainage, aeration, support and other properties interact, so selection requires context and evidence.</a:t>
            </a:r>
          </a:p>
        </p:txBody>
      </p:sp>
      <p:sp>
        <p:nvSpPr>
          <p:cNvPr id="11" name="">
            <a:extLst xmlns:a="http://schemas.openxmlformats.org/drawingml/2006/main">
              <a:ext uri="{FF2B5EF4-FFF2-40B4-BE49-F238E27FC236}">
                <a16:creationId xmlns:a16="http://schemas.microsoft.com/office/drawing/2014/main" id="{3D185380-52C9-426D-9238-6442FFD065E0}"/>
              </a:ext>
            </a:extLst>
          </p:cNvPr>
          <p:cNvSpPr>
            <a:spLocks xmlns:a="http://schemas.openxmlformats.org/drawingml/2006/main" noGrp="1"/>
          </p:cNvSpPr>
          <p:nvPr/>
        </p:nvSpPr>
        <p:spPr>
          <a:xfrm xmlns:a="http://schemas.openxmlformats.org/drawingml/2006/main">
            <a:off x="647700" y="37814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29A4145-1E5B-49D1-8F00-B88DECC8680C}"/>
              </a:ext>
            </a:extLst>
          </p:cNvPr>
          <p:cNvSpPr>
            <a:spLocks xmlns:a="http://schemas.openxmlformats.org/drawingml/2006/main" noGrp="1"/>
          </p:cNvSpPr>
          <p:nvPr/>
        </p:nvSpPr>
        <p:spPr>
          <a:xfrm xmlns:a="http://schemas.openxmlformats.org/drawingml/2006/main">
            <a:off x="1009650" y="36957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Roots need a suitable balance of water and oxygen as well as support; excessive water retention can reduce aeration.</a:t>
            </a:r>
          </a:p>
        </p:txBody>
      </p:sp>
      <p:pic>
        <p:nvPicPr>
          <p:cNvPr id="30" name="" descr="Three clear test columns compare coarse, balanced and compacted growing media as water drains into cups below."/>
          <p:cNvPicPr>
            <a:picLocks xmlns:a="http://schemas.openxmlformats.org/drawingml/2006/main" noChangeAspect="1"/>
          </p:cNvPicPr>
          <p:nvPr/>
        </p:nvPicPr>
        <p:blipFill>
          <a:blip xmlns:r="http://schemas.openxmlformats.org/officeDocument/2006/relationships" xmlns:a="http://schemas.openxmlformats.org/drawingml/2006/main" r:embed="R41268e1712a24e19"/>
          <a:srcRect xmlns:a="http://schemas.openxmlformats.org/drawingml/2006/main" l="12500" t="0" r="12500" b="0"/>
          <a:stretch xmlns:a="http://schemas.openxmlformats.org/drawingml/2006/main">
            <a:fillRect l="0" t="0" r="0" b="0"/>
          </a:stretch>
        </p:blipFill>
        <p:spPr>
          <a:xfrm xmlns:a="http://schemas.openxmlformats.org/drawingml/2006/main">
            <a:off x="7667625" y="1238250"/>
            <a:ext cx="3857625" cy="3429000"/>
          </a:xfrm>
          <a:prstGeom xmlns:a="http://schemas.openxmlformats.org/drawingml/2006/main" prst="roundRect">
            <a:avLst/>
          </a:prstGeom>
        </p:spPr>
      </p:pic>
      <p:sp>
        <p:nvSpPr>
          <p:cNvPr id="14" name="">
            <a:extLst xmlns:a="http://schemas.openxmlformats.org/drawingml/2006/main">
              <a:ext uri="{FF2B5EF4-FFF2-40B4-BE49-F238E27FC236}">
                <a16:creationId xmlns:a16="http://schemas.microsoft.com/office/drawing/2014/main" id="{C4306393-E790-4206-8D2B-D3C133C392F3}"/>
              </a:ext>
            </a:extLst>
          </p:cNvPr>
          <p:cNvSpPr>
            <a:spLocks xmlns:a="http://schemas.openxmlformats.org/drawingml/2006/main" noGrp="1"/>
          </p:cNvSpPr>
          <p:nvPr/>
        </p:nvSpPr>
        <p:spPr>
          <a:xfrm xmlns:a="http://schemas.openxmlformats.org/drawingml/2006/main">
            <a:off x="7667625" y="4905375"/>
            <a:ext cx="3857625" cy="1000125"/>
          </a:xfrm>
          <a:prstGeom xmlns:a="http://schemas.openxmlformats.org/drawingml/2006/main" prst="roundRect">
            <a:avLst>
              <a:gd name="adj" fmla="val 11429"/>
            </a:avLst>
          </a:prstGeom>
          <a:solidFill xmlns:a="http://schemas.openxmlformats.org/drawingml/2006/main">
            <a:srgbClr val="E8EFE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9A5DBC1-A452-4A14-A25D-D7819B47F134}"/>
              </a:ext>
            </a:extLst>
          </p:cNvPr>
          <p:cNvSpPr>
            <a:spLocks xmlns:a="http://schemas.openxmlformats.org/drawingml/2006/main" noGrp="1"/>
          </p:cNvSpPr>
          <p:nvPr/>
        </p:nvSpPr>
        <p:spPr>
          <a:xfrm xmlns:a="http://schemas.openxmlformats.org/drawingml/2006/main">
            <a:off x="7905750" y="5048250"/>
            <a:ext cx="3381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183B23"/>
                </a:solidFill>
              </a:defRPr>
            </a:pPr>
            <a:r>
              <a:rPr sz="1350" b="1" i="0">
                <a:solidFill>
                  <a:srgbClr val="183B23"/>
                </a:solidFill>
              </a:rPr>
              <a:t>ASK THE ROOM</a:t>
            </a:r>
          </a:p>
          <a:p xmlns:a="http://schemas.openxmlformats.org/drawingml/2006/main">
            <a:pPr algn="l">
              <a:buNone/>
              <a:defRPr sz="1350" b="1" i="0">
                <a:solidFill>
                  <a:srgbClr val="183B23"/>
                </a:solidFill>
              </a:defRPr>
            </a:pPr>
            <a:r>
              <a:rPr sz="1350" b="1" i="0">
                <a:solidFill>
                  <a:srgbClr val="183B23"/>
                </a:solidFill>
              </a:rPr>
              <a:t>How would you correct this idea? “The best growing medium is always the one that holds the most water.”</a:t>
            </a:r>
          </a:p>
        </p:txBody>
      </p:sp>
    </p:spTree>
    <p:extLst>
      <p:ext uri="{BB962C8B-B14F-4D97-AF65-F5344CB8AC3E}">
        <p14:creationId xmlns:p14="http://schemas.microsoft.com/office/powerpoint/2010/main" val="1737911104"/>
      </p:ext>
    </p:extLst>
  </p:cSld>
</p:sld>
</file>

<file path=ppt/slides/slide4.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03119BD-03D6-4381-B400-AFC0DD80F288}"/>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B111884-BDF2-4523-BC6C-8B942E2E2B79}"/>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4.2 NUTRIENTS, COMPOST AND CIRCULAR FARMING</a:t>
            </a:r>
          </a:p>
        </p:txBody>
      </p:sp>
      <p:sp>
        <p:nvSpPr>
          <p:cNvPr id="3" name="">
            <a:extLst xmlns:a="http://schemas.openxmlformats.org/drawingml/2006/main">
              <a:ext uri="{FF2B5EF4-FFF2-40B4-BE49-F238E27FC236}">
                <a16:creationId xmlns:a16="http://schemas.microsoft.com/office/drawing/2014/main" id="{DBA3CE0A-AF7D-453E-B5A9-CDD3A3EEBE63}"/>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4  •  SOIL, MEDIA AND CIRCULAR NUTRIENTS</a:t>
            </a:r>
          </a:p>
        </p:txBody>
      </p:sp>
      <p:sp>
        <p:nvSpPr>
          <p:cNvPr id="4" name="">
            <a:extLst xmlns:a="http://schemas.openxmlformats.org/drawingml/2006/main">
              <a:ext uri="{FF2B5EF4-FFF2-40B4-BE49-F238E27FC236}">
                <a16:creationId xmlns:a16="http://schemas.microsoft.com/office/drawing/2014/main" id="{5451726D-8311-4587-9400-136425CD3349}"/>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04</a:t>
            </a:r>
          </a:p>
        </p:txBody>
      </p:sp>
      <p:sp>
        <p:nvSpPr>
          <p:cNvPr id="5" name="">
            <a:extLst xmlns:a="http://schemas.openxmlformats.org/drawingml/2006/main">
              <a:ext uri="{FF2B5EF4-FFF2-40B4-BE49-F238E27FC236}">
                <a16:creationId xmlns:a16="http://schemas.microsoft.com/office/drawing/2014/main" id="{33768F29-2926-4085-AB26-A836751C99FE}"/>
              </a:ext>
            </a:extLst>
          </p:cNvPr>
          <p:cNvSpPr>
            <a:spLocks xmlns:a="http://schemas.openxmlformats.org/drawingml/2006/main" noGrp="1"/>
          </p:cNvSpPr>
          <p:nvPr/>
        </p:nvSpPr>
        <p:spPr>
          <a:xfrm xmlns:a="http://schemas.openxmlformats.org/drawingml/2006/main">
            <a:off x="590550" y="800100"/>
            <a:ext cx="657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Nutrients, compost and circular farming</a:t>
            </a:r>
          </a:p>
        </p:txBody>
      </p:sp>
      <p:sp>
        <p:nvSpPr>
          <p:cNvPr id="6" name="">
            <a:extLst xmlns:a="http://schemas.openxmlformats.org/drawingml/2006/main">
              <a:ext uri="{FF2B5EF4-FFF2-40B4-BE49-F238E27FC236}">
                <a16:creationId xmlns:a16="http://schemas.microsoft.com/office/drawing/2014/main" id="{617DC410-5FFF-4A27-891E-5E9033C1AA37}"/>
              </a:ext>
            </a:extLst>
          </p:cNvPr>
          <p:cNvSpPr>
            <a:spLocks xmlns:a="http://schemas.openxmlformats.org/drawingml/2006/main" noGrp="1"/>
          </p:cNvSpPr>
          <p:nvPr/>
        </p:nvSpPr>
        <p:spPr>
          <a:xfrm xmlns:a="http://schemas.openxmlformats.org/drawingml/2006/main">
            <a:off x="590550" y="15240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THREE IDEAS TO PUT ON THE BOARD</a:t>
            </a:r>
          </a:p>
        </p:txBody>
      </p:sp>
      <p:sp>
        <p:nvSpPr>
          <p:cNvPr id="7" name="">
            <a:extLst xmlns:a="http://schemas.openxmlformats.org/drawingml/2006/main">
              <a:ext uri="{FF2B5EF4-FFF2-40B4-BE49-F238E27FC236}">
                <a16:creationId xmlns:a16="http://schemas.microsoft.com/office/drawing/2014/main" id="{3F869904-F6F6-4EAC-831E-8B050C8280AF}"/>
              </a:ext>
            </a:extLst>
          </p:cNvPr>
          <p:cNvSpPr>
            <a:spLocks xmlns:a="http://schemas.openxmlformats.org/drawingml/2006/main" noGrp="1"/>
          </p:cNvSpPr>
          <p:nvPr/>
        </p:nvSpPr>
        <p:spPr>
          <a:xfrm xmlns:a="http://schemas.openxmlformats.org/drawingml/2006/main">
            <a:off x="647700" y="2181225"/>
            <a:ext cx="209550" cy="209550"/>
          </a:xfrm>
          <a:prstGeom xmlns:a="http://schemas.openxmlformats.org/drawingml/2006/main" prst="ellipse">
            <a:avLst/>
          </a:prstGeom>
          <a:solidFill xmlns:a="http://schemas.openxmlformats.org/drawingml/2006/main">
            <a:srgbClr val="B6402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BDE0F5F-41D0-4528-A6EA-D066DA13A43E}"/>
              </a:ext>
            </a:extLst>
          </p:cNvPr>
          <p:cNvSpPr>
            <a:spLocks xmlns:a="http://schemas.openxmlformats.org/drawingml/2006/main" noGrp="1"/>
          </p:cNvSpPr>
          <p:nvPr/>
        </p:nvSpPr>
        <p:spPr>
          <a:xfrm xmlns:a="http://schemas.openxmlformats.org/drawingml/2006/main">
            <a:off x="1009650" y="20955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Plants make sugars and take up mineral nutrients.</a:t>
            </a:r>
          </a:p>
        </p:txBody>
      </p:sp>
      <p:sp>
        <p:nvSpPr>
          <p:cNvPr id="9" name="">
            <a:extLst xmlns:a="http://schemas.openxmlformats.org/drawingml/2006/main">
              <a:ext uri="{FF2B5EF4-FFF2-40B4-BE49-F238E27FC236}">
                <a16:creationId xmlns:a16="http://schemas.microsoft.com/office/drawing/2014/main" id="{86B0C5EB-6423-4BCF-AC50-4A5B9F5BDFCE}"/>
              </a:ext>
            </a:extLst>
          </p:cNvPr>
          <p:cNvSpPr>
            <a:spLocks xmlns:a="http://schemas.openxmlformats.org/drawingml/2006/main" noGrp="1"/>
          </p:cNvSpPr>
          <p:nvPr/>
        </p:nvSpPr>
        <p:spPr>
          <a:xfrm xmlns:a="http://schemas.openxmlformats.org/drawingml/2006/main">
            <a:off x="647700" y="29813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59477B6-E6FB-435D-9506-45210B7653D4}"/>
              </a:ext>
            </a:extLst>
          </p:cNvPr>
          <p:cNvSpPr>
            <a:spLocks xmlns:a="http://schemas.openxmlformats.org/drawingml/2006/main" noGrp="1"/>
          </p:cNvSpPr>
          <p:nvPr/>
        </p:nvSpPr>
        <p:spPr>
          <a:xfrm xmlns:a="http://schemas.openxmlformats.org/drawingml/2006/main">
            <a:off x="1009650" y="28956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Decomposition returns materials to nutrient cycles.</a:t>
            </a:r>
          </a:p>
        </p:txBody>
      </p:sp>
      <p:sp>
        <p:nvSpPr>
          <p:cNvPr id="11" name="">
            <a:extLst xmlns:a="http://schemas.openxmlformats.org/drawingml/2006/main">
              <a:ext uri="{FF2B5EF4-FFF2-40B4-BE49-F238E27FC236}">
                <a16:creationId xmlns:a16="http://schemas.microsoft.com/office/drawing/2014/main" id="{1B51CBFA-A513-4722-9611-5D360B6F5A46}"/>
              </a:ext>
            </a:extLst>
          </p:cNvPr>
          <p:cNvSpPr>
            <a:spLocks xmlns:a="http://schemas.openxmlformats.org/drawingml/2006/main" noGrp="1"/>
          </p:cNvSpPr>
          <p:nvPr/>
        </p:nvSpPr>
        <p:spPr>
          <a:xfrm xmlns:a="http://schemas.openxmlformats.org/drawingml/2006/main">
            <a:off x="647700" y="37814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CC9FF56-DB5A-497B-88CE-0459B338E987}"/>
              </a:ext>
            </a:extLst>
          </p:cNvPr>
          <p:cNvSpPr>
            <a:spLocks xmlns:a="http://schemas.openxmlformats.org/drawingml/2006/main" noGrp="1"/>
          </p:cNvSpPr>
          <p:nvPr/>
        </p:nvSpPr>
        <p:spPr>
          <a:xfrm xmlns:a="http://schemas.openxmlformats.org/drawingml/2006/main">
            <a:off x="1009650" y="36957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Plants make sugars through photosynthesis; compost may contribute organic matter and nutrient cycling.</a:t>
            </a:r>
          </a:p>
        </p:txBody>
      </p:sp>
      <p:pic>
        <p:nvPicPr>
          <p:cNvPr id="30" name="" descr="Dry leaves and plant trimmings sit beside a compost tub, finished compost and a healthy container crop."/>
          <p:cNvPicPr>
            <a:picLocks xmlns:a="http://schemas.openxmlformats.org/drawingml/2006/main" noChangeAspect="1"/>
          </p:cNvPicPr>
          <p:nvPr/>
        </p:nvPicPr>
        <p:blipFill>
          <a:blip xmlns:r="http://schemas.openxmlformats.org/officeDocument/2006/relationships" xmlns:a="http://schemas.openxmlformats.org/drawingml/2006/main" r:embed="R72953e1155604efa"/>
          <a:stretch xmlns:a="http://schemas.openxmlformats.org/drawingml/2006/main"/>
        </p:blipFill>
        <p:spPr>
          <a:xfrm xmlns:a="http://schemas.openxmlformats.org/drawingml/2006/main">
            <a:off x="7667625" y="1624013"/>
            <a:ext cx="3857625" cy="2657475"/>
          </a:xfrm>
          <a:prstGeom xmlns:a="http://schemas.openxmlformats.org/drawingml/2006/main" prst="roundRect">
            <a:avLst/>
          </a:prstGeom>
        </p:spPr>
      </p:pic>
      <p:sp>
        <p:nvSpPr>
          <p:cNvPr id="14" name="">
            <a:extLst xmlns:a="http://schemas.openxmlformats.org/drawingml/2006/main">
              <a:ext uri="{FF2B5EF4-FFF2-40B4-BE49-F238E27FC236}">
                <a16:creationId xmlns:a16="http://schemas.microsoft.com/office/drawing/2014/main" id="{6557C3F6-4F70-4A3A-85AB-3DDAD40AD80C}"/>
              </a:ext>
            </a:extLst>
          </p:cNvPr>
          <p:cNvSpPr>
            <a:spLocks xmlns:a="http://schemas.openxmlformats.org/drawingml/2006/main" noGrp="1"/>
          </p:cNvSpPr>
          <p:nvPr/>
        </p:nvSpPr>
        <p:spPr>
          <a:xfrm xmlns:a="http://schemas.openxmlformats.org/drawingml/2006/main">
            <a:off x="7667625" y="4905375"/>
            <a:ext cx="3857625" cy="1000125"/>
          </a:xfrm>
          <a:prstGeom xmlns:a="http://schemas.openxmlformats.org/drawingml/2006/main" prst="roundRect">
            <a:avLst>
              <a:gd name="adj" fmla="val 11429"/>
            </a:avLst>
          </a:prstGeom>
          <a:solidFill xmlns:a="http://schemas.openxmlformats.org/drawingml/2006/main">
            <a:srgbClr val="E8EFE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FDB7FA9-DAAD-4ACC-BA52-219BEAFD891D}"/>
              </a:ext>
            </a:extLst>
          </p:cNvPr>
          <p:cNvSpPr>
            <a:spLocks xmlns:a="http://schemas.openxmlformats.org/drawingml/2006/main" noGrp="1"/>
          </p:cNvSpPr>
          <p:nvPr/>
        </p:nvSpPr>
        <p:spPr>
          <a:xfrm xmlns:a="http://schemas.openxmlformats.org/drawingml/2006/main">
            <a:off x="7905750" y="5048250"/>
            <a:ext cx="3381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183B23"/>
                </a:solidFill>
              </a:defRPr>
            </a:pPr>
            <a:r>
              <a:rPr sz="1350" b="1" i="0">
                <a:solidFill>
                  <a:srgbClr val="183B23"/>
                </a:solidFill>
              </a:rPr>
              <a:t>ASK THE ROOM</a:t>
            </a:r>
          </a:p>
          <a:p xmlns:a="http://schemas.openxmlformats.org/drawingml/2006/main">
            <a:pPr algn="l">
              <a:buNone/>
              <a:defRPr sz="1350" b="1" i="0">
                <a:solidFill>
                  <a:srgbClr val="183B23"/>
                </a:solidFill>
              </a:defRPr>
            </a:pPr>
            <a:r>
              <a:rPr sz="1350" b="1" i="0">
                <a:solidFill>
                  <a:srgbClr val="183B23"/>
                </a:solidFill>
              </a:rPr>
              <a:t>How would you correct this idea? “Compost is plant food that directly replaces photosynthesis, and any organic waste can be added safely.”</a:t>
            </a:r>
          </a:p>
        </p:txBody>
      </p:sp>
    </p:spTree>
    <p:extLst>
      <p:ext uri="{BB962C8B-B14F-4D97-AF65-F5344CB8AC3E}">
        <p14:creationId xmlns:p14="http://schemas.microsoft.com/office/powerpoint/2010/main" val="527925643"/>
      </p:ext>
    </p:extLst>
  </p:cSld>
</p:sld>
</file>

<file path=ppt/slides/slide5.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2097897-43BE-435F-819C-67905D42C283}"/>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3AB9554-24B9-480A-9A9B-46E70746B5D5}"/>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4.3 RUN A FAIR MEDIA TEST</a:t>
            </a:r>
          </a:p>
        </p:txBody>
      </p:sp>
      <p:sp>
        <p:nvSpPr>
          <p:cNvPr id="3" name="">
            <a:extLst xmlns:a="http://schemas.openxmlformats.org/drawingml/2006/main">
              <a:ext uri="{FF2B5EF4-FFF2-40B4-BE49-F238E27FC236}">
                <a16:creationId xmlns:a16="http://schemas.microsoft.com/office/drawing/2014/main" id="{BBBE7E59-DD3E-444F-9C7C-BCC7A2DB2788}"/>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4  •  SOIL, MEDIA AND CIRCULAR NUTRIENTS</a:t>
            </a:r>
          </a:p>
        </p:txBody>
      </p:sp>
      <p:sp>
        <p:nvSpPr>
          <p:cNvPr id="4" name="">
            <a:extLst xmlns:a="http://schemas.openxmlformats.org/drawingml/2006/main">
              <a:ext uri="{FF2B5EF4-FFF2-40B4-BE49-F238E27FC236}">
                <a16:creationId xmlns:a16="http://schemas.microsoft.com/office/drawing/2014/main" id="{D4A1182E-81EF-46B1-B5F0-67FFBD310E56}"/>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05</a:t>
            </a:r>
          </a:p>
        </p:txBody>
      </p:sp>
      <p:sp>
        <p:nvSpPr>
          <p:cNvPr id="5" name="">
            <a:extLst xmlns:a="http://schemas.openxmlformats.org/drawingml/2006/main">
              <a:ext uri="{FF2B5EF4-FFF2-40B4-BE49-F238E27FC236}">
                <a16:creationId xmlns:a16="http://schemas.microsoft.com/office/drawing/2014/main" id="{D82EEDA5-EE9E-4AF1-898A-F8506EA67284}"/>
              </a:ext>
            </a:extLst>
          </p:cNvPr>
          <p:cNvSpPr>
            <a:spLocks xmlns:a="http://schemas.openxmlformats.org/drawingml/2006/main" noGrp="1"/>
          </p:cNvSpPr>
          <p:nvPr/>
        </p:nvSpPr>
        <p:spPr>
          <a:xfrm xmlns:a="http://schemas.openxmlformats.org/drawingml/2006/main">
            <a:off x="590550" y="800100"/>
            <a:ext cx="657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Run a fair media test</a:t>
            </a:r>
          </a:p>
        </p:txBody>
      </p:sp>
      <p:sp>
        <p:nvSpPr>
          <p:cNvPr id="6" name="">
            <a:extLst xmlns:a="http://schemas.openxmlformats.org/drawingml/2006/main">
              <a:ext uri="{FF2B5EF4-FFF2-40B4-BE49-F238E27FC236}">
                <a16:creationId xmlns:a16="http://schemas.microsoft.com/office/drawing/2014/main" id="{491F65F7-743B-4F70-BDC4-3B8F061F5722}"/>
              </a:ext>
            </a:extLst>
          </p:cNvPr>
          <p:cNvSpPr>
            <a:spLocks xmlns:a="http://schemas.openxmlformats.org/drawingml/2006/main" noGrp="1"/>
          </p:cNvSpPr>
          <p:nvPr/>
        </p:nvSpPr>
        <p:spPr>
          <a:xfrm xmlns:a="http://schemas.openxmlformats.org/drawingml/2006/main">
            <a:off x="590550" y="15240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THREE IDEAS TO PUT ON THE BOARD</a:t>
            </a:r>
          </a:p>
        </p:txBody>
      </p:sp>
      <p:sp>
        <p:nvSpPr>
          <p:cNvPr id="7" name="">
            <a:extLst xmlns:a="http://schemas.openxmlformats.org/drawingml/2006/main">
              <a:ext uri="{FF2B5EF4-FFF2-40B4-BE49-F238E27FC236}">
                <a16:creationId xmlns:a16="http://schemas.microsoft.com/office/drawing/2014/main" id="{B4504E26-200C-462E-A7A8-2898BDE4C358}"/>
              </a:ext>
            </a:extLst>
          </p:cNvPr>
          <p:cNvSpPr>
            <a:spLocks xmlns:a="http://schemas.openxmlformats.org/drawingml/2006/main" noGrp="1"/>
          </p:cNvSpPr>
          <p:nvPr/>
        </p:nvSpPr>
        <p:spPr>
          <a:xfrm xmlns:a="http://schemas.openxmlformats.org/drawingml/2006/main">
            <a:off x="647700" y="2181225"/>
            <a:ext cx="209550" cy="209550"/>
          </a:xfrm>
          <a:prstGeom xmlns:a="http://schemas.openxmlformats.org/drawingml/2006/main" prst="ellipse">
            <a:avLst/>
          </a:prstGeom>
          <a:solidFill xmlns:a="http://schemas.openxmlformats.org/drawingml/2006/main">
            <a:srgbClr val="B6402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AE90625-5D69-42C0-91F9-B4354449E5F5}"/>
              </a:ext>
            </a:extLst>
          </p:cNvPr>
          <p:cNvSpPr>
            <a:spLocks xmlns:a="http://schemas.openxmlformats.org/drawingml/2006/main" noGrp="1"/>
          </p:cNvSpPr>
          <p:nvPr/>
        </p:nvSpPr>
        <p:spPr>
          <a:xfrm xmlns:a="http://schemas.openxmlformats.org/drawingml/2006/main">
            <a:off x="1009650" y="20955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A fair test controls competing factors, measures a relevant response consistently and uses repetition to reveal variation.</a:t>
            </a:r>
          </a:p>
        </p:txBody>
      </p:sp>
      <p:sp>
        <p:nvSpPr>
          <p:cNvPr id="9" name="">
            <a:extLst xmlns:a="http://schemas.openxmlformats.org/drawingml/2006/main">
              <a:ext uri="{FF2B5EF4-FFF2-40B4-BE49-F238E27FC236}">
                <a16:creationId xmlns:a16="http://schemas.microsoft.com/office/drawing/2014/main" id="{D0A3BC44-052D-4535-8714-40F396EB804D}"/>
              </a:ext>
            </a:extLst>
          </p:cNvPr>
          <p:cNvSpPr>
            <a:spLocks xmlns:a="http://schemas.openxmlformats.org/drawingml/2006/main" noGrp="1"/>
          </p:cNvSpPr>
          <p:nvPr/>
        </p:nvSpPr>
        <p:spPr>
          <a:xfrm xmlns:a="http://schemas.openxmlformats.org/drawingml/2006/main">
            <a:off x="647700" y="29813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B0DC0CC-883E-4E5A-BD7C-DC940685928D}"/>
              </a:ext>
            </a:extLst>
          </p:cNvPr>
          <p:cNvSpPr>
            <a:spLocks xmlns:a="http://schemas.openxmlformats.org/drawingml/2006/main" noGrp="1"/>
          </p:cNvSpPr>
          <p:nvPr/>
        </p:nvSpPr>
        <p:spPr>
          <a:xfrm xmlns:a="http://schemas.openxmlformats.org/drawingml/2006/main">
            <a:off x="1009650" y="28956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Valid conclusions stay within what the test measured.</a:t>
            </a:r>
          </a:p>
        </p:txBody>
      </p:sp>
      <p:sp>
        <p:nvSpPr>
          <p:cNvPr id="11" name="">
            <a:extLst xmlns:a="http://schemas.openxmlformats.org/drawingml/2006/main">
              <a:ext uri="{FF2B5EF4-FFF2-40B4-BE49-F238E27FC236}">
                <a16:creationId xmlns:a16="http://schemas.microsoft.com/office/drawing/2014/main" id="{9650760B-36AE-42F7-98E0-E0487B062373}"/>
              </a:ext>
            </a:extLst>
          </p:cNvPr>
          <p:cNvSpPr>
            <a:spLocks xmlns:a="http://schemas.openxmlformats.org/drawingml/2006/main" noGrp="1"/>
          </p:cNvSpPr>
          <p:nvPr/>
        </p:nvSpPr>
        <p:spPr>
          <a:xfrm xmlns:a="http://schemas.openxmlformats.org/drawingml/2006/main">
            <a:off x="647700" y="37814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C2F8D84-71E0-42CE-AD48-96BB4A6A774C}"/>
              </a:ext>
            </a:extLst>
          </p:cNvPr>
          <p:cNvSpPr>
            <a:spLocks xmlns:a="http://schemas.openxmlformats.org/drawingml/2006/main" noGrp="1"/>
          </p:cNvSpPr>
          <p:nvPr/>
        </p:nvSpPr>
        <p:spPr>
          <a:xfrm xmlns:a="http://schemas.openxmlformats.org/drawingml/2006/main">
            <a:off x="1009650" y="36957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The test supports a conclusion only about the measured property under the stated conditions.</a:t>
            </a:r>
          </a:p>
        </p:txBody>
      </p:sp>
      <p:pic>
        <p:nvPicPr>
          <p:cNvPr id="30" name="" descr="Three similar seedlings in identical pots have different growing media, with equal water cups, a ruler and a blank record sheet."/>
          <p:cNvPicPr>
            <a:picLocks xmlns:a="http://schemas.openxmlformats.org/drawingml/2006/main" noChangeAspect="1"/>
          </p:cNvPicPr>
          <p:nvPr/>
        </p:nvPicPr>
        <p:blipFill>
          <a:blip xmlns:r="http://schemas.openxmlformats.org/officeDocument/2006/relationships" xmlns:a="http://schemas.openxmlformats.org/drawingml/2006/main" r:embed="Rc5713a452b5c4e46"/>
          <a:srcRect xmlns:a="http://schemas.openxmlformats.org/drawingml/2006/main" l="12500" t="0" r="12500" b="0"/>
          <a:stretch xmlns:a="http://schemas.openxmlformats.org/drawingml/2006/main">
            <a:fillRect l="0" t="0" r="0" b="0"/>
          </a:stretch>
        </p:blipFill>
        <p:spPr>
          <a:xfrm xmlns:a="http://schemas.openxmlformats.org/drawingml/2006/main">
            <a:off x="7667625" y="1238250"/>
            <a:ext cx="3857625" cy="3429000"/>
          </a:xfrm>
          <a:prstGeom xmlns:a="http://schemas.openxmlformats.org/drawingml/2006/main" prst="roundRect">
            <a:avLst/>
          </a:prstGeom>
        </p:spPr>
      </p:pic>
      <p:sp>
        <p:nvSpPr>
          <p:cNvPr id="14" name="">
            <a:extLst xmlns:a="http://schemas.openxmlformats.org/drawingml/2006/main">
              <a:ext uri="{FF2B5EF4-FFF2-40B4-BE49-F238E27FC236}">
                <a16:creationId xmlns:a16="http://schemas.microsoft.com/office/drawing/2014/main" id="{28D330CB-4FA7-4B15-A033-9B479610743A}"/>
              </a:ext>
            </a:extLst>
          </p:cNvPr>
          <p:cNvSpPr>
            <a:spLocks xmlns:a="http://schemas.openxmlformats.org/drawingml/2006/main" noGrp="1"/>
          </p:cNvSpPr>
          <p:nvPr/>
        </p:nvSpPr>
        <p:spPr>
          <a:xfrm xmlns:a="http://schemas.openxmlformats.org/drawingml/2006/main">
            <a:off x="7667625" y="4905375"/>
            <a:ext cx="3857625" cy="1000125"/>
          </a:xfrm>
          <a:prstGeom xmlns:a="http://schemas.openxmlformats.org/drawingml/2006/main" prst="roundRect">
            <a:avLst>
              <a:gd name="adj" fmla="val 11429"/>
            </a:avLst>
          </a:prstGeom>
          <a:solidFill xmlns:a="http://schemas.openxmlformats.org/drawingml/2006/main">
            <a:srgbClr val="E8EFE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CF27330-2E54-4DE8-8BB0-2F175A488166}"/>
              </a:ext>
            </a:extLst>
          </p:cNvPr>
          <p:cNvSpPr>
            <a:spLocks xmlns:a="http://schemas.openxmlformats.org/drawingml/2006/main" noGrp="1"/>
          </p:cNvSpPr>
          <p:nvPr/>
        </p:nvSpPr>
        <p:spPr>
          <a:xfrm xmlns:a="http://schemas.openxmlformats.org/drawingml/2006/main">
            <a:off x="7905750" y="5048250"/>
            <a:ext cx="3381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183B23"/>
                </a:solidFill>
              </a:defRPr>
            </a:pPr>
            <a:r>
              <a:rPr sz="1350" b="1" i="0">
                <a:solidFill>
                  <a:srgbClr val="183B23"/>
                </a:solidFill>
              </a:rPr>
              <a:t>ASK THE ROOM</a:t>
            </a:r>
          </a:p>
          <a:p xmlns:a="http://schemas.openxmlformats.org/drawingml/2006/main">
            <a:pPr algn="l">
              <a:buNone/>
              <a:defRPr sz="1350" b="1" i="0">
                <a:solidFill>
                  <a:srgbClr val="183B23"/>
                </a:solidFill>
              </a:defRPr>
            </a:pPr>
            <a:r>
              <a:rPr sz="1350" b="1" i="0">
                <a:solidFill>
                  <a:srgbClr val="183B23"/>
                </a:solidFill>
              </a:rPr>
              <a:t>How would you correct this idea? “A fair test proves that one medium is best in every way and will produce the largest crop.”</a:t>
            </a:r>
          </a:p>
        </p:txBody>
      </p:sp>
    </p:spTree>
    <p:extLst>
      <p:ext uri="{BB962C8B-B14F-4D97-AF65-F5344CB8AC3E}">
        <p14:creationId xmlns:p14="http://schemas.microsoft.com/office/powerpoint/2010/main" val="1803879461"/>
      </p:ext>
    </p:extLst>
  </p:cSld>
</p:sld>
</file>

<file path=ppt/slides/slide6.xml><?xml version="1.0" encoding="utf-8"?>
<p:sld xmlns:p="http://schemas.openxmlformats.org/presentationml/2006/main">
  <p:cSld>
    <p:bg>
      <p:bgPr>
        <a:solidFill xmlns:a="http://schemas.openxmlformats.org/drawingml/2006/main">
          <a:srgbClr val="183B23"/>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32AF29C-F87C-4F37-B2F3-21B90FC74B7E}"/>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80FBCAC-83CC-465A-91D3-44DAA5E7E6A2}"/>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CHECK FOR UNDERSTANDING</a:t>
            </a:r>
          </a:p>
        </p:txBody>
      </p:sp>
      <p:sp>
        <p:nvSpPr>
          <p:cNvPr id="3" name="">
            <a:extLst xmlns:a="http://schemas.openxmlformats.org/drawingml/2006/main">
              <a:ext uri="{FF2B5EF4-FFF2-40B4-BE49-F238E27FC236}">
                <a16:creationId xmlns:a16="http://schemas.microsoft.com/office/drawing/2014/main" id="{8B9DEC0D-62B1-4E4E-84C1-247F3A113799}"/>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4  •  SOIL, MEDIA AND CIRCULAR NUTRIENTS</a:t>
            </a:r>
          </a:p>
        </p:txBody>
      </p:sp>
      <p:sp>
        <p:nvSpPr>
          <p:cNvPr id="4" name="">
            <a:extLst xmlns:a="http://schemas.openxmlformats.org/drawingml/2006/main">
              <a:ext uri="{FF2B5EF4-FFF2-40B4-BE49-F238E27FC236}">
                <a16:creationId xmlns:a16="http://schemas.microsoft.com/office/drawing/2014/main" id="{0648B4F5-62F8-47F2-B685-D3062D1B9895}"/>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06</a:t>
            </a:r>
          </a:p>
        </p:txBody>
      </p:sp>
      <p:sp>
        <p:nvSpPr>
          <p:cNvPr id="5" name="">
            <a:extLst xmlns:a="http://schemas.openxmlformats.org/drawingml/2006/main">
              <a:ext uri="{FF2B5EF4-FFF2-40B4-BE49-F238E27FC236}">
                <a16:creationId xmlns:a16="http://schemas.microsoft.com/office/drawing/2014/main" id="{1BB2E650-FB9D-4935-9A19-D69DD24B92EC}"/>
              </a:ext>
            </a:extLst>
          </p:cNvPr>
          <p:cNvSpPr>
            <a:spLocks xmlns:a="http://schemas.openxmlformats.org/drawingml/2006/main" noGrp="1"/>
          </p:cNvSpPr>
          <p:nvPr/>
        </p:nvSpPr>
        <p:spPr>
          <a:xfrm xmlns:a="http://schemas.openxmlformats.org/drawingml/2006/main">
            <a:off x="590550" y="781050"/>
            <a:ext cx="685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000" b="1" i="0">
                <a:solidFill>
                  <a:srgbClr val="FFFFFF"/>
                </a:solidFill>
              </a:defRPr>
            </a:pPr>
            <a:r>
              <a:rPr sz="3000" b="1" i="0">
                <a:solidFill>
                  <a:srgbClr val="FFFFFF"/>
                </a:solidFill>
              </a:rPr>
              <a:t>Stop. Think. Explain.</a:t>
            </a:r>
          </a:p>
        </p:txBody>
      </p:sp>
      <p:sp>
        <p:nvSpPr>
          <p:cNvPr id="6" name="">
            <a:extLst xmlns:a="http://schemas.openxmlformats.org/drawingml/2006/main">
              <a:ext uri="{FF2B5EF4-FFF2-40B4-BE49-F238E27FC236}">
                <a16:creationId xmlns:a16="http://schemas.microsoft.com/office/drawing/2014/main" id="{652028EC-9415-4CC8-85A2-4CEA76EE1C6A}"/>
              </a:ext>
            </a:extLst>
          </p:cNvPr>
          <p:cNvSpPr>
            <a:spLocks xmlns:a="http://schemas.openxmlformats.org/drawingml/2006/main" noGrp="1"/>
          </p:cNvSpPr>
          <p:nvPr/>
        </p:nvSpPr>
        <p:spPr>
          <a:xfrm xmlns:a="http://schemas.openxmlformats.org/drawingml/2006/main">
            <a:off x="590550" y="1466850"/>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i="0">
                <a:solidFill>
                  <a:srgbClr val="DDE9DB"/>
                </a:solidFill>
              </a:defRPr>
            </a:pPr>
            <a:r>
              <a:rPr sz="1500" b="0" i="0">
                <a:solidFill>
                  <a:srgbClr val="DDE9DB"/>
                </a:solidFill>
              </a:rPr>
              <a:t>Answer silently first, then justify with a partner.</a:t>
            </a:r>
          </a:p>
        </p:txBody>
      </p:sp>
      <p:sp>
        <p:nvSpPr>
          <p:cNvPr id="7" name="">
            <a:extLst xmlns:a="http://schemas.openxmlformats.org/drawingml/2006/main">
              <a:ext uri="{FF2B5EF4-FFF2-40B4-BE49-F238E27FC236}">
                <a16:creationId xmlns:a16="http://schemas.microsoft.com/office/drawing/2014/main" id="{5330EEE0-8377-41CD-8AF2-9F634B3EBCC4}"/>
              </a:ext>
            </a:extLst>
          </p:cNvPr>
          <p:cNvSpPr>
            <a:spLocks xmlns:a="http://schemas.openxmlformats.org/drawingml/2006/main" noGrp="1"/>
          </p:cNvSpPr>
          <p:nvPr/>
        </p:nvSpPr>
        <p:spPr>
          <a:xfrm xmlns:a="http://schemas.openxmlformats.org/drawingml/2006/main">
            <a:off x="590550" y="2190750"/>
            <a:ext cx="10953750" cy="952500"/>
          </a:xfrm>
          <a:prstGeom xmlns:a="http://schemas.openxmlformats.org/drawingml/2006/main" prst="roundRect">
            <a:avLst>
              <a:gd name="adj" fmla="val 12000"/>
            </a:avLst>
          </a:prstGeom>
          <a:solidFill xmlns:a="http://schemas.openxmlformats.org/drawingml/2006/main">
            <a:srgbClr val="234128"/>
          </a:solidFill>
          <a:ln xmlns:a="http://schemas.openxmlformats.org/drawingml/2006/main" w="9525">
            <a:solidFill>
              <a:srgbClr val="4D7254"/>
            </a:solidFill>
            <a:prstDash val="solid"/>
          </a:ln>
        </p:spPr>
      </p:sp>
      <p:sp>
        <p:nvSpPr>
          <p:cNvPr id="8" name="">
            <a:extLst xmlns:a="http://schemas.openxmlformats.org/drawingml/2006/main">
              <a:ext uri="{FF2B5EF4-FFF2-40B4-BE49-F238E27FC236}">
                <a16:creationId xmlns:a16="http://schemas.microsoft.com/office/drawing/2014/main" id="{84E54227-9204-49E4-A37D-A6B5AC0FE69E}"/>
              </a:ext>
            </a:extLst>
          </p:cNvPr>
          <p:cNvSpPr>
            <a:spLocks xmlns:a="http://schemas.openxmlformats.org/drawingml/2006/main" noGrp="1"/>
          </p:cNvSpPr>
          <p:nvPr/>
        </p:nvSpPr>
        <p:spPr>
          <a:xfrm xmlns:a="http://schemas.openxmlformats.org/drawingml/2006/main">
            <a:off x="819150" y="2409825"/>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FFF4BA"/>
                </a:solidFill>
              </a:defRPr>
            </a:pPr>
            <a:r>
              <a:rPr sz="1800" b="1" i="0">
                <a:solidFill>
                  <a:srgbClr val="FFF4BA"/>
                </a:solidFill>
              </a:rPr>
              <a:t>1</a:t>
            </a:r>
          </a:p>
        </p:txBody>
      </p:sp>
      <p:sp>
        <p:nvSpPr>
          <p:cNvPr id="9" name="">
            <a:extLst xmlns:a="http://schemas.openxmlformats.org/drawingml/2006/main">
              <a:ext uri="{FF2B5EF4-FFF2-40B4-BE49-F238E27FC236}">
                <a16:creationId xmlns:a16="http://schemas.microsoft.com/office/drawing/2014/main" id="{5CE86771-6E9E-432F-BF52-CF2A6DF430C2}"/>
              </a:ext>
            </a:extLst>
          </p:cNvPr>
          <p:cNvSpPr>
            <a:spLocks xmlns:a="http://schemas.openxmlformats.org/drawingml/2006/main" noGrp="1"/>
          </p:cNvSpPr>
          <p:nvPr/>
        </p:nvSpPr>
        <p:spPr>
          <a:xfrm xmlns:a="http://schemas.openxmlformats.org/drawingml/2006/main">
            <a:off x="1428750" y="2324100"/>
            <a:ext cx="962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i="0">
                <a:solidFill>
                  <a:srgbClr val="FFFFFF"/>
                </a:solidFill>
              </a:defRPr>
            </a:pPr>
            <a:r>
              <a:rPr sz="1725" b="1" i="0">
                <a:solidFill>
                  <a:srgbClr val="FFFFFF"/>
                </a:solidFill>
              </a:rPr>
              <a:t>What is a growing medium?</a:t>
            </a:r>
          </a:p>
        </p:txBody>
      </p:sp>
      <p:sp>
        <p:nvSpPr>
          <p:cNvPr id="10" name="">
            <a:extLst xmlns:a="http://schemas.openxmlformats.org/drawingml/2006/main">
              <a:ext uri="{FF2B5EF4-FFF2-40B4-BE49-F238E27FC236}">
                <a16:creationId xmlns:a16="http://schemas.microsoft.com/office/drawing/2014/main" id="{D1D9D872-A119-4492-8E7D-9FF221E9F6A1}"/>
              </a:ext>
            </a:extLst>
          </p:cNvPr>
          <p:cNvSpPr>
            <a:spLocks xmlns:a="http://schemas.openxmlformats.org/drawingml/2006/main" noGrp="1"/>
          </p:cNvSpPr>
          <p:nvPr/>
        </p:nvSpPr>
        <p:spPr>
          <a:xfrm xmlns:a="http://schemas.openxmlformats.org/drawingml/2006/main">
            <a:off x="590550" y="3429000"/>
            <a:ext cx="10953750" cy="952500"/>
          </a:xfrm>
          <a:prstGeom xmlns:a="http://schemas.openxmlformats.org/drawingml/2006/main" prst="roundRect">
            <a:avLst>
              <a:gd name="adj" fmla="val 12000"/>
            </a:avLst>
          </a:prstGeom>
          <a:solidFill xmlns:a="http://schemas.openxmlformats.org/drawingml/2006/main">
            <a:srgbClr val="284B30"/>
          </a:solidFill>
          <a:ln xmlns:a="http://schemas.openxmlformats.org/drawingml/2006/main" w="9525">
            <a:solidFill>
              <a:srgbClr val="4D7254"/>
            </a:solidFill>
            <a:prstDash val="solid"/>
          </a:ln>
        </p:spPr>
      </p:sp>
      <p:sp>
        <p:nvSpPr>
          <p:cNvPr id="11" name="">
            <a:extLst xmlns:a="http://schemas.openxmlformats.org/drawingml/2006/main">
              <a:ext uri="{FF2B5EF4-FFF2-40B4-BE49-F238E27FC236}">
                <a16:creationId xmlns:a16="http://schemas.microsoft.com/office/drawing/2014/main" id="{DE8BA6D2-67F7-4E37-B879-23A563364E23}"/>
              </a:ext>
            </a:extLst>
          </p:cNvPr>
          <p:cNvSpPr>
            <a:spLocks xmlns:a="http://schemas.openxmlformats.org/drawingml/2006/main" noGrp="1"/>
          </p:cNvSpPr>
          <p:nvPr/>
        </p:nvSpPr>
        <p:spPr>
          <a:xfrm xmlns:a="http://schemas.openxmlformats.org/drawingml/2006/main">
            <a:off x="819150" y="3648075"/>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FFF4BA"/>
                </a:solidFill>
              </a:defRPr>
            </a:pPr>
            <a:r>
              <a:rPr sz="1800" b="1" i="0">
                <a:solidFill>
                  <a:srgbClr val="FFF4BA"/>
                </a:solidFill>
              </a:rPr>
              <a:t>2</a:t>
            </a:r>
          </a:p>
        </p:txBody>
      </p:sp>
      <p:sp>
        <p:nvSpPr>
          <p:cNvPr id="12" name="">
            <a:extLst xmlns:a="http://schemas.openxmlformats.org/drawingml/2006/main">
              <a:ext uri="{FF2B5EF4-FFF2-40B4-BE49-F238E27FC236}">
                <a16:creationId xmlns:a16="http://schemas.microsoft.com/office/drawing/2014/main" id="{FFF76262-E451-4A70-B9F5-1ADABBE12207}"/>
              </a:ext>
            </a:extLst>
          </p:cNvPr>
          <p:cNvSpPr>
            <a:spLocks xmlns:a="http://schemas.openxmlformats.org/drawingml/2006/main" noGrp="1"/>
          </p:cNvSpPr>
          <p:nvPr/>
        </p:nvSpPr>
        <p:spPr>
          <a:xfrm xmlns:a="http://schemas.openxmlformats.org/drawingml/2006/main">
            <a:off x="1428750" y="3562350"/>
            <a:ext cx="962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i="0">
                <a:solidFill>
                  <a:srgbClr val="FFFFFF"/>
                </a:solidFill>
              </a:defRPr>
            </a:pPr>
            <a:r>
              <a:rPr sz="1725" b="1" i="0">
                <a:solidFill>
                  <a:srgbClr val="FFFFFF"/>
                </a:solidFill>
              </a:rPr>
              <a:t>Which statement best distinguishes sugars from mineral nutrients?</a:t>
            </a:r>
          </a:p>
        </p:txBody>
      </p:sp>
      <p:sp>
        <p:nvSpPr>
          <p:cNvPr id="13" name="">
            <a:extLst xmlns:a="http://schemas.openxmlformats.org/drawingml/2006/main">
              <a:ext uri="{FF2B5EF4-FFF2-40B4-BE49-F238E27FC236}">
                <a16:creationId xmlns:a16="http://schemas.microsoft.com/office/drawing/2014/main" id="{43BF2612-1F58-425C-9C14-F5FFC87A4C77}"/>
              </a:ext>
            </a:extLst>
          </p:cNvPr>
          <p:cNvSpPr>
            <a:spLocks xmlns:a="http://schemas.openxmlformats.org/drawingml/2006/main" noGrp="1"/>
          </p:cNvSpPr>
          <p:nvPr/>
        </p:nvSpPr>
        <p:spPr>
          <a:xfrm xmlns:a="http://schemas.openxmlformats.org/drawingml/2006/main">
            <a:off x="590550" y="4667250"/>
            <a:ext cx="10953750" cy="952500"/>
          </a:xfrm>
          <a:prstGeom xmlns:a="http://schemas.openxmlformats.org/drawingml/2006/main" prst="roundRect">
            <a:avLst>
              <a:gd name="adj" fmla="val 12000"/>
            </a:avLst>
          </a:prstGeom>
          <a:solidFill xmlns:a="http://schemas.openxmlformats.org/drawingml/2006/main">
            <a:srgbClr val="234128"/>
          </a:solidFill>
          <a:ln xmlns:a="http://schemas.openxmlformats.org/drawingml/2006/main" w="9525">
            <a:solidFill>
              <a:srgbClr val="4D7254"/>
            </a:solidFill>
            <a:prstDash val="solid"/>
          </a:ln>
        </p:spPr>
      </p:sp>
      <p:sp>
        <p:nvSpPr>
          <p:cNvPr id="14" name="">
            <a:extLst xmlns:a="http://schemas.openxmlformats.org/drawingml/2006/main">
              <a:ext uri="{FF2B5EF4-FFF2-40B4-BE49-F238E27FC236}">
                <a16:creationId xmlns:a16="http://schemas.microsoft.com/office/drawing/2014/main" id="{B531CB24-D7D3-4813-AD95-504A1E1BE582}"/>
              </a:ext>
            </a:extLst>
          </p:cNvPr>
          <p:cNvSpPr>
            <a:spLocks xmlns:a="http://schemas.openxmlformats.org/drawingml/2006/main" noGrp="1"/>
          </p:cNvSpPr>
          <p:nvPr/>
        </p:nvSpPr>
        <p:spPr>
          <a:xfrm xmlns:a="http://schemas.openxmlformats.org/drawingml/2006/main">
            <a:off x="819150" y="4886325"/>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FFF4BA"/>
                </a:solidFill>
              </a:defRPr>
            </a:pPr>
            <a:r>
              <a:rPr sz="1800" b="1" i="0">
                <a:solidFill>
                  <a:srgbClr val="FFF4BA"/>
                </a:solidFill>
              </a:rPr>
              <a:t>3</a:t>
            </a:r>
          </a:p>
        </p:txBody>
      </p:sp>
      <p:sp>
        <p:nvSpPr>
          <p:cNvPr id="15" name="">
            <a:extLst xmlns:a="http://schemas.openxmlformats.org/drawingml/2006/main">
              <a:ext uri="{FF2B5EF4-FFF2-40B4-BE49-F238E27FC236}">
                <a16:creationId xmlns:a16="http://schemas.microsoft.com/office/drawing/2014/main" id="{89483B85-5CFA-4A9E-A041-D43A93E96B48}"/>
              </a:ext>
            </a:extLst>
          </p:cNvPr>
          <p:cNvSpPr>
            <a:spLocks xmlns:a="http://schemas.openxmlformats.org/drawingml/2006/main" noGrp="1"/>
          </p:cNvSpPr>
          <p:nvPr/>
        </p:nvSpPr>
        <p:spPr>
          <a:xfrm xmlns:a="http://schemas.openxmlformats.org/drawingml/2006/main">
            <a:off x="1428750" y="4800600"/>
            <a:ext cx="962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i="0">
                <a:solidFill>
                  <a:srgbClr val="FFFFFF"/>
                </a:solidFill>
              </a:defRPr>
            </a:pPr>
            <a:r>
              <a:rPr sz="1725" b="1" i="0">
                <a:solidFill>
                  <a:srgbClr val="FFFFFF"/>
                </a:solidFill>
              </a:rPr>
              <a:t>In a comparison of two approved media options, what is the independent variable?</a:t>
            </a:r>
          </a:p>
        </p:txBody>
      </p:sp>
    </p:spTree>
    <p:extLst>
      <p:ext uri="{BB962C8B-B14F-4D97-AF65-F5344CB8AC3E}">
        <p14:creationId xmlns:p14="http://schemas.microsoft.com/office/powerpoint/2010/main" val="482977744"/>
      </p:ext>
    </p:extLst>
  </p:cSld>
</p:sld>
</file>

<file path=ppt/slides/slide7.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74431F4-EC05-4F65-A69F-E06E1454DE1D}"/>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C1809FB-4D8F-4B9E-8E97-336DB62FA060}"/>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MODEL A LONGER RESPONSE</a:t>
            </a:r>
          </a:p>
        </p:txBody>
      </p:sp>
      <p:sp>
        <p:nvSpPr>
          <p:cNvPr id="3" name="">
            <a:extLst xmlns:a="http://schemas.openxmlformats.org/drawingml/2006/main">
              <a:ext uri="{FF2B5EF4-FFF2-40B4-BE49-F238E27FC236}">
                <a16:creationId xmlns:a16="http://schemas.microsoft.com/office/drawing/2014/main" id="{7D9CD7B8-8D54-4D9C-AB11-2C2F883175C4}"/>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4  •  SOIL, MEDIA AND CIRCULAR NUTRIENTS</a:t>
            </a:r>
          </a:p>
        </p:txBody>
      </p:sp>
      <p:sp>
        <p:nvSpPr>
          <p:cNvPr id="4" name="">
            <a:extLst xmlns:a="http://schemas.openxmlformats.org/drawingml/2006/main">
              <a:ext uri="{FF2B5EF4-FFF2-40B4-BE49-F238E27FC236}">
                <a16:creationId xmlns:a16="http://schemas.microsoft.com/office/drawing/2014/main" id="{7B62575C-54A7-4887-9EE6-A8E177B8C429}"/>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07</a:t>
            </a:r>
          </a:p>
        </p:txBody>
      </p:sp>
      <p:sp>
        <p:nvSpPr>
          <p:cNvPr id="5" name="">
            <a:extLst xmlns:a="http://schemas.openxmlformats.org/drawingml/2006/main">
              <a:ext uri="{FF2B5EF4-FFF2-40B4-BE49-F238E27FC236}">
                <a16:creationId xmlns:a16="http://schemas.microsoft.com/office/drawing/2014/main" id="{A43163C5-319C-47A3-8242-A6A1BDE041DC}"/>
              </a:ext>
            </a:extLst>
          </p:cNvPr>
          <p:cNvSpPr>
            <a:spLocks xmlns:a="http://schemas.openxmlformats.org/drawingml/2006/main" noGrp="1"/>
          </p:cNvSpPr>
          <p:nvPr/>
        </p:nvSpPr>
        <p:spPr>
          <a:xfrm xmlns:a="http://schemas.openxmlformats.org/drawingml/2006/main">
            <a:off x="590550" y="781050"/>
            <a:ext cx="7524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Read → Select → Explain → Check</a:t>
            </a:r>
          </a:p>
        </p:txBody>
      </p:sp>
      <p:sp>
        <p:nvSpPr>
          <p:cNvPr id="6" name="">
            <a:extLst xmlns:a="http://schemas.openxmlformats.org/drawingml/2006/main">
              <a:ext uri="{FF2B5EF4-FFF2-40B4-BE49-F238E27FC236}">
                <a16:creationId xmlns:a16="http://schemas.microsoft.com/office/drawing/2014/main" id="{19F26E7B-C187-4B5A-87FC-DE8086C3574C}"/>
              </a:ext>
            </a:extLst>
          </p:cNvPr>
          <p:cNvSpPr>
            <a:spLocks xmlns:a="http://schemas.openxmlformats.org/drawingml/2006/main" noGrp="1"/>
          </p:cNvSpPr>
          <p:nvPr/>
        </p:nvSpPr>
        <p:spPr>
          <a:xfrm xmlns:a="http://schemas.openxmlformats.org/drawingml/2006/main">
            <a:off x="590550" y="1676400"/>
            <a:ext cx="5619750" cy="1762125"/>
          </a:xfrm>
          <a:prstGeom xmlns:a="http://schemas.openxmlformats.org/drawingml/2006/main" prst="roundRect">
            <a:avLst>
              <a:gd name="adj" fmla="val 6486"/>
            </a:avLst>
          </a:prstGeom>
          <a:solidFill xmlns:a="http://schemas.openxmlformats.org/drawingml/2006/main">
            <a:srgbClr val="FFFFFF"/>
          </a:solidFill>
          <a:ln xmlns:a="http://schemas.openxmlformats.org/drawingml/2006/main" w="9525">
            <a:solidFill>
              <a:srgbClr val="D9DDCF"/>
            </a:solidFill>
            <a:prstDash val="solid"/>
          </a:ln>
        </p:spPr>
      </p:sp>
      <p:sp>
        <p:nvSpPr>
          <p:cNvPr id="7" name="">
            <a:extLst xmlns:a="http://schemas.openxmlformats.org/drawingml/2006/main">
              <a:ext uri="{FF2B5EF4-FFF2-40B4-BE49-F238E27FC236}">
                <a16:creationId xmlns:a16="http://schemas.microsoft.com/office/drawing/2014/main" id="{C9C7C47A-7462-4984-B2D7-B04A374406A8}"/>
              </a:ext>
            </a:extLst>
          </p:cNvPr>
          <p:cNvSpPr>
            <a:spLocks xmlns:a="http://schemas.openxmlformats.org/drawingml/2006/main" noGrp="1"/>
          </p:cNvSpPr>
          <p:nvPr/>
        </p:nvSpPr>
        <p:spPr>
          <a:xfrm xmlns:a="http://schemas.openxmlformats.org/drawingml/2006/main">
            <a:off x="838200" y="18859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THE QUESTION</a:t>
            </a:r>
          </a:p>
        </p:txBody>
      </p:sp>
      <p:sp>
        <p:nvSpPr>
          <p:cNvPr id="8" name="">
            <a:extLst xmlns:a="http://schemas.openxmlformats.org/drawingml/2006/main">
              <a:ext uri="{FF2B5EF4-FFF2-40B4-BE49-F238E27FC236}">
                <a16:creationId xmlns:a16="http://schemas.microsoft.com/office/drawing/2014/main" id="{C98529D4-8882-4992-942D-55860994D858}"/>
              </a:ext>
            </a:extLst>
          </p:cNvPr>
          <p:cNvSpPr>
            <a:spLocks xmlns:a="http://schemas.openxmlformats.org/drawingml/2006/main" noGrp="1"/>
          </p:cNvSpPr>
          <p:nvPr/>
        </p:nvSpPr>
        <p:spPr>
          <a:xfrm xmlns:a="http://schemas.openxmlformats.org/drawingml/2006/main">
            <a:off x="838200" y="2266950"/>
            <a:ext cx="509587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i="0">
                <a:solidFill>
                  <a:srgbClr val="183B23"/>
                </a:solidFill>
              </a:defRPr>
            </a:pPr>
            <a:r>
              <a:rPr sz="1725" b="1" i="0">
                <a:solidFill>
                  <a:srgbClr val="183B23"/>
                </a:solidFill>
              </a:rPr>
              <a:t>Design a fair test for one growing-medium property. Explain how its evidence could inform, but not completely determine, a design decision.</a:t>
            </a:r>
          </a:p>
        </p:txBody>
      </p:sp>
      <p:sp>
        <p:nvSpPr>
          <p:cNvPr id="9" name="">
            <a:extLst xmlns:a="http://schemas.openxmlformats.org/drawingml/2006/main">
              <a:ext uri="{FF2B5EF4-FFF2-40B4-BE49-F238E27FC236}">
                <a16:creationId xmlns:a16="http://schemas.microsoft.com/office/drawing/2014/main" id="{6454B161-EDD1-4363-98C7-D38CB1242C69}"/>
              </a:ext>
            </a:extLst>
          </p:cNvPr>
          <p:cNvSpPr>
            <a:spLocks xmlns:a="http://schemas.openxmlformats.org/drawingml/2006/main" noGrp="1"/>
          </p:cNvSpPr>
          <p:nvPr/>
        </p:nvSpPr>
        <p:spPr>
          <a:xfrm xmlns:a="http://schemas.openxmlformats.org/drawingml/2006/main">
            <a:off x="6534150" y="1676400"/>
            <a:ext cx="5010150" cy="1762125"/>
          </a:xfrm>
          <a:prstGeom xmlns:a="http://schemas.openxmlformats.org/drawingml/2006/main" prst="roundRect">
            <a:avLst>
              <a:gd name="adj" fmla="val 6486"/>
            </a:avLst>
          </a:prstGeom>
          <a:solidFill xmlns:a="http://schemas.openxmlformats.org/drawingml/2006/main">
            <a:srgbClr val="E8EFE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AA339D9-26B3-4149-8880-7E19E99590B3}"/>
              </a:ext>
            </a:extLst>
          </p:cNvPr>
          <p:cNvSpPr>
            <a:spLocks xmlns:a="http://schemas.openxmlformats.org/drawingml/2006/main" noGrp="1"/>
          </p:cNvSpPr>
          <p:nvPr/>
        </p:nvSpPr>
        <p:spPr>
          <a:xfrm xmlns:a="http://schemas.openxmlformats.org/drawingml/2006/main">
            <a:off x="6781800" y="18859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WHAT IS THIS ASKING?</a:t>
            </a:r>
          </a:p>
        </p:txBody>
      </p:sp>
      <p:sp>
        <p:nvSpPr>
          <p:cNvPr id="11" name="">
            <a:extLst xmlns:a="http://schemas.openxmlformats.org/drawingml/2006/main">
              <a:ext uri="{FF2B5EF4-FFF2-40B4-BE49-F238E27FC236}">
                <a16:creationId xmlns:a16="http://schemas.microsoft.com/office/drawing/2014/main" id="{54266E9D-9CE7-4E32-BF95-FA8F8785659B}"/>
              </a:ext>
            </a:extLst>
          </p:cNvPr>
          <p:cNvSpPr>
            <a:spLocks xmlns:a="http://schemas.openxmlformats.org/drawingml/2006/main" noGrp="1"/>
          </p:cNvSpPr>
          <p:nvPr/>
        </p:nvSpPr>
        <p:spPr>
          <a:xfrm xmlns:a="http://schemas.openxmlformats.org/drawingml/2006/main">
            <a:off x="6781800" y="2266950"/>
            <a:ext cx="45148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i="0">
                <a:solidFill>
                  <a:srgbClr val="243024"/>
                </a:solidFill>
              </a:defRPr>
            </a:pPr>
            <a:r>
              <a:rPr sz="1575" b="0" i="0">
                <a:solidFill>
                  <a:srgbClr val="243024"/>
                </a:solidFill>
              </a:rPr>
              <a:t>Identifies variables correctly and proposes consistent measurement. Includes repetition or another reasonable reliability check.</a:t>
            </a:r>
          </a:p>
        </p:txBody>
      </p:sp>
      <p:sp>
        <p:nvSpPr>
          <p:cNvPr id="12" name="">
            <a:extLst xmlns:a="http://schemas.openxmlformats.org/drawingml/2006/main">
              <a:ext uri="{FF2B5EF4-FFF2-40B4-BE49-F238E27FC236}">
                <a16:creationId xmlns:a16="http://schemas.microsoft.com/office/drawing/2014/main" id="{79FDCCF2-C885-4A49-8F1F-EA1BB05FBD1C}"/>
              </a:ext>
            </a:extLst>
          </p:cNvPr>
          <p:cNvSpPr>
            <a:spLocks xmlns:a="http://schemas.openxmlformats.org/drawingml/2006/main" noGrp="1"/>
          </p:cNvSpPr>
          <p:nvPr/>
        </p:nvSpPr>
        <p:spPr>
          <a:xfrm xmlns:a="http://schemas.openxmlformats.org/drawingml/2006/main">
            <a:off x="590550" y="3876675"/>
            <a:ext cx="3371850" cy="1428750"/>
          </a:xfrm>
          <a:prstGeom xmlns:a="http://schemas.openxmlformats.org/drawingml/2006/main" prst="roundRect">
            <a:avLst>
              <a:gd name="adj" fmla="val 8000"/>
            </a:avLst>
          </a:prstGeom>
          <a:solidFill xmlns:a="http://schemas.openxmlformats.org/drawingml/2006/main">
            <a:srgbClr val="183B2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AF0CB88-7085-45A3-BCED-DFBA8AF98AD4}"/>
              </a:ext>
            </a:extLst>
          </p:cNvPr>
          <p:cNvSpPr>
            <a:spLocks xmlns:a="http://schemas.openxmlformats.org/drawingml/2006/main" noGrp="1"/>
          </p:cNvSpPr>
          <p:nvPr/>
        </p:nvSpPr>
        <p:spPr>
          <a:xfrm xmlns:a="http://schemas.openxmlformats.org/drawingml/2006/main">
            <a:off x="819150" y="40386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FFF4BA"/>
                </a:solidFill>
              </a:defRPr>
            </a:pPr>
            <a:r>
              <a:rPr sz="1050" b="1" i="0">
                <a:solidFill>
                  <a:srgbClr val="FFF4BA"/>
                </a:solidFill>
              </a:rPr>
              <a:t>1  SELECT</a:t>
            </a:r>
          </a:p>
        </p:txBody>
      </p:sp>
      <p:sp>
        <p:nvSpPr>
          <p:cNvPr id="14" name="">
            <a:extLst xmlns:a="http://schemas.openxmlformats.org/drawingml/2006/main">
              <a:ext uri="{FF2B5EF4-FFF2-40B4-BE49-F238E27FC236}">
                <a16:creationId xmlns:a16="http://schemas.microsoft.com/office/drawing/2014/main" id="{7CA42027-CFF7-4C4A-B68F-D475E59B7F13}"/>
              </a:ext>
            </a:extLst>
          </p:cNvPr>
          <p:cNvSpPr>
            <a:spLocks xmlns:a="http://schemas.openxmlformats.org/drawingml/2006/main" noGrp="1"/>
          </p:cNvSpPr>
          <p:nvPr/>
        </p:nvSpPr>
        <p:spPr>
          <a:xfrm xmlns:a="http://schemas.openxmlformats.org/drawingml/2006/main">
            <a:off x="819150" y="4381500"/>
            <a:ext cx="2914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i="0">
                <a:solidFill>
                  <a:srgbClr val="FFFFFF"/>
                </a:solidFill>
              </a:defRPr>
            </a:pPr>
            <a:r>
              <a:rPr sz="1350" b="0" i="0">
                <a:solidFill>
                  <a:srgbClr val="FFFFFF"/>
                </a:solidFill>
              </a:rPr>
              <a:t>Select the exact theory, observation or record that answers the question.</a:t>
            </a:r>
          </a:p>
        </p:txBody>
      </p:sp>
      <p:sp>
        <p:nvSpPr>
          <p:cNvPr id="15" name="">
            <a:extLst xmlns:a="http://schemas.openxmlformats.org/drawingml/2006/main">
              <a:ext uri="{FF2B5EF4-FFF2-40B4-BE49-F238E27FC236}">
                <a16:creationId xmlns:a16="http://schemas.microsoft.com/office/drawing/2014/main" id="{2C13C254-4F81-4522-B3E9-8EFBC792AAC4}"/>
              </a:ext>
            </a:extLst>
          </p:cNvPr>
          <p:cNvSpPr>
            <a:spLocks xmlns:a="http://schemas.openxmlformats.org/drawingml/2006/main" noGrp="1"/>
          </p:cNvSpPr>
          <p:nvPr/>
        </p:nvSpPr>
        <p:spPr>
          <a:xfrm xmlns:a="http://schemas.openxmlformats.org/drawingml/2006/main">
            <a:off x="4305300" y="3876675"/>
            <a:ext cx="3371850" cy="1428750"/>
          </a:xfrm>
          <a:prstGeom xmlns:a="http://schemas.openxmlformats.org/drawingml/2006/main" prst="roundRect">
            <a:avLst>
              <a:gd name="adj" fmla="val 8000"/>
            </a:avLst>
          </a:prstGeom>
          <a:solidFill xmlns:a="http://schemas.openxmlformats.org/drawingml/2006/main">
            <a:srgbClr val="E1A72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7C9FBDF-01E9-4A6D-B379-B6489B6B4B43}"/>
              </a:ext>
            </a:extLst>
          </p:cNvPr>
          <p:cNvSpPr>
            <a:spLocks xmlns:a="http://schemas.openxmlformats.org/drawingml/2006/main" noGrp="1"/>
          </p:cNvSpPr>
          <p:nvPr/>
        </p:nvSpPr>
        <p:spPr>
          <a:xfrm xmlns:a="http://schemas.openxmlformats.org/drawingml/2006/main">
            <a:off x="4533900" y="40386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183B23"/>
                </a:solidFill>
              </a:defRPr>
            </a:pPr>
            <a:r>
              <a:rPr sz="1050" b="1" i="0">
                <a:solidFill>
                  <a:srgbClr val="183B23"/>
                </a:solidFill>
              </a:rPr>
              <a:t>2  EXPLAIN</a:t>
            </a:r>
          </a:p>
        </p:txBody>
      </p:sp>
      <p:sp>
        <p:nvSpPr>
          <p:cNvPr id="17" name="">
            <a:extLst xmlns:a="http://schemas.openxmlformats.org/drawingml/2006/main">
              <a:ext uri="{FF2B5EF4-FFF2-40B4-BE49-F238E27FC236}">
                <a16:creationId xmlns:a16="http://schemas.microsoft.com/office/drawing/2014/main" id="{8CEFFA51-5504-44E5-9A7F-5BB31B52E174}"/>
              </a:ext>
            </a:extLst>
          </p:cNvPr>
          <p:cNvSpPr>
            <a:spLocks xmlns:a="http://schemas.openxmlformats.org/drawingml/2006/main" noGrp="1"/>
          </p:cNvSpPr>
          <p:nvPr/>
        </p:nvSpPr>
        <p:spPr>
          <a:xfrm xmlns:a="http://schemas.openxmlformats.org/drawingml/2006/main">
            <a:off x="4533900" y="4381500"/>
            <a:ext cx="2914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i="0">
                <a:solidFill>
                  <a:srgbClr val="183B23"/>
                </a:solidFill>
              </a:defRPr>
            </a:pPr>
            <a:r>
              <a:rPr sz="1350" b="0" i="0">
                <a:solidFill>
                  <a:srgbClr val="183B23"/>
                </a:solidFill>
              </a:rPr>
              <a:t>Use subject vocabulary and show the because, so or therefore connection.</a:t>
            </a:r>
          </a:p>
        </p:txBody>
      </p:sp>
      <p:sp>
        <p:nvSpPr>
          <p:cNvPr id="18" name="">
            <a:extLst xmlns:a="http://schemas.openxmlformats.org/drawingml/2006/main">
              <a:ext uri="{FF2B5EF4-FFF2-40B4-BE49-F238E27FC236}">
                <a16:creationId xmlns:a16="http://schemas.microsoft.com/office/drawing/2014/main" id="{A41F6731-8203-43AB-98F9-6AD9EA84AA95}"/>
              </a:ext>
            </a:extLst>
          </p:cNvPr>
          <p:cNvSpPr>
            <a:spLocks xmlns:a="http://schemas.openxmlformats.org/drawingml/2006/main" noGrp="1"/>
          </p:cNvSpPr>
          <p:nvPr/>
        </p:nvSpPr>
        <p:spPr>
          <a:xfrm xmlns:a="http://schemas.openxmlformats.org/drawingml/2006/main">
            <a:off x="8020050" y="3876675"/>
            <a:ext cx="3371850" cy="1428750"/>
          </a:xfrm>
          <a:prstGeom xmlns:a="http://schemas.openxmlformats.org/drawingml/2006/main" prst="roundRect">
            <a:avLst>
              <a:gd name="adj" fmla="val 8000"/>
            </a:avLst>
          </a:prstGeom>
          <a:solidFill xmlns:a="http://schemas.openxmlformats.org/drawingml/2006/main">
            <a:srgbClr val="183B2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50FDC17-6176-477E-BFC8-895CD84E0A49}"/>
              </a:ext>
            </a:extLst>
          </p:cNvPr>
          <p:cNvSpPr>
            <a:spLocks xmlns:a="http://schemas.openxmlformats.org/drawingml/2006/main" noGrp="1"/>
          </p:cNvSpPr>
          <p:nvPr/>
        </p:nvSpPr>
        <p:spPr>
          <a:xfrm xmlns:a="http://schemas.openxmlformats.org/drawingml/2006/main">
            <a:off x="8248650" y="40386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FFF4BA"/>
                </a:solidFill>
              </a:defRPr>
            </a:pPr>
            <a:r>
              <a:rPr sz="1050" b="1" i="0">
                <a:solidFill>
                  <a:srgbClr val="FFF4BA"/>
                </a:solidFill>
              </a:rPr>
              <a:t>3  CHECK</a:t>
            </a:r>
          </a:p>
        </p:txBody>
      </p:sp>
      <p:sp>
        <p:nvSpPr>
          <p:cNvPr id="20" name="">
            <a:extLst xmlns:a="http://schemas.openxmlformats.org/drawingml/2006/main">
              <a:ext uri="{FF2B5EF4-FFF2-40B4-BE49-F238E27FC236}">
                <a16:creationId xmlns:a16="http://schemas.microsoft.com/office/drawing/2014/main" id="{B7FE7D0E-E05D-4006-9C34-3DD67CC2A92C}"/>
              </a:ext>
            </a:extLst>
          </p:cNvPr>
          <p:cNvSpPr>
            <a:spLocks xmlns:a="http://schemas.openxmlformats.org/drawingml/2006/main" noGrp="1"/>
          </p:cNvSpPr>
          <p:nvPr/>
        </p:nvSpPr>
        <p:spPr>
          <a:xfrm xmlns:a="http://schemas.openxmlformats.org/drawingml/2006/main">
            <a:off x="8248650" y="4381500"/>
            <a:ext cx="2914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i="0">
                <a:solidFill>
                  <a:srgbClr val="FFFFFF"/>
                </a:solidFill>
              </a:defRPr>
            </a:pPr>
            <a:r>
              <a:rPr sz="1350" b="0" i="0">
                <a:solidFill>
                  <a:srgbClr val="FFFFFF"/>
                </a:solidFill>
              </a:rPr>
              <a:t>Answer every part, state limits honestly and remove unsupported local claims.</a:t>
            </a:r>
          </a:p>
        </p:txBody>
      </p:sp>
      <p:sp>
        <p:nvSpPr>
          <p:cNvPr id="21" name="">
            <a:extLst xmlns:a="http://schemas.openxmlformats.org/drawingml/2006/main">
              <a:ext uri="{FF2B5EF4-FFF2-40B4-BE49-F238E27FC236}">
                <a16:creationId xmlns:a16="http://schemas.microsoft.com/office/drawing/2014/main" id="{1BE91609-792E-453E-8857-415FC35E4E64}"/>
              </a:ext>
            </a:extLst>
          </p:cNvPr>
          <p:cNvSpPr>
            <a:spLocks xmlns:a="http://schemas.openxmlformats.org/drawingml/2006/main" noGrp="1"/>
          </p:cNvSpPr>
          <p:nvPr/>
        </p:nvSpPr>
        <p:spPr>
          <a:xfrm xmlns:a="http://schemas.openxmlformats.org/drawingml/2006/main">
            <a:off x="590550" y="5619750"/>
            <a:ext cx="1095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B6402D"/>
                </a:solidFill>
              </a:defRPr>
            </a:pPr>
            <a:r>
              <a:rPr sz="1350" b="1" i="0">
                <a:solidFill>
                  <a:srgbClr val="B6402D"/>
                </a:solidFill>
              </a:rPr>
              <a:t>Sentence starter: The test will compare ______ by changing... and measuring...</a:t>
            </a:r>
          </a:p>
        </p:txBody>
      </p:sp>
    </p:spTree>
    <p:extLst>
      <p:ext uri="{BB962C8B-B14F-4D97-AF65-F5344CB8AC3E}">
        <p14:creationId xmlns:p14="http://schemas.microsoft.com/office/powerpoint/2010/main" val="459199447"/>
      </p:ext>
    </p:extLst>
  </p:cSld>
</p:sld>
</file>

<file path=ppt/slides/slide8.xml><?xml version="1.0" encoding="utf-8"?>
<p:sld xmlns:p="http://schemas.openxmlformats.org/presentationml/2006/main">
  <p:cSld>
    <p:bg>
      <p:bgPr>
        <a:solidFill xmlns:a="http://schemas.openxmlformats.org/drawingml/2006/main">
          <a:srgbClr val="B6402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B122274-1183-4A29-9BF3-CEB79E707F05}"/>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6909A9D-2EE9-450E-8F1F-E8767F172D45}"/>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EXIT TICKET</a:t>
            </a:r>
          </a:p>
        </p:txBody>
      </p:sp>
      <p:sp>
        <p:nvSpPr>
          <p:cNvPr id="3" name="">
            <a:extLst xmlns:a="http://schemas.openxmlformats.org/drawingml/2006/main">
              <a:ext uri="{FF2B5EF4-FFF2-40B4-BE49-F238E27FC236}">
                <a16:creationId xmlns:a16="http://schemas.microsoft.com/office/drawing/2014/main" id="{30AB1045-42F8-41A6-A340-70251A675D95}"/>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4  •  SOIL, MEDIA AND CIRCULAR NUTRIENTS</a:t>
            </a:r>
          </a:p>
        </p:txBody>
      </p:sp>
      <p:sp>
        <p:nvSpPr>
          <p:cNvPr id="4" name="">
            <a:extLst xmlns:a="http://schemas.openxmlformats.org/drawingml/2006/main">
              <a:ext uri="{FF2B5EF4-FFF2-40B4-BE49-F238E27FC236}">
                <a16:creationId xmlns:a16="http://schemas.microsoft.com/office/drawing/2014/main" id="{3E520C9F-6CD6-43E4-80D7-9B5FF93C7324}"/>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08</a:t>
            </a:r>
          </a:p>
        </p:txBody>
      </p:sp>
      <p:sp>
        <p:nvSpPr>
          <p:cNvPr id="5" name="">
            <a:extLst xmlns:a="http://schemas.openxmlformats.org/drawingml/2006/main">
              <a:ext uri="{FF2B5EF4-FFF2-40B4-BE49-F238E27FC236}">
                <a16:creationId xmlns:a16="http://schemas.microsoft.com/office/drawing/2014/main" id="{1718962A-1742-4177-8B39-A4CA50350EFC}"/>
              </a:ext>
            </a:extLst>
          </p:cNvPr>
          <p:cNvSpPr>
            <a:spLocks xmlns:a="http://schemas.openxmlformats.org/drawingml/2006/main" noGrp="1"/>
          </p:cNvSpPr>
          <p:nvPr/>
        </p:nvSpPr>
        <p:spPr>
          <a:xfrm xmlns:a="http://schemas.openxmlformats.org/drawingml/2006/main">
            <a:off x="590550" y="83820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150" b="1" i="0">
                <a:solidFill>
                  <a:srgbClr val="FFFFFF"/>
                </a:solidFill>
              </a:defRPr>
            </a:pPr>
            <a:r>
              <a:rPr sz="3150" b="1" i="0">
                <a:solidFill>
                  <a:srgbClr val="FFFFFF"/>
                </a:solidFill>
              </a:rPr>
              <a:t>Before you pack up…</a:t>
            </a:r>
          </a:p>
        </p:txBody>
      </p:sp>
      <p:sp>
        <p:nvSpPr>
          <p:cNvPr id="6" name="">
            <a:extLst xmlns:a="http://schemas.openxmlformats.org/drawingml/2006/main">
              <a:ext uri="{FF2B5EF4-FFF2-40B4-BE49-F238E27FC236}">
                <a16:creationId xmlns:a16="http://schemas.microsoft.com/office/drawing/2014/main" id="{A768D5E3-C08B-45DE-8F0E-C6275910F9A1}"/>
              </a:ext>
            </a:extLst>
          </p:cNvPr>
          <p:cNvSpPr>
            <a:spLocks xmlns:a="http://schemas.openxmlformats.org/drawingml/2006/main" noGrp="1"/>
          </p:cNvSpPr>
          <p:nvPr/>
        </p:nvSpPr>
        <p:spPr>
          <a:xfrm xmlns:a="http://schemas.openxmlformats.org/drawingml/2006/main">
            <a:off x="590550" y="1952625"/>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514E424-2CBE-46D3-B2E9-9A3F238511CE}"/>
              </a:ext>
            </a:extLst>
          </p:cNvPr>
          <p:cNvSpPr>
            <a:spLocks xmlns:a="http://schemas.openxmlformats.org/drawingml/2006/main" noGrp="1"/>
          </p:cNvSpPr>
          <p:nvPr/>
        </p:nvSpPr>
        <p:spPr>
          <a:xfrm xmlns:a="http://schemas.openxmlformats.org/drawingml/2006/main">
            <a:off x="857250" y="2085975"/>
            <a:ext cx="800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1. One idea I can now explain is…</a:t>
            </a:r>
          </a:p>
        </p:txBody>
      </p:sp>
      <p:sp>
        <p:nvSpPr>
          <p:cNvPr id="8" name="">
            <a:extLst xmlns:a="http://schemas.openxmlformats.org/drawingml/2006/main">
              <a:ext uri="{FF2B5EF4-FFF2-40B4-BE49-F238E27FC236}">
                <a16:creationId xmlns:a16="http://schemas.microsoft.com/office/drawing/2014/main" id="{7E0524D4-EA67-41A5-9A72-8E1851D21B03}"/>
              </a:ext>
            </a:extLst>
          </p:cNvPr>
          <p:cNvSpPr>
            <a:spLocks xmlns:a="http://schemas.openxmlformats.org/drawingml/2006/main" noGrp="1"/>
          </p:cNvSpPr>
          <p:nvPr/>
        </p:nvSpPr>
        <p:spPr>
          <a:xfrm xmlns:a="http://schemas.openxmlformats.org/drawingml/2006/main">
            <a:off x="590550" y="3095625"/>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C8160E6-D790-4772-AC44-7BD1AAF8FDC6}"/>
              </a:ext>
            </a:extLst>
          </p:cNvPr>
          <p:cNvSpPr>
            <a:spLocks xmlns:a="http://schemas.openxmlformats.org/drawingml/2006/main" noGrp="1"/>
          </p:cNvSpPr>
          <p:nvPr/>
        </p:nvSpPr>
        <p:spPr>
          <a:xfrm xmlns:a="http://schemas.openxmlformats.org/drawingml/2006/main">
            <a:off x="857250" y="3228975"/>
            <a:ext cx="800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2. One decision or practical action this changes is…</a:t>
            </a:r>
          </a:p>
        </p:txBody>
      </p:sp>
      <p:sp>
        <p:nvSpPr>
          <p:cNvPr id="10" name="">
            <a:extLst xmlns:a="http://schemas.openxmlformats.org/drawingml/2006/main">
              <a:ext uri="{FF2B5EF4-FFF2-40B4-BE49-F238E27FC236}">
                <a16:creationId xmlns:a16="http://schemas.microsoft.com/office/drawing/2014/main" id="{03B3ED7A-87C0-4114-AB98-5ED03E954B83}"/>
              </a:ext>
            </a:extLst>
          </p:cNvPr>
          <p:cNvSpPr>
            <a:spLocks xmlns:a="http://schemas.openxmlformats.org/drawingml/2006/main" noGrp="1"/>
          </p:cNvSpPr>
          <p:nvPr/>
        </p:nvSpPr>
        <p:spPr>
          <a:xfrm xmlns:a="http://schemas.openxmlformats.org/drawingml/2006/main">
            <a:off x="590550" y="4238625"/>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EA5A421-46BB-4F62-8859-D467DCADBF84}"/>
              </a:ext>
            </a:extLst>
          </p:cNvPr>
          <p:cNvSpPr>
            <a:spLocks xmlns:a="http://schemas.openxmlformats.org/drawingml/2006/main" noGrp="1"/>
          </p:cNvSpPr>
          <p:nvPr/>
        </p:nvSpPr>
        <p:spPr>
          <a:xfrm xmlns:a="http://schemas.openxmlformats.org/drawingml/2006/main">
            <a:off x="857250" y="4371975"/>
            <a:ext cx="800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3. One local detail my teacher still needs to confirm is…</a:t>
            </a:r>
          </a:p>
        </p:txBody>
      </p:sp>
      <p:sp>
        <p:nvSpPr>
          <p:cNvPr id="12" name="">
            <a:extLst xmlns:a="http://schemas.openxmlformats.org/drawingml/2006/main">
              <a:ext uri="{FF2B5EF4-FFF2-40B4-BE49-F238E27FC236}">
                <a16:creationId xmlns:a16="http://schemas.microsoft.com/office/drawing/2014/main" id="{1AE3BF1F-600B-4BAF-AB88-A6EBA4DBF1C5}"/>
              </a:ext>
            </a:extLst>
          </p:cNvPr>
          <p:cNvSpPr>
            <a:spLocks xmlns:a="http://schemas.openxmlformats.org/drawingml/2006/main" noGrp="1"/>
          </p:cNvSpPr>
          <p:nvPr/>
        </p:nvSpPr>
        <p:spPr>
          <a:xfrm xmlns:a="http://schemas.openxmlformats.org/drawingml/2006/main">
            <a:off x="9715500" y="2476500"/>
            <a:ext cx="1619250" cy="16192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F43F331-7F08-46C0-AB55-FE8E9949CDA8}"/>
              </a:ext>
            </a:extLst>
          </p:cNvPr>
          <p:cNvSpPr>
            <a:spLocks xmlns:a="http://schemas.openxmlformats.org/drawingml/2006/main" noGrp="1"/>
          </p:cNvSpPr>
          <p:nvPr/>
        </p:nvSpPr>
        <p:spPr>
          <a:xfrm xmlns:a="http://schemas.openxmlformats.org/drawingml/2006/main">
            <a:off x="9906000" y="2724150"/>
            <a:ext cx="1238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83B23"/>
                </a:solidFill>
              </a:defRPr>
            </a:pPr>
            <a:r>
              <a:rPr sz="1800" b="1" i="0">
                <a:solidFill>
                  <a:srgbClr val="183B23"/>
                </a:solidFill>
              </a:rPr>
              <a:t>SAVE</a:t>
            </a:r>
          </a:p>
          <a:p xmlns:a="http://schemas.openxmlformats.org/drawingml/2006/main">
            <a:pPr algn="ctr">
              <a:buNone/>
              <a:defRPr sz="1800" b="1" i="0">
                <a:solidFill>
                  <a:srgbClr val="183B23"/>
                </a:solidFill>
              </a:defRPr>
            </a:pPr>
            <a:r>
              <a:rPr sz="1800" b="1" i="0">
                <a:solidFill>
                  <a:srgbClr val="183B23"/>
                </a:solidFill>
              </a:rPr>
              <a:t>TO</a:t>
            </a:r>
          </a:p>
          <a:p xmlns:a="http://schemas.openxmlformats.org/drawingml/2006/main">
            <a:pPr algn="ctr">
              <a:buNone/>
              <a:defRPr sz="1800" b="1" i="0">
                <a:solidFill>
                  <a:srgbClr val="183B23"/>
                </a:solidFill>
              </a:defRPr>
            </a:pPr>
            <a:r>
              <a:rPr sz="1800" b="1" i="0">
                <a:solidFill>
                  <a:srgbClr val="183B23"/>
                </a:solidFill>
              </a:rPr>
              <a:t>FOLIO</a:t>
            </a:r>
          </a:p>
        </p:txBody>
      </p:sp>
    </p:spTree>
    <p:extLst>
      <p:ext uri="{BB962C8B-B14F-4D97-AF65-F5344CB8AC3E}">
        <p14:creationId xmlns:p14="http://schemas.microsoft.com/office/powerpoint/2010/main" val="9331628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2026-09-01T23:40:11.1410000Z</dcterms:created>
  <dcterms:modified xsi:type="dcterms:W3CDTF">2026-09-01T23:40:11.1410000Z</dcterms:modified>
</coreProperties>
</file>