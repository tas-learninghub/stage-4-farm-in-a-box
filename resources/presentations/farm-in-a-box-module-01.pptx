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ba58ea7db04913" /><Relationship Type="http://schemas.openxmlformats.org/officeDocument/2006/relationships/extended-properties" Target="/docProps/app.xml" Id="R4c74a1fbe96f4520" /><Relationship Type="http://schemas.openxmlformats.org/officeDocument/2006/relationships/officeDocument" Target="/ppt/presentation.xml" Id="R168101c54b7644de" /></Relationships>
</file>

<file path=ppt/presentation.xml><?xml version="1.0" encoding="utf-8"?>
<p:presentation xmlns:p="http://schemas.openxmlformats.org/presentationml/2006/main">
  <p:sldMasterIdLst>
    <p:sldMasterId xmlns:r="http://schemas.openxmlformats.org/officeDocument/2006/relationships" id="2147483648" r:id="R1140fb28a5ca4ddf"/>
  </p:sldMasterIdLst>
  <p:notesMasterIdLst>
    <p:notesMasterId xmlns:r="http://schemas.openxmlformats.org/officeDocument/2006/relationships" r:id="Rc4c711db370a4cec"/>
  </p:notesMasterIdLst>
  <p:sldIdLst>
    <p:sldId xmlns:r="http://schemas.openxmlformats.org/officeDocument/2006/relationships" id="256" r:id="R8bf2ec7a64244c9b"/>
    <p:sldId xmlns:r="http://schemas.openxmlformats.org/officeDocument/2006/relationships" id="257" r:id="Rf51656196fb84bcb"/>
    <p:sldId xmlns:r="http://schemas.openxmlformats.org/officeDocument/2006/relationships" id="258" r:id="R6985647ac7e6462f"/>
    <p:sldId xmlns:r="http://schemas.openxmlformats.org/officeDocument/2006/relationships" id="259" r:id="Rf5c023794a584fdd"/>
    <p:sldId xmlns:r="http://schemas.openxmlformats.org/officeDocument/2006/relationships" id="260" r:id="R1c4b61382d8b4dd2"/>
    <p:sldId xmlns:r="http://schemas.openxmlformats.org/officeDocument/2006/relationships" id="261" r:id="R22bb2f4f66204707"/>
    <p:sldId xmlns:r="http://schemas.openxmlformats.org/officeDocument/2006/relationships" id="262" r:id="R7bfd35cb97c6470f"/>
    <p:sldId xmlns:r="http://schemas.openxmlformats.org/officeDocument/2006/relationships" id="263" r:id="Rb049516549b04d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8f19d2e712432b" /><Relationship Type="http://schemas.openxmlformats.org/officeDocument/2006/relationships/slideMaster" Target="/ppt/slideMasters/slideMaster1.xml" Id="R1140fb28a5ca4ddf" /><Relationship Type="http://schemas.openxmlformats.org/officeDocument/2006/relationships/notesMaster" Target="/ppt/notesMasters/notesMaster1.xml" Id="Rc4c711db370a4cec" /><Relationship Type="http://schemas.openxmlformats.org/officeDocument/2006/relationships/presProps" Target="/ppt/presProps.xml" Id="R3042be20baee4f2d" /><Relationship Type="http://schemas.openxmlformats.org/officeDocument/2006/relationships/tableStyles" Target="/ppt/tableStyles.xml" Id="R29c5702c0e504fe7" /><Relationship Type="http://schemas.openxmlformats.org/officeDocument/2006/relationships/slide" Target="/ppt/slides/slide1.xml" Id="R8bf2ec7a64244c9b" /><Relationship Type="http://schemas.openxmlformats.org/officeDocument/2006/relationships/slide" Target="/ppt/slides/slide2.xml" Id="Rf51656196fb84bcb" /><Relationship Type="http://schemas.openxmlformats.org/officeDocument/2006/relationships/slide" Target="/ppt/slides/slide3.xml" Id="R6985647ac7e6462f" /><Relationship Type="http://schemas.openxmlformats.org/officeDocument/2006/relationships/slide" Target="/ppt/slides/slide4.xml" Id="Rf5c023794a584fdd" /><Relationship Type="http://schemas.openxmlformats.org/officeDocument/2006/relationships/slide" Target="/ppt/slides/slide5.xml" Id="R1c4b61382d8b4dd2" /><Relationship Type="http://schemas.openxmlformats.org/officeDocument/2006/relationships/slide" Target="/ppt/slides/slide6.xml" Id="R22bb2f4f66204707" /><Relationship Type="http://schemas.openxmlformats.org/officeDocument/2006/relationships/slide" Target="/ppt/slides/slide7.xml" Id="R7bfd35cb97c6470f" /><Relationship Type="http://schemas.openxmlformats.org/officeDocument/2006/relationships/slide" Target="/ppt/slides/slide8.xml" Id="Rb049516549b04d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9eddb4b0b740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a46e2703a54d1f" /><Relationship Type="http://schemas.openxmlformats.org/officeDocument/2006/relationships/notesMaster" Target="/ppt/notesMasters/notesMaster1.xml" Id="R8b497c12b4d948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4e55f4133a4081" /><Relationship Type="http://schemas.openxmlformats.org/officeDocument/2006/relationships/notesMaster" Target="/ppt/notesMasters/notesMaster1.xml" Id="Rf3d415ee3cea47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90d5194f2243f9" /><Relationship Type="http://schemas.openxmlformats.org/officeDocument/2006/relationships/notesMaster" Target="/ppt/notesMasters/notesMaster1.xml" Id="R9600ec49fdbf47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20ba903cf64329" /><Relationship Type="http://schemas.openxmlformats.org/officeDocument/2006/relationships/notesMaster" Target="/ppt/notesMasters/notesMaster1.xml" Id="R28c7a0858e404d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6cb4f615764db7" /><Relationship Type="http://schemas.openxmlformats.org/officeDocument/2006/relationships/notesMaster" Target="/ppt/notesMasters/notesMaster1.xml" Id="Rcfde3d0baa2c43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272228d2fe46d8" /><Relationship Type="http://schemas.openxmlformats.org/officeDocument/2006/relationships/notesMaster" Target="/ppt/notesMasters/notesMaster1.xml" Id="R6779501d2d0941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6d540493c04fb4" /><Relationship Type="http://schemas.openxmlformats.org/officeDocument/2006/relationships/notesMaster" Target="/ppt/notesMasters/notesMaster1.xml" Id="Rc1596c3c04ff49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5897b84d2c4242" /><Relationship Type="http://schemas.openxmlformats.org/officeDocument/2006/relationships/notesMaster" Target="/ppt/notesMasters/notesMaster1.xml" Id="R3cb7bd9199e84d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Agriculture Is Everywhere as the next step in the Farm in a Box learning sequence.</a:t>
            </a:r>
          </a:p>
          <a:p xmlns:a="http://schemas.openxmlformats.org/drawingml/2006/main">
            <a:r>
              <a:t>Student outcome for this deck: Trace the systems behind everyday products, then define a worthwhile small-space growing challenge.</a:t>
            </a:r>
          </a:p>
          <a:p xmlns:a="http://schemas.openxmlformats.org/drawingml/2006/main">
            <a:r>
              <a:t>Opening prompt: ask students what evidence in the image makes this an agriculture system rather than a decorative container.</a:t>
            </a:r>
          </a:p>
          <a:p xmlns:a="http://schemas.openxmlformats.org/drawingml/2006/main">
            <a:r>
              <a:t>Boundary: crop, site, materials, tools, method and local safety controls remain Teacher to confirm.</a:t>
            </a:r>
          </a:p>
          <a:p xmlns:a="http://schemas.openxmlformats.org/drawingml/2006/main">
            <a:r>
              <a:t>Transition: preview the three named learning areas without answering the warm-up for students.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Steve's Farm in a Box build brief — Codex task conversation dated 2026-09-02</a:t>
            </a:r>
          </a:p>
          <a:p xmlns:a="http://schemas.openxmlformats.org/drawingml/2006/main">
            <a:r>
              <a:t>- NSW Primary Industries Performance, Data and Insights — Rice — https://www.dpi.nsw.gov.au/about-us/publications/pdi/2022/rice</a:t>
            </a:r>
          </a:p>
          <a:p xmlns:a="http://schemas.openxmlformats.org/drawingml/2006/main">
            <a:r>
              <a:t>- NSW Primary Industries Performance, Data and Insights — Cotton — https://www.dpi.nsw.gov.au/about-us/publications/pdi/2025/cotton</a:t>
            </a:r>
          </a:p>
          <a:p xmlns:a="http://schemas.openxmlformats.org/drawingml/2006/main">
            <a:r>
              <a:t>- Course design brief: resources/core/design-brief-v1.0.json.</a:t>
            </a:r>
          </a:p>
          <a:p xmlns:a="http://schemas.openxmlformats.org/drawingml/2006/main">
            <a:r>
              <a:t>- Generated title visual: assets/m01-s03-grow-more-with-less.png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taking responses.</a:t>
            </a:r>
          </a:p>
          <a:p xmlns:a="http://schemas.openxmlformats.org/drawingml/2006/main">
            <a:r>
              <a:t>The three named areas are Agriculture is everywhere; From paddock to product; Mission: grow more with less.</a:t>
            </a:r>
          </a:p>
          <a:p xmlns:a="http://schemas.openxmlformats.org/drawingml/2006/main">
            <a:r>
              <a:t>Keep initial answers provisional. The deck is designed to improve them with evidence.</a:t>
            </a:r>
          </a:p>
          <a:p xmlns:a="http://schemas.openxmlformats.org/drawingml/2006/main">
            <a:r>
              <a:t>Do not introduce outcome codes or local practical facts on this student-facing slide.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Steve's Farm in a Box build brief — Codex task conversation dated 2026-09-02</a:t>
            </a:r>
          </a:p>
          <a:p xmlns:a="http://schemas.openxmlformats.org/drawingml/2006/main">
            <a:r>
              <a:t>- NSW Primary Industries Performance, Data and Insights — Rice — https://www.dpi.nsw.gov.au/about-us/publications/pdi/2022/rice</a:t>
            </a:r>
          </a:p>
          <a:p xmlns:a="http://schemas.openxmlformats.org/drawingml/2006/main">
            <a:r>
              <a:t>- NSW Primary Industries Performance, Data and Insights — Cotton — https://www.dpi.nsw.gov.au/about-us/publications/pdi/2025/cotton</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Agriculture is everywhere concrete before students apply it to the Farm in a Box.</a:t>
            </a:r>
          </a:p>
          <a:p xmlns:a="http://schemas.openxmlformats.org/drawingml/2006/main">
            <a:r>
              <a:t>Talking point 1: Agriculture connects biological production with people, resources, processes, products and feedback. Named NSW rice and cotton examples show how grain and fibre properties, place, processing and resource constraints shape different industries.</a:t>
            </a:r>
          </a:p>
          <a:p xmlns:a="http://schemas.openxmlformats.org/drawingml/2006/main">
            <a:r>
              <a:t>Talking point 2: connect the image to the decision or evidence prompt; ask students what feature they notice and why it matters.</a:t>
            </a:r>
          </a:p>
          <a:p xmlns:a="http://schemas.openxmlformats.org/drawingml/2006/main">
            <a:r>
              <a:t>Named comparison: Riverina–Murray rice is an edible grain harvested and then milled; NSW cotton is a long plant fibre separated from seed and prepared for textile manufacture.</a:t>
            </a:r>
          </a:p>
          <a:p xmlns:a="http://schemas.openxmlformats.org/drawingml/2006/main">
            <a:r>
              <a:t>Constraint comparison: seasonal conditions and water availability affect both industries, while grain and fibre properties lead to different processing pathways and quality decisions.</a:t>
            </a:r>
          </a:p>
          <a:p xmlns:a="http://schemas.openxmlformats.org/drawingml/2006/main">
            <a:r>
              <a:t>Likely misconception: Agriculture only means large farms producing food.</a:t>
            </a:r>
          </a:p>
          <a:p xmlns:a="http://schemas.openxmlformats.org/drawingml/2006/main">
            <a:r>
              <a:t>Correction: Agriculture also produces fibre and other biological products, and it can operate at many scales as part of a wider production system.</a:t>
            </a:r>
          </a:p>
          <a:p xmlns:a="http://schemas.openxmlformats.org/drawingml/2006/main">
            <a:r>
              <a:t>Prompt: Map inputs, processes, outputs and feedback for one familiar product, then compare the named NSW rice and cotton examples by product property, region, process and constraint.</a:t>
            </a:r>
          </a:p>
          <a:p xmlns:a="http://schemas.openxmlformats.org/drawingml/2006/main">
            <a:r>
              <a:t>Transition: connect this idea to From paddock to product.</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NSW Primary Industries Performance, Data and Insights — Rice — https://www.dpi.nsw.gov.au/about-us/publications/pdi/2022/rice</a:t>
            </a:r>
          </a:p>
          <a:p xmlns:a="http://schemas.openxmlformats.org/drawingml/2006/main">
            <a:r>
              <a:t>- NSW Primary Industries Performance, Data and Insights — Cotton — https://www.dpi.nsw.gov.au/about-us/publications/pdi/2025/cotton</a:t>
            </a:r>
          </a:p>
          <a:p xmlns:a="http://schemas.openxmlformats.org/drawingml/2006/main">
            <a:r>
              <a:t>- Generated teaching visual: assets/m01-s01-agriculture-everywhere.png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From paddock to product concrete before students apply it to the Farm in a Box.</a:t>
            </a:r>
          </a:p>
          <a:p xmlns:a="http://schemas.openxmlformats.org/drawingml/2006/main">
            <a:r>
              <a:t>Talking point 1: Agricultural products move through connected stages. Each stage can add value, use resources and create impacts, while traceability relies on reliable records.</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A product chain is a one-way list that ends when an item is sold.</a:t>
            </a:r>
          </a:p>
          <a:p xmlns:a="http://schemas.openxmlformats.org/drawingml/2006/main">
            <a:r>
              <a:t>Correction: Real chains include information and feedback, may loop materials into another use, and continue through use and end-of-life decisions.</a:t>
            </a:r>
          </a:p>
          <a:p xmlns:a="http://schemas.openxmlformats.org/drawingml/2006/main">
            <a:r>
              <a:t>Prompt: Build a paddock-to-product chain for one chosen agricultural product and mark one value-adding point, one resource-use point and one traceability record.</a:t>
            </a:r>
          </a:p>
          <a:p xmlns:a="http://schemas.openxmlformats.org/drawingml/2006/main">
            <a:r>
              <a:t>Transition: connect this idea to Mission: grow more with less.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assets/m01-s02-paddock-to-product.png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Mission: grow more with less concrete before students apply it to the Farm in a Box.</a:t>
            </a:r>
          </a:p>
          <a:p xmlns:a="http://schemas.openxmlformats.org/drawingml/2006/main">
            <a:r>
              <a:t>Talking point 1: The mission is to design an efficient small-space growing system. A good problem statement stays open, criteria make success checkable, and constraints focus decisions.</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Grow more with less means the largest harvest is always the best solution.</a:t>
            </a:r>
          </a:p>
          <a:p xmlns:a="http://schemas.openxmlformats.org/drawingml/2006/main">
            <a:r>
              <a:t>Correction: A sound judgement compares useful performance with resource use, space, waste, care and the agreed criteria.</a:t>
            </a:r>
          </a:p>
          <a:p xmlns:a="http://schemas.openxmlformats.org/drawingml/2006/main">
            <a:r>
              <a:t>Prompt: Write and peer-test a problem statement, two measurable criteria and one constraint for a resource-conscious small-space growing system.</a:t>
            </a:r>
          </a:p>
          <a:p xmlns:a="http://schemas.openxmlformats.org/drawingml/2006/main">
            <a:r>
              <a:t>Transition: move from explanation to retrieval across all three ideas.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Steve's Farm in a Box build brief — Codex task conversation dated 2026-09-02</a:t>
            </a:r>
          </a:p>
          <a:p xmlns:a="http://schemas.openxmlformats.org/drawingml/2006/main">
            <a:r>
              <a:t>- Generated teaching visual: assets/m01-s03-grow-more-with-less.png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think-pair-share: students answer silently, cite one deck idea, then improve their explanation with a partner.</a:t>
            </a:r>
          </a:p>
          <a:p xmlns:a="http://schemas.openxmlformats.org/drawingml/2006/main">
            <a:r>
              <a:t>Question 1 checks Agriculture is everywhere.</a:t>
            </a:r>
          </a:p>
          <a:p xmlns:a="http://schemas.openxmlformats.org/drawingml/2006/main">
            <a:r>
              <a:t>Question 2 checks From paddock to product.</a:t>
            </a:r>
          </a:p>
          <a:p xmlns:a="http://schemas.openxmlformats.org/drawingml/2006/main">
            <a:r>
              <a:t>Question 3 checks Mission: grow more with less.</a:t>
            </a:r>
          </a:p>
          <a:p xmlns:a="http://schemas.openxmlformats.org/drawingml/2006/main">
            <a:r>
              <a:t>Ask for reasoning, not only a short answer. Correct overclaiming and invented local detail.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Steve's Farm in a Box build brief — Codex task conversation dated 2026-09-02</a:t>
            </a:r>
          </a:p>
          <a:p xmlns:a="http://schemas.openxmlformats.org/drawingml/2006/main">
            <a:r>
              <a:t>- NSW Primary Industries Performance, Data and Insights — Rice — https://www.dpi.nsw.gov.au/about-us/publications/pdi/2022/rice</a:t>
            </a:r>
          </a:p>
          <a:p xmlns:a="http://schemas.openxmlformats.org/drawingml/2006/main">
            <a:r>
              <a:t>- NSW Primary Industries Performance, Data and Insights — Cotton — https://www.dpi.nsw.gov.au/about-us/publications/pdi/2025/cotton</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 purpose: Apply the Farm in a Box mission to write a defensible problem statement, two checkable criteria and one meaningful constraint, then explain how they keep the project agriculture-dominant.</a:t>
            </a:r>
          </a:p>
          <a:p xmlns:a="http://schemas.openxmlformats.org/drawingml/2006/main">
            <a:r>
              <a:t>Scaffold prompts: What crop-production need can be stated without selecting the final solution? | What two observable or measurable results would show useful performance and careful resource use? | Which genuine limit will shape the design? | How will these choices keep attention on agricultural production rather than decoration?</a:t>
            </a:r>
          </a:p>
          <a:p xmlns:a="http://schemas.openxmlformats.org/drawingml/2006/main">
            <a:r>
              <a:t>Success criteria: Writes an open problem statement that identifies a need and context. | Supplies two checkable criteria and distinguishes them from one constraint. | Explains the agriculture-production purpose without inventing local materials, crop results or procedures.</a:t>
            </a:r>
          </a:p>
          <a:p xmlns:a="http://schemas.openxmlformats.org/drawingml/2006/main">
            <a:r>
              <a:t>Appropriate response example for teacher modelling: The design problem is to support crop growth in a limited school space while using resources carefully and producing evidence that can guide improvement. Success will be checked by whether observations can be recorded consistently and whether the system makes avoidable water loss visible for review. A genuine constraint is the confirmed growing space. These choices keep the work focused on crop production, resource management and evidence rather than the box's decoration.</a:t>
            </a:r>
          </a:p>
          <a:p xmlns:a="http://schemas.openxmlformats.org/drawingml/2006/main">
            <a:r>
              <a:t>Model how to acknowledge uncertainty without weakening a claim supported by evidence.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Steve's Farm in a Box build brief — Codex task conversation dated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destination: NSW agriculture and product map; paddock-to-product chain; problem statement and measurable draft criteria.</a:t>
            </a:r>
          </a:p>
          <a:p xmlns:a="http://schemas.openxmlformats.org/drawingml/2006/main">
            <a:r>
              <a:t>Students save a concise exit response in their local folio or on paper.</a:t>
            </a:r>
          </a:p>
          <a:p xmlns:a="http://schemas.openxmlformats.org/drawingml/2006/main">
            <a:r>
              <a:t>Accept a specific unanswered local-control question; do not pressure students to invent the answer.</a:t>
            </a:r>
          </a:p>
          <a:p xmlns:a="http://schemas.openxmlformats.org/drawingml/2006/main">
            <a:r>
              <a:t>Next step: continue to Module 2.</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Steve's Farm in a Box build brief — Codex task conversation dated 2026-09-02</a:t>
            </a:r>
          </a:p>
          <a:p xmlns:a="http://schemas.openxmlformats.org/drawingml/2006/main">
            <a:r>
              <a:t>- NSW Primary Industries Performance, Data and Insights — Rice — https://www.dpi.nsw.gov.au/about-us/publications/pdi/2022/rice</a:t>
            </a:r>
          </a:p>
          <a:p xmlns:a="http://schemas.openxmlformats.org/drawingml/2006/main">
            <a:r>
              <a:t>- NSW Primary Industries Performance, Data and Insights — Cotton — https://www.dpi.nsw.gov.au/about-us/publications/pdi/2025/cotton</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799ce01ec744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f2800501974758" /><Relationship Type="http://schemas.openxmlformats.org/officeDocument/2006/relationships/slideLayout" Target="/ppt/slideLayouts/slideLayout1.xml" Id="R518a1708d7b040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8a1708d7b040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0595c4f6124862" /><Relationship Type="http://schemas.openxmlformats.org/officeDocument/2006/relationships/image" Target="/ppt/media/image.png" Id="R16b4c1439f32420a" /><Relationship Type="http://schemas.openxmlformats.org/officeDocument/2006/relationships/notesSlide" Target="/ppt/notesSlides/notesSlide1.xml" Id="R63f30757729f4e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c0b4bc28c441be" /><Relationship Type="http://schemas.openxmlformats.org/officeDocument/2006/relationships/notesSlide" Target="/ppt/notesSlides/notesSlide2.xml" Id="R947ed3de4216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2587f9e0e84ce4" /><Relationship Type="http://schemas.openxmlformats.org/officeDocument/2006/relationships/image" Target="/ppt/media/image2.png" Id="R717e2d172b47478c" /><Relationship Type="http://schemas.openxmlformats.org/officeDocument/2006/relationships/notesSlide" Target="/ppt/notesSlides/notesSlide3.xml" Id="R78c7adb8ec2942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6bbb025ac84421" /><Relationship Type="http://schemas.openxmlformats.org/officeDocument/2006/relationships/image" Target="/ppt/media/image3.png" Id="Rae63dd99b50d4fe0" /><Relationship Type="http://schemas.openxmlformats.org/officeDocument/2006/relationships/notesSlide" Target="/ppt/notesSlides/notesSlide4.xml" Id="R10e693b6afaf4f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7b96a3da314a61" /><Relationship Type="http://schemas.openxmlformats.org/officeDocument/2006/relationships/image" Target="/ppt/media/image4.png" Id="R9e1355f516b048cd" /><Relationship Type="http://schemas.openxmlformats.org/officeDocument/2006/relationships/notesSlide" Target="/ppt/notesSlides/notesSlide5.xml" Id="Rd3e86c416c6641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e3f0e7fa4745e7" /><Relationship Type="http://schemas.openxmlformats.org/officeDocument/2006/relationships/notesSlide" Target="/ppt/notesSlides/notesSlide6.xml" Id="Ra500757286f648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20b0d9d2cd4336" /><Relationship Type="http://schemas.openxmlformats.org/officeDocument/2006/relationships/notesSlide" Target="/ppt/notesSlides/notesSlide7.xml" Id="R1ebdfedeffa449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ba24ffebc44bb6" /><Relationship Type="http://schemas.openxmlformats.org/officeDocument/2006/relationships/notesSlide" Target="/ppt/notesSlides/notesSlide8.xml" Id="R652d53fbb9714b06" /></Relationships>
</file>

<file path=ppt/slides/slide1.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pic>
        <p:nvPicPr>
          <p:cNvPr id="9" name="" descr="Students compare three small crop-container prototypes while measuring the work area and considering a limited set of reusable materials."/>
          <p:cNvPicPr>
            <a:picLocks xmlns:a="http://schemas.openxmlformats.org/drawingml/2006/main" noChangeAspect="1"/>
          </p:cNvPicPr>
          <p:nvPr/>
        </p:nvPicPr>
        <p:blipFill>
          <a:blip xmlns:r="http://schemas.openxmlformats.org/officeDocument/2006/relationships" xmlns:a="http://schemas.openxmlformats.org/drawingml/2006/main" r:embed="R16b4c1439f32420a"/>
          <a:srcRect xmlns:a="http://schemas.openxmlformats.org/drawingml/2006/main" l="24074" t="0" r="2407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D26F3DCB-777C-4C8E-B4A9-02AFB509E964}"/>
              </a:ext>
            </a:extLst>
          </p:cNvPr>
          <p:cNvSpPr>
            <a:spLocks xmlns:a="http://schemas.openxmlformats.org/drawingml/2006/main" noGrp="1"/>
          </p:cNvSpPr>
          <p:nvPr/>
        </p:nvSpPr>
        <p:spPr>
          <a:xfrm xmlns:a="http://schemas.openxmlformats.org/drawingml/2006/main">
            <a:off x="0" y="0"/>
            <a:ext cx="7381875" cy="6858000"/>
          </a:xfrm>
          <a:prstGeom xmlns:a="http://schemas.openxmlformats.org/drawingml/2006/main" prst="rect">
            <a:avLst/>
          </a:prstGeom>
          <a:solidFill xmlns:a="http://schemas.openxmlformats.org/drawingml/2006/main">
            <a:srgbClr val="183B2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9E617F-A88F-4BE4-9B2D-10AAE5E4C10E}"/>
              </a:ext>
            </a:extLst>
          </p:cNvPr>
          <p:cNvSpPr>
            <a:spLocks xmlns:a="http://schemas.openxmlformats.org/drawingml/2006/main" noGrp="1"/>
          </p:cNvSpPr>
          <p:nvPr/>
        </p:nvSpPr>
        <p:spPr>
          <a:xfrm xmlns:a="http://schemas.openxmlformats.org/drawingml/2006/main">
            <a:off x="609600" y="781050"/>
            <a:ext cx="914400" cy="952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340A3A-8C2E-4135-AB75-EA97FCCB524D}"/>
              </a:ext>
            </a:extLst>
          </p:cNvPr>
          <p:cNvSpPr>
            <a:spLocks xmlns:a="http://schemas.openxmlformats.org/drawingml/2006/main" noGrp="1"/>
          </p:cNvSpPr>
          <p:nvPr/>
        </p:nvSpPr>
        <p:spPr>
          <a:xfrm xmlns:a="http://schemas.openxmlformats.org/drawingml/2006/main">
            <a:off x="609600" y="1123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FFF4BA"/>
                </a:solidFill>
              </a:defRPr>
            </a:pPr>
            <a:r>
              <a:rPr sz="1350" b="1" i="0">
                <a:solidFill>
                  <a:srgbClr val="FFF4BA"/>
                </a:solidFill>
              </a:rPr>
              <a:t>MODULE 1</a:t>
            </a:r>
          </a:p>
        </p:txBody>
      </p:sp>
      <p:sp>
        <p:nvSpPr>
          <p:cNvPr id="5" name="">
            <a:extLst xmlns:a="http://schemas.openxmlformats.org/drawingml/2006/main">
              <a:ext uri="{FF2B5EF4-FFF2-40B4-BE49-F238E27FC236}">
                <a16:creationId xmlns:a16="http://schemas.microsoft.com/office/drawing/2014/main" id="{06EED36D-D67B-45A2-9B23-B2CCE1673BE6}"/>
              </a:ext>
            </a:extLst>
          </p:cNvPr>
          <p:cNvSpPr>
            <a:spLocks xmlns:a="http://schemas.openxmlformats.org/drawingml/2006/main" noGrp="1"/>
          </p:cNvSpPr>
          <p:nvPr/>
        </p:nvSpPr>
        <p:spPr>
          <a:xfrm xmlns:a="http://schemas.openxmlformats.org/drawingml/2006/main">
            <a:off x="609600" y="1695450"/>
            <a:ext cx="571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i="0">
                <a:solidFill>
                  <a:srgbClr val="FFFFFF"/>
                </a:solidFill>
              </a:defRPr>
            </a:pPr>
            <a:r>
              <a:rPr sz="4050" b="1" i="0">
                <a:solidFill>
                  <a:srgbClr val="FFFFFF"/>
                </a:solidFill>
              </a:rPr>
              <a:t>Agriculture Is Everywhere</a:t>
            </a:r>
          </a:p>
        </p:txBody>
      </p:sp>
      <p:sp>
        <p:nvSpPr>
          <p:cNvPr id="6" name="">
            <a:extLst xmlns:a="http://schemas.openxmlformats.org/drawingml/2006/main">
              <a:ext uri="{FF2B5EF4-FFF2-40B4-BE49-F238E27FC236}">
                <a16:creationId xmlns:a16="http://schemas.microsoft.com/office/drawing/2014/main" id="{1359A4C2-99F4-4C60-B685-B8CF99033EE9}"/>
              </a:ext>
            </a:extLst>
          </p:cNvPr>
          <p:cNvSpPr>
            <a:spLocks xmlns:a="http://schemas.openxmlformats.org/drawingml/2006/main" noGrp="1"/>
          </p:cNvSpPr>
          <p:nvPr/>
        </p:nvSpPr>
        <p:spPr>
          <a:xfrm xmlns:a="http://schemas.openxmlformats.org/drawingml/2006/main">
            <a:off x="609600" y="3486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EAF2E6"/>
                </a:solidFill>
              </a:defRPr>
            </a:pPr>
            <a:r>
              <a:rPr sz="1875" b="0" i="0">
                <a:solidFill>
                  <a:srgbClr val="EAF2E6"/>
                </a:solidFill>
              </a:rPr>
              <a:t>Trace the systems behind everyday products, then define a worthwhile small-space growing challenge.</a:t>
            </a:r>
          </a:p>
        </p:txBody>
      </p:sp>
      <p:sp>
        <p:nvSpPr>
          <p:cNvPr id="7" name="">
            <a:extLst xmlns:a="http://schemas.openxmlformats.org/drawingml/2006/main">
              <a:ext uri="{FF2B5EF4-FFF2-40B4-BE49-F238E27FC236}">
                <a16:creationId xmlns:a16="http://schemas.microsoft.com/office/drawing/2014/main" id="{B44ABD08-096A-41E0-BC64-3CEF0FDD8CD6}"/>
              </a:ext>
            </a:extLst>
          </p:cNvPr>
          <p:cNvSpPr>
            <a:spLocks xmlns:a="http://schemas.openxmlformats.org/drawingml/2006/main" noGrp="1"/>
          </p:cNvSpPr>
          <p:nvPr/>
        </p:nvSpPr>
        <p:spPr>
          <a:xfrm xmlns:a="http://schemas.openxmlformats.org/drawingml/2006/main">
            <a:off x="609600" y="5810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C8D8C6"/>
                </a:solidFill>
              </a:defRPr>
            </a:pPr>
            <a:r>
              <a:rPr sz="1125" b="1" i="0">
                <a:solidFill>
                  <a:srgbClr val="C8D8C6"/>
                </a:solidFill>
              </a:rPr>
              <a:t>Teacher-led classroom presentation</a:t>
            </a:r>
          </a:p>
        </p:txBody>
      </p:sp>
    </p:spTree>
    <p:extLst>
      <p:ext uri="{BB962C8B-B14F-4D97-AF65-F5344CB8AC3E}">
        <p14:creationId xmlns:p14="http://schemas.microsoft.com/office/powerpoint/2010/main" val="1181570235"/>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127BAFB-B970-470D-88EA-FA366FFAD11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D30441-3073-4C99-BB21-DBF7C28B2BC2}"/>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TODAY’S LEARNING PATH</a:t>
            </a:r>
          </a:p>
        </p:txBody>
      </p:sp>
      <p:sp>
        <p:nvSpPr>
          <p:cNvPr id="3" name="">
            <a:extLst xmlns:a="http://schemas.openxmlformats.org/drawingml/2006/main">
              <a:ext uri="{FF2B5EF4-FFF2-40B4-BE49-F238E27FC236}">
                <a16:creationId xmlns:a16="http://schemas.microsoft.com/office/drawing/2014/main" id="{0E438C2B-70F9-4495-8B59-EE8F897A06A0}"/>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  •  AGRICULTURE IS EVERYWHERE</a:t>
            </a:r>
          </a:p>
        </p:txBody>
      </p:sp>
      <p:sp>
        <p:nvSpPr>
          <p:cNvPr id="4" name="">
            <a:extLst xmlns:a="http://schemas.openxmlformats.org/drawingml/2006/main">
              <a:ext uri="{FF2B5EF4-FFF2-40B4-BE49-F238E27FC236}">
                <a16:creationId xmlns:a16="http://schemas.microsoft.com/office/drawing/2014/main" id="{52605D6B-030C-47C5-BC90-109EE31E5D0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02</a:t>
            </a:r>
          </a:p>
        </p:txBody>
      </p:sp>
      <p:sp>
        <p:nvSpPr>
          <p:cNvPr id="5" name="">
            <a:extLst xmlns:a="http://schemas.openxmlformats.org/drawingml/2006/main">
              <a:ext uri="{FF2B5EF4-FFF2-40B4-BE49-F238E27FC236}">
                <a16:creationId xmlns:a16="http://schemas.microsoft.com/office/drawing/2014/main" id="{00916ECD-14AE-486E-9ACE-EF71E91F6424}"/>
              </a:ext>
            </a:extLst>
          </p:cNvPr>
          <p:cNvSpPr>
            <a:spLocks xmlns:a="http://schemas.openxmlformats.org/drawingml/2006/main" noGrp="1"/>
          </p:cNvSpPr>
          <p:nvPr/>
        </p:nvSpPr>
        <p:spPr>
          <a:xfrm xmlns:a="http://schemas.openxmlformats.org/drawingml/2006/main">
            <a:off x="590550" y="800100"/>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are we going?</a:t>
            </a:r>
          </a:p>
        </p:txBody>
      </p:sp>
      <p:sp>
        <p:nvSpPr>
          <p:cNvPr id="6" name="">
            <a:extLst xmlns:a="http://schemas.openxmlformats.org/drawingml/2006/main">
              <a:ext uri="{FF2B5EF4-FFF2-40B4-BE49-F238E27FC236}">
                <a16:creationId xmlns:a16="http://schemas.microsoft.com/office/drawing/2014/main" id="{2FED8A82-6D36-4C63-ACE3-246FC8D26ABC}"/>
              </a:ext>
            </a:extLst>
          </p:cNvPr>
          <p:cNvSpPr>
            <a:spLocks xmlns:a="http://schemas.openxmlformats.org/drawingml/2006/main" noGrp="1"/>
          </p:cNvSpPr>
          <p:nvPr/>
        </p:nvSpPr>
        <p:spPr>
          <a:xfrm xmlns:a="http://schemas.openxmlformats.org/drawingml/2006/main">
            <a:off x="590550" y="18097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8031A57F-D020-4232-9FFD-323B29C6EF29}"/>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09DA78-26BF-420D-9EAC-7FE9844BE066}"/>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9" name="">
            <a:extLst xmlns:a="http://schemas.openxmlformats.org/drawingml/2006/main">
              <a:ext uri="{FF2B5EF4-FFF2-40B4-BE49-F238E27FC236}">
                <a16:creationId xmlns:a16="http://schemas.microsoft.com/office/drawing/2014/main" id="{938F8DEB-4A17-4251-9E6A-A6CB36827739}"/>
              </a:ext>
            </a:extLst>
          </p:cNvPr>
          <p:cNvSpPr>
            <a:spLocks xmlns:a="http://schemas.openxmlformats.org/drawingml/2006/main" noGrp="1"/>
          </p:cNvSpPr>
          <p:nvPr/>
        </p:nvSpPr>
        <p:spPr>
          <a:xfrm xmlns:a="http://schemas.openxmlformats.org/drawingml/2006/main">
            <a:off x="1466850" y="19716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Agriculture is everywhere</a:t>
            </a:r>
          </a:p>
        </p:txBody>
      </p:sp>
      <p:sp>
        <p:nvSpPr>
          <p:cNvPr id="10" name="">
            <a:extLst xmlns:a="http://schemas.openxmlformats.org/drawingml/2006/main">
              <a:ext uri="{FF2B5EF4-FFF2-40B4-BE49-F238E27FC236}">
                <a16:creationId xmlns:a16="http://schemas.microsoft.com/office/drawing/2014/main" id="{4C641BAC-9873-4747-9D33-6BC4A91C1E7A}"/>
              </a:ext>
            </a:extLst>
          </p:cNvPr>
          <p:cNvSpPr>
            <a:spLocks xmlns:a="http://schemas.openxmlformats.org/drawingml/2006/main" noGrp="1"/>
          </p:cNvSpPr>
          <p:nvPr/>
        </p:nvSpPr>
        <p:spPr>
          <a:xfrm xmlns:a="http://schemas.openxmlformats.org/drawingml/2006/main">
            <a:off x="590550" y="30289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1" name="">
            <a:extLst xmlns:a="http://schemas.openxmlformats.org/drawingml/2006/main">
              <a:ext uri="{FF2B5EF4-FFF2-40B4-BE49-F238E27FC236}">
                <a16:creationId xmlns:a16="http://schemas.microsoft.com/office/drawing/2014/main" id="{F03AB010-947F-4195-9F66-A5C8E3BFBD8A}"/>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45E68F-E97B-4B58-97CC-A003D4467E52}"/>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2</a:t>
            </a:r>
          </a:p>
        </p:txBody>
      </p:sp>
      <p:sp>
        <p:nvSpPr>
          <p:cNvPr id="13" name="">
            <a:extLst xmlns:a="http://schemas.openxmlformats.org/drawingml/2006/main">
              <a:ext uri="{FF2B5EF4-FFF2-40B4-BE49-F238E27FC236}">
                <a16:creationId xmlns:a16="http://schemas.microsoft.com/office/drawing/2014/main" id="{E3C80020-9BB6-440F-9A8C-93394F24D0A2}"/>
              </a:ext>
            </a:extLst>
          </p:cNvPr>
          <p:cNvSpPr>
            <a:spLocks xmlns:a="http://schemas.openxmlformats.org/drawingml/2006/main" noGrp="1"/>
          </p:cNvSpPr>
          <p:nvPr/>
        </p:nvSpPr>
        <p:spPr>
          <a:xfrm xmlns:a="http://schemas.openxmlformats.org/drawingml/2006/main">
            <a:off x="1466850" y="31908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From paddock to product</a:t>
            </a:r>
          </a:p>
        </p:txBody>
      </p:sp>
      <p:sp>
        <p:nvSpPr>
          <p:cNvPr id="14" name="">
            <a:extLst xmlns:a="http://schemas.openxmlformats.org/drawingml/2006/main">
              <a:ext uri="{FF2B5EF4-FFF2-40B4-BE49-F238E27FC236}">
                <a16:creationId xmlns:a16="http://schemas.microsoft.com/office/drawing/2014/main" id="{979272ED-46DF-4535-B0C2-BB1CAE91C516}"/>
              </a:ext>
            </a:extLst>
          </p:cNvPr>
          <p:cNvSpPr>
            <a:spLocks xmlns:a="http://schemas.openxmlformats.org/drawingml/2006/main" noGrp="1"/>
          </p:cNvSpPr>
          <p:nvPr/>
        </p:nvSpPr>
        <p:spPr>
          <a:xfrm xmlns:a="http://schemas.openxmlformats.org/drawingml/2006/main">
            <a:off x="590550" y="42481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5" name="">
            <a:extLst xmlns:a="http://schemas.openxmlformats.org/drawingml/2006/main">
              <a:ext uri="{FF2B5EF4-FFF2-40B4-BE49-F238E27FC236}">
                <a16:creationId xmlns:a16="http://schemas.microsoft.com/office/drawing/2014/main" id="{75F493A4-3C0B-46EB-A27F-9757D374AC5A}"/>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7DD11D8-89BA-4844-ACC8-7CBC79F85B87}"/>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3</a:t>
            </a:r>
          </a:p>
        </p:txBody>
      </p:sp>
      <p:sp>
        <p:nvSpPr>
          <p:cNvPr id="17" name="">
            <a:extLst xmlns:a="http://schemas.openxmlformats.org/drawingml/2006/main">
              <a:ext uri="{FF2B5EF4-FFF2-40B4-BE49-F238E27FC236}">
                <a16:creationId xmlns:a16="http://schemas.microsoft.com/office/drawing/2014/main" id="{50397E47-A8E9-4B33-B817-0064127E660B}"/>
              </a:ext>
            </a:extLst>
          </p:cNvPr>
          <p:cNvSpPr>
            <a:spLocks xmlns:a="http://schemas.openxmlformats.org/drawingml/2006/main" noGrp="1"/>
          </p:cNvSpPr>
          <p:nvPr/>
        </p:nvSpPr>
        <p:spPr>
          <a:xfrm xmlns:a="http://schemas.openxmlformats.org/drawingml/2006/main">
            <a:off x="1466850" y="44100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Mission: grow more with less</a:t>
            </a:r>
          </a:p>
        </p:txBody>
      </p:sp>
      <p:sp>
        <p:nvSpPr>
          <p:cNvPr id="18" name="">
            <a:extLst xmlns:a="http://schemas.openxmlformats.org/drawingml/2006/main">
              <a:ext uri="{FF2B5EF4-FFF2-40B4-BE49-F238E27FC236}">
                <a16:creationId xmlns:a16="http://schemas.microsoft.com/office/drawing/2014/main" id="{B01B8FD0-B556-4FF6-8241-5A773FC45E5B}"/>
              </a:ext>
            </a:extLst>
          </p:cNvPr>
          <p:cNvSpPr>
            <a:spLocks xmlns:a="http://schemas.openxmlformats.org/drawingml/2006/main" noGrp="1"/>
          </p:cNvSpPr>
          <p:nvPr/>
        </p:nvSpPr>
        <p:spPr>
          <a:xfrm xmlns:a="http://schemas.openxmlformats.org/drawingml/2006/main">
            <a:off x="7905750" y="1809750"/>
            <a:ext cx="3619500" cy="3333750"/>
          </a:xfrm>
          <a:prstGeom xmlns:a="http://schemas.openxmlformats.org/drawingml/2006/main" prst="roundRect">
            <a:avLst>
              <a:gd name="adj" fmla="val 3429"/>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5E6689C-1C26-4DD1-BE8F-4228C4E154D3}"/>
              </a:ext>
            </a:extLst>
          </p:cNvPr>
          <p:cNvSpPr>
            <a:spLocks xmlns:a="http://schemas.openxmlformats.org/drawingml/2006/main" noGrp="1"/>
          </p:cNvSpPr>
          <p:nvPr/>
        </p:nvSpPr>
        <p:spPr>
          <a:xfrm xmlns:a="http://schemas.openxmlformats.org/drawingml/2006/main">
            <a:off x="8239125"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FFF4BA"/>
                </a:solidFill>
              </a:defRPr>
            </a:pPr>
            <a:r>
              <a:rPr sz="1125" b="1" i="0">
                <a:solidFill>
                  <a:srgbClr val="FFF4BA"/>
                </a:solidFill>
              </a:rPr>
              <a:t>RETRIEVAL WARM-UP</a:t>
            </a:r>
          </a:p>
        </p:txBody>
      </p:sp>
      <p:sp>
        <p:nvSpPr>
          <p:cNvPr id="20" name="">
            <a:extLst xmlns:a="http://schemas.openxmlformats.org/drawingml/2006/main">
              <a:ext uri="{FF2B5EF4-FFF2-40B4-BE49-F238E27FC236}">
                <a16:creationId xmlns:a16="http://schemas.microsoft.com/office/drawing/2014/main" id="{3CECBE35-87B8-47A5-92D3-76DD9260B6E6}"/>
              </a:ext>
            </a:extLst>
          </p:cNvPr>
          <p:cNvSpPr>
            <a:spLocks xmlns:a="http://schemas.openxmlformats.org/drawingml/2006/main" noGrp="1"/>
          </p:cNvSpPr>
          <p:nvPr/>
        </p:nvSpPr>
        <p:spPr>
          <a:xfrm xmlns:a="http://schemas.openxmlformats.org/drawingml/2006/main">
            <a:off x="8239125" y="26193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FFFFFF"/>
                </a:solidFill>
              </a:defRPr>
            </a:pPr>
            <a:r>
              <a:rPr sz="2100" b="1" i="0">
                <a:solidFill>
                  <a:srgbClr val="FFFFFF"/>
                </a:solidFill>
              </a:rPr>
              <a:t>What do you already know?</a:t>
            </a:r>
          </a:p>
        </p:txBody>
      </p:sp>
      <p:sp>
        <p:nvSpPr>
          <p:cNvPr id="21" name="">
            <a:extLst xmlns:a="http://schemas.openxmlformats.org/drawingml/2006/main">
              <a:ext uri="{FF2B5EF4-FFF2-40B4-BE49-F238E27FC236}">
                <a16:creationId xmlns:a16="http://schemas.microsoft.com/office/drawing/2014/main" id="{069B9930-6CFD-449A-B8D7-9A75744A163E}"/>
              </a:ext>
            </a:extLst>
          </p:cNvPr>
          <p:cNvSpPr>
            <a:spLocks xmlns:a="http://schemas.openxmlformats.org/drawingml/2006/main" noGrp="1"/>
          </p:cNvSpPr>
          <p:nvPr/>
        </p:nvSpPr>
        <p:spPr>
          <a:xfrm xmlns:a="http://schemas.openxmlformats.org/drawingml/2006/main">
            <a:off x="8239125" y="34290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EAF2E6"/>
                </a:solidFill>
              </a:defRPr>
            </a:pPr>
            <a:r>
              <a:rPr sz="1500" b="0" i="0">
                <a:solidFill>
                  <a:srgbClr val="EAF2E6"/>
                </a:solidFill>
              </a:rPr>
              <a:t>1. Define one key word from the module.</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2. Predict one practical or design decision.</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3. Name one question you have.</a:t>
            </a:r>
          </a:p>
        </p:txBody>
      </p:sp>
    </p:spTree>
    <p:extLst>
      <p:ext uri="{BB962C8B-B14F-4D97-AF65-F5344CB8AC3E}">
        <p14:creationId xmlns:p14="http://schemas.microsoft.com/office/powerpoint/2010/main" val="1298071966"/>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AEBC3A-7986-4CB0-8896-426EF1D9EC1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402A3F-43DE-4C06-82F8-7A48723CA966}"/>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1.1 AGRICULTURE IS EVERYWHERE</a:t>
            </a:r>
          </a:p>
        </p:txBody>
      </p:sp>
      <p:sp>
        <p:nvSpPr>
          <p:cNvPr id="3" name="">
            <a:extLst xmlns:a="http://schemas.openxmlformats.org/drawingml/2006/main">
              <a:ext uri="{FF2B5EF4-FFF2-40B4-BE49-F238E27FC236}">
                <a16:creationId xmlns:a16="http://schemas.microsoft.com/office/drawing/2014/main" id="{043137A3-FC25-4B2E-82EF-AF628E392E06}"/>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  •  AGRICULTURE IS EVERYWHERE</a:t>
            </a:r>
          </a:p>
        </p:txBody>
      </p:sp>
      <p:sp>
        <p:nvSpPr>
          <p:cNvPr id="4" name="">
            <a:extLst xmlns:a="http://schemas.openxmlformats.org/drawingml/2006/main">
              <a:ext uri="{FF2B5EF4-FFF2-40B4-BE49-F238E27FC236}">
                <a16:creationId xmlns:a16="http://schemas.microsoft.com/office/drawing/2014/main" id="{E621F0D0-070A-4EA1-BD2F-D8C85D5EB396}"/>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03</a:t>
            </a:r>
          </a:p>
        </p:txBody>
      </p:sp>
      <p:sp>
        <p:nvSpPr>
          <p:cNvPr id="5" name="">
            <a:extLst xmlns:a="http://schemas.openxmlformats.org/drawingml/2006/main">
              <a:ext uri="{FF2B5EF4-FFF2-40B4-BE49-F238E27FC236}">
                <a16:creationId xmlns:a16="http://schemas.microsoft.com/office/drawing/2014/main" id="{9F9563F7-66DB-41F0-BABF-7B4BC4D90576}"/>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Agriculture is everywhere</a:t>
            </a:r>
          </a:p>
        </p:txBody>
      </p:sp>
      <p:sp>
        <p:nvSpPr>
          <p:cNvPr id="6" name="">
            <a:extLst xmlns:a="http://schemas.openxmlformats.org/drawingml/2006/main">
              <a:ext uri="{FF2B5EF4-FFF2-40B4-BE49-F238E27FC236}">
                <a16:creationId xmlns:a16="http://schemas.microsoft.com/office/drawing/2014/main" id="{C23ED9C4-08D8-45B6-AF60-03B1700AC9CB}"/>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87DD36AE-E7C4-4744-B2CF-27352F0C4756}"/>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9078988-C352-4BF4-93A4-8147A24EBDB1}"/>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Riverina–Murray rice is edible grain harvested then milled; grain properties shape its processing pathway.</a:t>
            </a:r>
          </a:p>
        </p:txBody>
      </p:sp>
      <p:sp>
        <p:nvSpPr>
          <p:cNvPr id="9" name="">
            <a:extLst xmlns:a="http://schemas.openxmlformats.org/drawingml/2006/main">
              <a:ext uri="{FF2B5EF4-FFF2-40B4-BE49-F238E27FC236}">
                <a16:creationId xmlns:a16="http://schemas.microsoft.com/office/drawing/2014/main" id="{43E5BFE8-2346-4671-A815-78D540132BFB}"/>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481F8D4-6234-440C-8A55-677D72B2A186}"/>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NSW cotton produces long plant fibre separated from seed and prepared for textile manufacture.</a:t>
            </a:r>
          </a:p>
        </p:txBody>
      </p:sp>
      <p:sp>
        <p:nvSpPr>
          <p:cNvPr id="11" name="">
            <a:extLst xmlns:a="http://schemas.openxmlformats.org/drawingml/2006/main">
              <a:ext uri="{FF2B5EF4-FFF2-40B4-BE49-F238E27FC236}">
                <a16:creationId xmlns:a16="http://schemas.microsoft.com/office/drawing/2014/main" id="{87BF14A6-9337-4DA4-9D27-55352AF74589}"/>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83AC92-6874-4DFA-815C-96CEBF4C0E7F}"/>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Seasonal conditions and water availability constrain both; grain and fibre demand different quality decisions.</a:t>
            </a:r>
          </a:p>
        </p:txBody>
      </p:sp>
      <p:pic>
        <p:nvPicPr>
          <p:cNvPr id="30" name="" descr="Cotton, wool, grain, a seedling, timber and legumes sit before a landscape of orchard rows, crops and grazing cattle."/>
          <p:cNvPicPr>
            <a:picLocks xmlns:a="http://schemas.openxmlformats.org/drawingml/2006/main" noChangeAspect="1"/>
          </p:cNvPicPr>
          <p:nvPr/>
        </p:nvPicPr>
        <p:blipFill>
          <a:blip xmlns:r="http://schemas.openxmlformats.org/officeDocument/2006/relationships" xmlns:a="http://schemas.openxmlformats.org/drawingml/2006/main" r:embed="R717e2d172b47478c"/>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CAA29A5B-C556-43BB-B776-0C29EDBF67F5}"/>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4C653E0-2CA3-4BE0-BE55-ACE21E8B535F}"/>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“Agriculture only means large farms producing food.”</a:t>
            </a:r>
          </a:p>
        </p:txBody>
      </p:sp>
    </p:spTree>
    <p:extLst>
      <p:ext uri="{BB962C8B-B14F-4D97-AF65-F5344CB8AC3E}">
        <p14:creationId xmlns:p14="http://schemas.microsoft.com/office/powerpoint/2010/main" val="392502072"/>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DFEB249-B8CE-4C0D-918F-29033149747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87E364-6F7E-4463-A184-3B1C8875C9AD}"/>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1.2 FROM PADDOCK TO PRODUCT</a:t>
            </a:r>
          </a:p>
        </p:txBody>
      </p:sp>
      <p:sp>
        <p:nvSpPr>
          <p:cNvPr id="3" name="">
            <a:extLst xmlns:a="http://schemas.openxmlformats.org/drawingml/2006/main">
              <a:ext uri="{FF2B5EF4-FFF2-40B4-BE49-F238E27FC236}">
                <a16:creationId xmlns:a16="http://schemas.microsoft.com/office/drawing/2014/main" id="{AEBEBA5C-9E6B-4383-996B-DD731803E2B6}"/>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  •  AGRICULTURE IS EVERYWHERE</a:t>
            </a:r>
          </a:p>
        </p:txBody>
      </p:sp>
      <p:sp>
        <p:nvSpPr>
          <p:cNvPr id="4" name="">
            <a:extLst xmlns:a="http://schemas.openxmlformats.org/drawingml/2006/main">
              <a:ext uri="{FF2B5EF4-FFF2-40B4-BE49-F238E27FC236}">
                <a16:creationId xmlns:a16="http://schemas.microsoft.com/office/drawing/2014/main" id="{E7846C4E-3641-4FDE-A541-1E930B649930}"/>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04</a:t>
            </a:r>
          </a:p>
        </p:txBody>
      </p:sp>
      <p:sp>
        <p:nvSpPr>
          <p:cNvPr id="5" name="">
            <a:extLst xmlns:a="http://schemas.openxmlformats.org/drawingml/2006/main">
              <a:ext uri="{FF2B5EF4-FFF2-40B4-BE49-F238E27FC236}">
                <a16:creationId xmlns:a16="http://schemas.microsoft.com/office/drawing/2014/main" id="{D42FB6E7-4B1E-4CE4-B8CB-21E22F26924D}"/>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From paddock to product</a:t>
            </a:r>
          </a:p>
        </p:txBody>
      </p:sp>
      <p:sp>
        <p:nvSpPr>
          <p:cNvPr id="6" name="">
            <a:extLst xmlns:a="http://schemas.openxmlformats.org/drawingml/2006/main">
              <a:ext uri="{FF2B5EF4-FFF2-40B4-BE49-F238E27FC236}">
                <a16:creationId xmlns:a16="http://schemas.microsoft.com/office/drawing/2014/main" id="{B66F6143-29CE-4458-97CF-9AF10EF34442}"/>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F2C37EAA-707C-4E8F-B988-1379BF12E9CD}"/>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9182631-F0E7-438F-AFA1-0CCA6E4C72A0}"/>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Agricultural products move through connected stages.</a:t>
            </a:r>
          </a:p>
        </p:txBody>
      </p:sp>
      <p:sp>
        <p:nvSpPr>
          <p:cNvPr id="9" name="">
            <a:extLst xmlns:a="http://schemas.openxmlformats.org/drawingml/2006/main">
              <a:ext uri="{FF2B5EF4-FFF2-40B4-BE49-F238E27FC236}">
                <a16:creationId xmlns:a16="http://schemas.microsoft.com/office/drawing/2014/main" id="{931B82F5-D93C-4624-AF38-E5C51F1FDA7D}"/>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E50FA2-5D1E-4699-9078-1FB7D4364677}"/>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Each stage can add value, use resources and create impacts, while traceability relies on reliable records.</a:t>
            </a:r>
          </a:p>
        </p:txBody>
      </p:sp>
      <p:sp>
        <p:nvSpPr>
          <p:cNvPr id="11" name="">
            <a:extLst xmlns:a="http://schemas.openxmlformats.org/drawingml/2006/main">
              <a:ext uri="{FF2B5EF4-FFF2-40B4-BE49-F238E27FC236}">
                <a16:creationId xmlns:a16="http://schemas.microsoft.com/office/drawing/2014/main" id="{859CACD4-0234-4755-AE76-7377D4954955}"/>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0E80A9-A48D-47AF-9E6A-B8E9752712DA}"/>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Real chains include information and feedback, may loop materials into another use, and continue through use and end-of-life decisions.</a:t>
            </a:r>
          </a:p>
        </p:txBody>
      </p:sp>
      <p:pic>
        <p:nvPicPr>
          <p:cNvPr id="30" name="" descr="A worker checks harvested leafy greens in reusable crates while crop rows and a small delivery van appear behind the packing area."/>
          <p:cNvPicPr>
            <a:picLocks xmlns:a="http://schemas.openxmlformats.org/drawingml/2006/main" noChangeAspect="1"/>
          </p:cNvPicPr>
          <p:nvPr/>
        </p:nvPicPr>
        <p:blipFill>
          <a:blip xmlns:r="http://schemas.openxmlformats.org/officeDocument/2006/relationships" xmlns:a="http://schemas.openxmlformats.org/drawingml/2006/main" r:embed="Rae63dd99b50d4fe0"/>
          <a:stretch xmlns:a="http://schemas.openxmlformats.org/drawingml/2006/main"/>
        </p:blipFill>
        <p:spPr>
          <a:xfrm xmlns:a="http://schemas.openxmlformats.org/drawingml/2006/main">
            <a:off x="7667625" y="1838325"/>
            <a:ext cx="3857625" cy="222885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DBCB50D0-AC35-47CB-805C-95487E081C11}"/>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37D3738-B241-4854-B161-5B0A1CC95A37}"/>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“A product chain is a one-way list that ends when an item is sold.”</a:t>
            </a:r>
          </a:p>
        </p:txBody>
      </p:sp>
    </p:spTree>
    <p:extLst>
      <p:ext uri="{BB962C8B-B14F-4D97-AF65-F5344CB8AC3E}">
        <p14:creationId xmlns:p14="http://schemas.microsoft.com/office/powerpoint/2010/main" val="766347758"/>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07BAF44-B2EF-4745-8732-2936AA0BECC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BFEB4E-3AD3-4261-9FA3-DEBABD18A68F}"/>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1.3 MISSION: GROW MORE WITH LESS</a:t>
            </a:r>
          </a:p>
        </p:txBody>
      </p:sp>
      <p:sp>
        <p:nvSpPr>
          <p:cNvPr id="3" name="">
            <a:extLst xmlns:a="http://schemas.openxmlformats.org/drawingml/2006/main">
              <a:ext uri="{FF2B5EF4-FFF2-40B4-BE49-F238E27FC236}">
                <a16:creationId xmlns:a16="http://schemas.microsoft.com/office/drawing/2014/main" id="{07D960C3-9B1B-4491-A7B7-526D5113D046}"/>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  •  AGRICULTURE IS EVERYWHERE</a:t>
            </a:r>
          </a:p>
        </p:txBody>
      </p:sp>
      <p:sp>
        <p:nvSpPr>
          <p:cNvPr id="4" name="">
            <a:extLst xmlns:a="http://schemas.openxmlformats.org/drawingml/2006/main">
              <a:ext uri="{FF2B5EF4-FFF2-40B4-BE49-F238E27FC236}">
                <a16:creationId xmlns:a16="http://schemas.microsoft.com/office/drawing/2014/main" id="{3B52CD26-3A0A-4FC3-8212-2352B98D93E0}"/>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05</a:t>
            </a:r>
          </a:p>
        </p:txBody>
      </p:sp>
      <p:sp>
        <p:nvSpPr>
          <p:cNvPr id="5" name="">
            <a:extLst xmlns:a="http://schemas.openxmlformats.org/drawingml/2006/main">
              <a:ext uri="{FF2B5EF4-FFF2-40B4-BE49-F238E27FC236}">
                <a16:creationId xmlns:a16="http://schemas.microsoft.com/office/drawing/2014/main" id="{72E13F56-2B36-4D17-BD15-0DDEACC37B54}"/>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Mission: grow more with less</a:t>
            </a:r>
          </a:p>
        </p:txBody>
      </p:sp>
      <p:sp>
        <p:nvSpPr>
          <p:cNvPr id="6" name="">
            <a:extLst xmlns:a="http://schemas.openxmlformats.org/drawingml/2006/main">
              <a:ext uri="{FF2B5EF4-FFF2-40B4-BE49-F238E27FC236}">
                <a16:creationId xmlns:a16="http://schemas.microsoft.com/office/drawing/2014/main" id="{4B08870B-E43D-4615-B67C-96C711E98C85}"/>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DF7E69F7-3C11-42C2-B268-0E496814C4EE}"/>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6F0922-BB1E-4359-9FE9-FDBF398CE9B3}"/>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The mission is to design an efficient small-space growing system.</a:t>
            </a:r>
          </a:p>
        </p:txBody>
      </p:sp>
      <p:sp>
        <p:nvSpPr>
          <p:cNvPr id="9" name="">
            <a:extLst xmlns:a="http://schemas.openxmlformats.org/drawingml/2006/main">
              <a:ext uri="{FF2B5EF4-FFF2-40B4-BE49-F238E27FC236}">
                <a16:creationId xmlns:a16="http://schemas.microsoft.com/office/drawing/2014/main" id="{26114AAA-0FBD-47D9-9F89-C750BA3FD366}"/>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4265774-4A46-400E-A709-C9EC807BA5F5}"/>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good problem statement stays open, criteria make success checkable, and constraints focus decisions.</a:t>
            </a:r>
          </a:p>
        </p:txBody>
      </p:sp>
      <p:sp>
        <p:nvSpPr>
          <p:cNvPr id="11" name="">
            <a:extLst xmlns:a="http://schemas.openxmlformats.org/drawingml/2006/main">
              <a:ext uri="{FF2B5EF4-FFF2-40B4-BE49-F238E27FC236}">
                <a16:creationId xmlns:a16="http://schemas.microsoft.com/office/drawing/2014/main" id="{AA3A6ACA-C7C4-4422-A884-3608DA34E5D4}"/>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211CF48-7E26-4985-8464-25E000C6CF81}"/>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sound judgement compares useful performance with resource use, space, waste, care and the agreed criteria.</a:t>
            </a:r>
          </a:p>
        </p:txBody>
      </p:sp>
      <p:pic>
        <p:nvPicPr>
          <p:cNvPr id="30" name="" descr="Students compare three small crop-container prototypes while measuring the work area and considering a limited set of reusable materials."/>
          <p:cNvPicPr>
            <a:picLocks xmlns:a="http://schemas.openxmlformats.org/drawingml/2006/main" noChangeAspect="1"/>
          </p:cNvPicPr>
          <p:nvPr/>
        </p:nvPicPr>
        <p:blipFill>
          <a:blip xmlns:r="http://schemas.openxmlformats.org/officeDocument/2006/relationships" xmlns:a="http://schemas.openxmlformats.org/drawingml/2006/main" r:embed="R9e1355f516b048cd"/>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56C79895-6028-4332-BB55-F82DD7C09A61}"/>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22723A-5296-495A-AAB1-39178516D151}"/>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“Grow more with less means the largest harvest is always the best solution.”</a:t>
            </a:r>
          </a:p>
        </p:txBody>
      </p:sp>
    </p:spTree>
    <p:extLst>
      <p:ext uri="{BB962C8B-B14F-4D97-AF65-F5344CB8AC3E}">
        <p14:creationId xmlns:p14="http://schemas.microsoft.com/office/powerpoint/2010/main" val="247571815"/>
      </p:ext>
    </p:extLst>
  </p:cSld>
</p:sld>
</file>

<file path=ppt/slides/slide6.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2A5B30-C7A3-484C-BBC6-51C353A4565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928330-F6F6-4BB7-9EC9-D3ACD2E34F10}"/>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CHECK FOR UNDERSTANDING</a:t>
            </a:r>
          </a:p>
        </p:txBody>
      </p:sp>
      <p:sp>
        <p:nvSpPr>
          <p:cNvPr id="3" name="">
            <a:extLst xmlns:a="http://schemas.openxmlformats.org/drawingml/2006/main">
              <a:ext uri="{FF2B5EF4-FFF2-40B4-BE49-F238E27FC236}">
                <a16:creationId xmlns:a16="http://schemas.microsoft.com/office/drawing/2014/main" id="{86154687-1D52-4EE5-BE07-CCC974C45C21}"/>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  •  AGRICULTURE IS EVERYWHERE</a:t>
            </a:r>
          </a:p>
        </p:txBody>
      </p:sp>
      <p:sp>
        <p:nvSpPr>
          <p:cNvPr id="4" name="">
            <a:extLst xmlns:a="http://schemas.openxmlformats.org/drawingml/2006/main">
              <a:ext uri="{FF2B5EF4-FFF2-40B4-BE49-F238E27FC236}">
                <a16:creationId xmlns:a16="http://schemas.microsoft.com/office/drawing/2014/main" id="{2C130E72-B5A8-401B-A0B8-806F6AE3BCC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06</a:t>
            </a:r>
          </a:p>
        </p:txBody>
      </p:sp>
      <p:sp>
        <p:nvSpPr>
          <p:cNvPr id="5" name="">
            <a:extLst xmlns:a="http://schemas.openxmlformats.org/drawingml/2006/main">
              <a:ext uri="{FF2B5EF4-FFF2-40B4-BE49-F238E27FC236}">
                <a16:creationId xmlns:a16="http://schemas.microsoft.com/office/drawing/2014/main" id="{88B9D98D-6885-433C-B6F1-7D89990E8C11}"/>
              </a:ext>
            </a:extLst>
          </p:cNvPr>
          <p:cNvSpPr>
            <a:spLocks xmlns:a="http://schemas.openxmlformats.org/drawingml/2006/main" noGrp="1"/>
          </p:cNvSpPr>
          <p:nvPr/>
        </p:nvSpPr>
        <p:spPr>
          <a:xfrm xmlns:a="http://schemas.openxmlformats.org/drawingml/2006/main">
            <a:off x="590550" y="7810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i="0">
                <a:solidFill>
                  <a:srgbClr val="FFFFFF"/>
                </a:solidFill>
              </a:defRPr>
            </a:pPr>
            <a:r>
              <a:rPr sz="3000" b="1" i="0">
                <a:solidFill>
                  <a:srgbClr val="FFFFFF"/>
                </a:solidFill>
              </a:rPr>
              <a:t>Stop. Think. Explain.</a:t>
            </a:r>
          </a:p>
        </p:txBody>
      </p:sp>
      <p:sp>
        <p:nvSpPr>
          <p:cNvPr id="6" name="">
            <a:extLst xmlns:a="http://schemas.openxmlformats.org/drawingml/2006/main">
              <a:ext uri="{FF2B5EF4-FFF2-40B4-BE49-F238E27FC236}">
                <a16:creationId xmlns:a16="http://schemas.microsoft.com/office/drawing/2014/main" id="{80EB812B-B76F-41D9-9DEB-10695E3E8845}"/>
              </a:ext>
            </a:extLst>
          </p:cNvPr>
          <p:cNvSpPr>
            <a:spLocks xmlns:a="http://schemas.openxmlformats.org/drawingml/2006/main" noGrp="1"/>
          </p:cNvSpPr>
          <p:nvPr/>
        </p:nvSpPr>
        <p:spPr>
          <a:xfrm xmlns:a="http://schemas.openxmlformats.org/drawingml/2006/main">
            <a:off x="590550" y="14668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DDE9DB"/>
                </a:solidFill>
              </a:defRPr>
            </a:pPr>
            <a:r>
              <a:rPr sz="1500" b="0" i="0">
                <a:solidFill>
                  <a:srgbClr val="DDE9DB"/>
                </a:solidFill>
              </a:rPr>
              <a:t>Answer silently first, then justify with a partner.</a:t>
            </a:r>
          </a:p>
        </p:txBody>
      </p:sp>
      <p:sp>
        <p:nvSpPr>
          <p:cNvPr id="7" name="">
            <a:extLst xmlns:a="http://schemas.openxmlformats.org/drawingml/2006/main">
              <a:ext uri="{FF2B5EF4-FFF2-40B4-BE49-F238E27FC236}">
                <a16:creationId xmlns:a16="http://schemas.microsoft.com/office/drawing/2014/main" id="{BA96F5B2-731A-43F0-A73D-858575F7F4E3}"/>
              </a:ext>
            </a:extLst>
          </p:cNvPr>
          <p:cNvSpPr>
            <a:spLocks xmlns:a="http://schemas.openxmlformats.org/drawingml/2006/main" noGrp="1"/>
          </p:cNvSpPr>
          <p:nvPr/>
        </p:nvSpPr>
        <p:spPr>
          <a:xfrm xmlns:a="http://schemas.openxmlformats.org/drawingml/2006/main">
            <a:off x="590550" y="21907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8" name="">
            <a:extLst xmlns:a="http://schemas.openxmlformats.org/drawingml/2006/main">
              <a:ext uri="{FF2B5EF4-FFF2-40B4-BE49-F238E27FC236}">
                <a16:creationId xmlns:a16="http://schemas.microsoft.com/office/drawing/2014/main" id="{2807A56D-F688-4971-AE7E-2065C3FF8B25}"/>
              </a:ext>
            </a:extLst>
          </p:cNvPr>
          <p:cNvSpPr>
            <a:spLocks xmlns:a="http://schemas.openxmlformats.org/drawingml/2006/main" noGrp="1"/>
          </p:cNvSpPr>
          <p:nvPr/>
        </p:nvSpPr>
        <p:spPr>
          <a:xfrm xmlns:a="http://schemas.openxmlformats.org/drawingml/2006/main">
            <a:off x="819150" y="24098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1</a:t>
            </a:r>
          </a:p>
        </p:txBody>
      </p:sp>
      <p:sp>
        <p:nvSpPr>
          <p:cNvPr id="9" name="">
            <a:extLst xmlns:a="http://schemas.openxmlformats.org/drawingml/2006/main">
              <a:ext uri="{FF2B5EF4-FFF2-40B4-BE49-F238E27FC236}">
                <a16:creationId xmlns:a16="http://schemas.microsoft.com/office/drawing/2014/main" id="{BBAC2753-556D-41EE-9CA0-67F97090F24D}"/>
              </a:ext>
            </a:extLst>
          </p:cNvPr>
          <p:cNvSpPr>
            <a:spLocks xmlns:a="http://schemas.openxmlformats.org/drawingml/2006/main" noGrp="1"/>
          </p:cNvSpPr>
          <p:nvPr/>
        </p:nvSpPr>
        <p:spPr>
          <a:xfrm xmlns:a="http://schemas.openxmlformats.org/drawingml/2006/main">
            <a:off x="1428750" y="23241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Which description best captures agriculture as presented in this section?</a:t>
            </a:r>
          </a:p>
        </p:txBody>
      </p:sp>
      <p:sp>
        <p:nvSpPr>
          <p:cNvPr id="10" name="">
            <a:extLst xmlns:a="http://schemas.openxmlformats.org/drawingml/2006/main">
              <a:ext uri="{FF2B5EF4-FFF2-40B4-BE49-F238E27FC236}">
                <a16:creationId xmlns:a16="http://schemas.microsoft.com/office/drawing/2014/main" id="{D58D55B9-9E00-4DA2-A9BC-C124BAB33E5B}"/>
              </a:ext>
            </a:extLst>
          </p:cNvPr>
          <p:cNvSpPr>
            <a:spLocks xmlns:a="http://schemas.openxmlformats.org/drawingml/2006/main" noGrp="1"/>
          </p:cNvSpPr>
          <p:nvPr/>
        </p:nvSpPr>
        <p:spPr>
          <a:xfrm xmlns:a="http://schemas.openxmlformats.org/drawingml/2006/main">
            <a:off x="590550" y="3429000"/>
            <a:ext cx="10953750" cy="952500"/>
          </a:xfrm>
          <a:prstGeom xmlns:a="http://schemas.openxmlformats.org/drawingml/2006/main" prst="roundRect">
            <a:avLst>
              <a:gd name="adj" fmla="val 12000"/>
            </a:avLst>
          </a:prstGeom>
          <a:solidFill xmlns:a="http://schemas.openxmlformats.org/drawingml/2006/main">
            <a:srgbClr val="284B30"/>
          </a:solidFill>
          <a:ln xmlns:a="http://schemas.openxmlformats.org/drawingml/2006/main" w="9525">
            <a:solidFill>
              <a:srgbClr val="4D7254"/>
            </a:solidFill>
            <a:prstDash val="solid"/>
          </a:ln>
        </p:spPr>
      </p:sp>
      <p:sp>
        <p:nvSpPr>
          <p:cNvPr id="11" name="">
            <a:extLst xmlns:a="http://schemas.openxmlformats.org/drawingml/2006/main">
              <a:ext uri="{FF2B5EF4-FFF2-40B4-BE49-F238E27FC236}">
                <a16:creationId xmlns:a16="http://schemas.microsoft.com/office/drawing/2014/main" id="{E352E3E2-8D98-4029-B649-9EAC3A201A52}"/>
              </a:ext>
            </a:extLst>
          </p:cNvPr>
          <p:cNvSpPr>
            <a:spLocks xmlns:a="http://schemas.openxmlformats.org/drawingml/2006/main" noGrp="1"/>
          </p:cNvSpPr>
          <p:nvPr/>
        </p:nvSpPr>
        <p:spPr>
          <a:xfrm xmlns:a="http://schemas.openxmlformats.org/drawingml/2006/main">
            <a:off x="819150" y="3648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2</a:t>
            </a:r>
          </a:p>
        </p:txBody>
      </p:sp>
      <p:sp>
        <p:nvSpPr>
          <p:cNvPr id="12" name="">
            <a:extLst xmlns:a="http://schemas.openxmlformats.org/drawingml/2006/main">
              <a:ext uri="{FF2B5EF4-FFF2-40B4-BE49-F238E27FC236}">
                <a16:creationId xmlns:a16="http://schemas.microsoft.com/office/drawing/2014/main" id="{C6EAFAFD-DB17-4E6C-B15A-57890C79E8CE}"/>
              </a:ext>
            </a:extLst>
          </p:cNvPr>
          <p:cNvSpPr>
            <a:spLocks xmlns:a="http://schemas.openxmlformats.org/drawingml/2006/main" noGrp="1"/>
          </p:cNvSpPr>
          <p:nvPr/>
        </p:nvSpPr>
        <p:spPr>
          <a:xfrm xmlns:a="http://schemas.openxmlformats.org/drawingml/2006/main">
            <a:off x="1428750" y="35623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Which sequence is the most useful general model of an agricultural product chain?</a:t>
            </a:r>
          </a:p>
        </p:txBody>
      </p:sp>
      <p:sp>
        <p:nvSpPr>
          <p:cNvPr id="13" name="">
            <a:extLst xmlns:a="http://schemas.openxmlformats.org/drawingml/2006/main">
              <a:ext uri="{FF2B5EF4-FFF2-40B4-BE49-F238E27FC236}">
                <a16:creationId xmlns:a16="http://schemas.microsoft.com/office/drawing/2014/main" id="{68E317CC-9103-4B7C-A20E-7F8B9F900F88}"/>
              </a:ext>
            </a:extLst>
          </p:cNvPr>
          <p:cNvSpPr>
            <a:spLocks xmlns:a="http://schemas.openxmlformats.org/drawingml/2006/main" noGrp="1"/>
          </p:cNvSpPr>
          <p:nvPr/>
        </p:nvSpPr>
        <p:spPr>
          <a:xfrm xmlns:a="http://schemas.openxmlformats.org/drawingml/2006/main">
            <a:off x="590550" y="46672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14" name="">
            <a:extLst xmlns:a="http://schemas.openxmlformats.org/drawingml/2006/main">
              <a:ext uri="{FF2B5EF4-FFF2-40B4-BE49-F238E27FC236}">
                <a16:creationId xmlns:a16="http://schemas.microsoft.com/office/drawing/2014/main" id="{15677AEB-3E9D-465D-B12C-1DD0CB0C8F68}"/>
              </a:ext>
            </a:extLst>
          </p:cNvPr>
          <p:cNvSpPr>
            <a:spLocks xmlns:a="http://schemas.openxmlformats.org/drawingml/2006/main" noGrp="1"/>
          </p:cNvSpPr>
          <p:nvPr/>
        </p:nvSpPr>
        <p:spPr>
          <a:xfrm xmlns:a="http://schemas.openxmlformats.org/drawingml/2006/main">
            <a:off x="819150" y="48863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3</a:t>
            </a:r>
          </a:p>
        </p:txBody>
      </p:sp>
      <p:sp>
        <p:nvSpPr>
          <p:cNvPr id="15" name="">
            <a:extLst xmlns:a="http://schemas.openxmlformats.org/drawingml/2006/main">
              <a:ext uri="{FF2B5EF4-FFF2-40B4-BE49-F238E27FC236}">
                <a16:creationId xmlns:a16="http://schemas.microsoft.com/office/drawing/2014/main" id="{97C80B2E-7CDC-4D6B-9662-2972E38610F5}"/>
              </a:ext>
            </a:extLst>
          </p:cNvPr>
          <p:cNvSpPr>
            <a:spLocks xmlns:a="http://schemas.openxmlformats.org/drawingml/2006/main" noGrp="1"/>
          </p:cNvSpPr>
          <p:nvPr/>
        </p:nvSpPr>
        <p:spPr>
          <a:xfrm xmlns:a="http://schemas.openxmlformats.org/drawingml/2006/main">
            <a:off x="1428750" y="48006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Which problem statement keeps the design opportunity most appropriately open?</a:t>
            </a:r>
          </a:p>
        </p:txBody>
      </p:sp>
    </p:spTree>
    <p:extLst>
      <p:ext uri="{BB962C8B-B14F-4D97-AF65-F5344CB8AC3E}">
        <p14:creationId xmlns:p14="http://schemas.microsoft.com/office/powerpoint/2010/main" val="2122420666"/>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07A63E4-21B0-4224-8658-E9CAB4DA586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4A7ABF-DE20-41BA-B43E-F3D602E559E0}"/>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MODEL A LONGER RESPONSE</a:t>
            </a:r>
          </a:p>
        </p:txBody>
      </p:sp>
      <p:sp>
        <p:nvSpPr>
          <p:cNvPr id="3" name="">
            <a:extLst xmlns:a="http://schemas.openxmlformats.org/drawingml/2006/main">
              <a:ext uri="{FF2B5EF4-FFF2-40B4-BE49-F238E27FC236}">
                <a16:creationId xmlns:a16="http://schemas.microsoft.com/office/drawing/2014/main" id="{958715CF-D8E9-4142-A830-EBA09BB43C80}"/>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  •  AGRICULTURE IS EVERYWHERE</a:t>
            </a:r>
          </a:p>
        </p:txBody>
      </p:sp>
      <p:sp>
        <p:nvSpPr>
          <p:cNvPr id="4" name="">
            <a:extLst xmlns:a="http://schemas.openxmlformats.org/drawingml/2006/main">
              <a:ext uri="{FF2B5EF4-FFF2-40B4-BE49-F238E27FC236}">
                <a16:creationId xmlns:a16="http://schemas.microsoft.com/office/drawing/2014/main" id="{15C83D69-6A08-4EF2-836D-B8549601DC53}"/>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07</a:t>
            </a:r>
          </a:p>
        </p:txBody>
      </p:sp>
      <p:sp>
        <p:nvSpPr>
          <p:cNvPr id="5" name="">
            <a:extLst xmlns:a="http://schemas.openxmlformats.org/drawingml/2006/main">
              <a:ext uri="{FF2B5EF4-FFF2-40B4-BE49-F238E27FC236}">
                <a16:creationId xmlns:a16="http://schemas.microsoft.com/office/drawing/2014/main" id="{DAC12ADF-664D-4C69-8CCD-320DADFE23D4}"/>
              </a:ext>
            </a:extLst>
          </p:cNvPr>
          <p:cNvSpPr>
            <a:spLocks xmlns:a="http://schemas.openxmlformats.org/drawingml/2006/main" noGrp="1"/>
          </p:cNvSpPr>
          <p:nvPr/>
        </p:nvSpPr>
        <p:spPr>
          <a:xfrm xmlns:a="http://schemas.openxmlformats.org/drawingml/2006/main">
            <a:off x="590550" y="781050"/>
            <a:ext cx="752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 Select → Explain → Check</a:t>
            </a:r>
          </a:p>
        </p:txBody>
      </p:sp>
      <p:sp>
        <p:nvSpPr>
          <p:cNvPr id="6" name="">
            <a:extLst xmlns:a="http://schemas.openxmlformats.org/drawingml/2006/main">
              <a:ext uri="{FF2B5EF4-FFF2-40B4-BE49-F238E27FC236}">
                <a16:creationId xmlns:a16="http://schemas.microsoft.com/office/drawing/2014/main" id="{79364380-715C-4BD2-82FB-1836D22F6BAA}"/>
              </a:ext>
            </a:extLst>
          </p:cNvPr>
          <p:cNvSpPr>
            <a:spLocks xmlns:a="http://schemas.openxmlformats.org/drawingml/2006/main" noGrp="1"/>
          </p:cNvSpPr>
          <p:nvPr/>
        </p:nvSpPr>
        <p:spPr>
          <a:xfrm xmlns:a="http://schemas.openxmlformats.org/drawingml/2006/main">
            <a:off x="590550" y="1676400"/>
            <a:ext cx="56197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046209B8-9D3E-4D67-A740-4A52C64987B1}"/>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THE QUESTION</a:t>
            </a:r>
          </a:p>
        </p:txBody>
      </p:sp>
      <p:sp>
        <p:nvSpPr>
          <p:cNvPr id="8" name="">
            <a:extLst xmlns:a="http://schemas.openxmlformats.org/drawingml/2006/main">
              <a:ext uri="{FF2B5EF4-FFF2-40B4-BE49-F238E27FC236}">
                <a16:creationId xmlns:a16="http://schemas.microsoft.com/office/drawing/2014/main" id="{9BEEDAF5-3D5A-4578-BE34-EA4E01FF4BE0}"/>
              </a:ext>
            </a:extLst>
          </p:cNvPr>
          <p:cNvSpPr>
            <a:spLocks xmlns:a="http://schemas.openxmlformats.org/drawingml/2006/main" noGrp="1"/>
          </p:cNvSpPr>
          <p:nvPr/>
        </p:nvSpPr>
        <p:spPr>
          <a:xfrm xmlns:a="http://schemas.openxmlformats.org/drawingml/2006/main">
            <a:off x="838200" y="2266950"/>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183B23"/>
                </a:solidFill>
              </a:defRPr>
            </a:pPr>
            <a:r>
              <a:rPr sz="1725" b="1" i="0">
                <a:solidFill>
                  <a:srgbClr val="183B23"/>
                </a:solidFill>
              </a:rPr>
              <a:t>Write a problem statement, two checkable criteria and one constraint. Explain how they keep the project agriculture-dominant.</a:t>
            </a:r>
          </a:p>
        </p:txBody>
      </p:sp>
      <p:sp>
        <p:nvSpPr>
          <p:cNvPr id="9" name="">
            <a:extLst xmlns:a="http://schemas.openxmlformats.org/drawingml/2006/main">
              <a:ext uri="{FF2B5EF4-FFF2-40B4-BE49-F238E27FC236}">
                <a16:creationId xmlns:a16="http://schemas.microsoft.com/office/drawing/2014/main" id="{C0D2BA47-14E7-4266-B266-32006FAEB31C}"/>
              </a:ext>
            </a:extLst>
          </p:cNvPr>
          <p:cNvSpPr>
            <a:spLocks xmlns:a="http://schemas.openxmlformats.org/drawingml/2006/main" noGrp="1"/>
          </p:cNvSpPr>
          <p:nvPr/>
        </p:nvSpPr>
        <p:spPr>
          <a:xfrm xmlns:a="http://schemas.openxmlformats.org/drawingml/2006/main">
            <a:off x="6534150" y="1676400"/>
            <a:ext cx="5010150" cy="1762125"/>
          </a:xfrm>
          <a:prstGeom xmlns:a="http://schemas.openxmlformats.org/drawingml/2006/main" prst="roundRect">
            <a:avLst>
              <a:gd name="adj" fmla="val 6486"/>
            </a:avLst>
          </a:prstGeom>
          <a:solidFill xmlns:a="http://schemas.openxmlformats.org/drawingml/2006/main">
            <a:srgbClr val="E8EF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9A7C2F-B13A-4177-894E-76169347683D}"/>
              </a:ext>
            </a:extLst>
          </p:cNvPr>
          <p:cNvSpPr>
            <a:spLocks xmlns:a="http://schemas.openxmlformats.org/drawingml/2006/main" noGrp="1"/>
          </p:cNvSpPr>
          <p:nvPr/>
        </p:nvSpPr>
        <p:spPr>
          <a:xfrm xmlns:a="http://schemas.openxmlformats.org/drawingml/2006/main">
            <a:off x="67818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WHAT IS THIS ASKING?</a:t>
            </a:r>
          </a:p>
        </p:txBody>
      </p:sp>
      <p:sp>
        <p:nvSpPr>
          <p:cNvPr id="11" name="">
            <a:extLst xmlns:a="http://schemas.openxmlformats.org/drawingml/2006/main">
              <a:ext uri="{FF2B5EF4-FFF2-40B4-BE49-F238E27FC236}">
                <a16:creationId xmlns:a16="http://schemas.microsoft.com/office/drawing/2014/main" id="{4DD98727-0682-4FB5-A4A5-30B855EF2336}"/>
              </a:ext>
            </a:extLst>
          </p:cNvPr>
          <p:cNvSpPr>
            <a:spLocks xmlns:a="http://schemas.openxmlformats.org/drawingml/2006/main" noGrp="1"/>
          </p:cNvSpPr>
          <p:nvPr/>
        </p:nvSpPr>
        <p:spPr>
          <a:xfrm xmlns:a="http://schemas.openxmlformats.org/drawingml/2006/main">
            <a:off x="6781800" y="2266950"/>
            <a:ext cx="4514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i="0">
                <a:solidFill>
                  <a:srgbClr val="243024"/>
                </a:solidFill>
              </a:defRPr>
            </a:pPr>
            <a:r>
              <a:rPr sz="1575" b="0" i="0">
                <a:solidFill>
                  <a:srgbClr val="243024"/>
                </a:solidFill>
              </a:rPr>
              <a:t>Writes an open problem statement that identifies a need and context. Supplies two checkable criteria and distinguishes them from one constraint.</a:t>
            </a:r>
          </a:p>
        </p:txBody>
      </p:sp>
      <p:sp>
        <p:nvSpPr>
          <p:cNvPr id="12" name="">
            <a:extLst xmlns:a="http://schemas.openxmlformats.org/drawingml/2006/main">
              <a:ext uri="{FF2B5EF4-FFF2-40B4-BE49-F238E27FC236}">
                <a16:creationId xmlns:a16="http://schemas.microsoft.com/office/drawing/2014/main" id="{547CE726-A313-4E74-A9BD-285DB9A13AC9}"/>
              </a:ext>
            </a:extLst>
          </p:cNvPr>
          <p:cNvSpPr>
            <a:spLocks xmlns:a="http://schemas.openxmlformats.org/drawingml/2006/main" noGrp="1"/>
          </p:cNvSpPr>
          <p:nvPr/>
        </p:nvSpPr>
        <p:spPr>
          <a:xfrm xmlns:a="http://schemas.openxmlformats.org/drawingml/2006/main">
            <a:off x="5905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3EA0B3-B97C-4535-AEA7-365242DF5FC5}"/>
              </a:ext>
            </a:extLst>
          </p:cNvPr>
          <p:cNvSpPr>
            <a:spLocks xmlns:a="http://schemas.openxmlformats.org/drawingml/2006/main" noGrp="1"/>
          </p:cNvSpPr>
          <p:nvPr/>
        </p:nvSpPr>
        <p:spPr>
          <a:xfrm xmlns:a="http://schemas.openxmlformats.org/drawingml/2006/main">
            <a:off x="8191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1  SELECT</a:t>
            </a:r>
          </a:p>
        </p:txBody>
      </p:sp>
      <p:sp>
        <p:nvSpPr>
          <p:cNvPr id="14" name="">
            <a:extLst xmlns:a="http://schemas.openxmlformats.org/drawingml/2006/main">
              <a:ext uri="{FF2B5EF4-FFF2-40B4-BE49-F238E27FC236}">
                <a16:creationId xmlns:a16="http://schemas.microsoft.com/office/drawing/2014/main" id="{CB28B7C4-3554-4BB7-9E26-263FEF84DC53}"/>
              </a:ext>
            </a:extLst>
          </p:cNvPr>
          <p:cNvSpPr>
            <a:spLocks xmlns:a="http://schemas.openxmlformats.org/drawingml/2006/main" noGrp="1"/>
          </p:cNvSpPr>
          <p:nvPr/>
        </p:nvSpPr>
        <p:spPr>
          <a:xfrm xmlns:a="http://schemas.openxmlformats.org/drawingml/2006/main">
            <a:off x="8191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Select the exact theory, observation or record that answers the question.</a:t>
            </a:r>
          </a:p>
        </p:txBody>
      </p:sp>
      <p:sp>
        <p:nvSpPr>
          <p:cNvPr id="15" name="">
            <a:extLst xmlns:a="http://schemas.openxmlformats.org/drawingml/2006/main">
              <a:ext uri="{FF2B5EF4-FFF2-40B4-BE49-F238E27FC236}">
                <a16:creationId xmlns:a16="http://schemas.microsoft.com/office/drawing/2014/main" id="{1FC0551D-48F3-4974-AD79-19CF3B4118C6}"/>
              </a:ext>
            </a:extLst>
          </p:cNvPr>
          <p:cNvSpPr>
            <a:spLocks xmlns:a="http://schemas.openxmlformats.org/drawingml/2006/main" noGrp="1"/>
          </p:cNvSpPr>
          <p:nvPr/>
        </p:nvSpPr>
        <p:spPr>
          <a:xfrm xmlns:a="http://schemas.openxmlformats.org/drawingml/2006/main">
            <a:off x="4305300" y="3876675"/>
            <a:ext cx="3371850" cy="1428750"/>
          </a:xfrm>
          <a:prstGeom xmlns:a="http://schemas.openxmlformats.org/drawingml/2006/main" prst="roundRect">
            <a:avLst>
              <a:gd name="adj" fmla="val 8000"/>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07927CC-F0D9-4D6C-BDCF-5DD6E45EA5D3}"/>
              </a:ext>
            </a:extLst>
          </p:cNvPr>
          <p:cNvSpPr>
            <a:spLocks xmlns:a="http://schemas.openxmlformats.org/drawingml/2006/main" noGrp="1"/>
          </p:cNvSpPr>
          <p:nvPr/>
        </p:nvSpPr>
        <p:spPr>
          <a:xfrm xmlns:a="http://schemas.openxmlformats.org/drawingml/2006/main">
            <a:off x="453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183B23"/>
                </a:solidFill>
              </a:defRPr>
            </a:pPr>
            <a:r>
              <a:rPr sz="1050" b="1" i="0">
                <a:solidFill>
                  <a:srgbClr val="183B23"/>
                </a:solidFill>
              </a:rPr>
              <a:t>2  EXPLAIN</a:t>
            </a:r>
          </a:p>
        </p:txBody>
      </p:sp>
      <p:sp>
        <p:nvSpPr>
          <p:cNvPr id="17" name="">
            <a:extLst xmlns:a="http://schemas.openxmlformats.org/drawingml/2006/main">
              <a:ext uri="{FF2B5EF4-FFF2-40B4-BE49-F238E27FC236}">
                <a16:creationId xmlns:a16="http://schemas.microsoft.com/office/drawing/2014/main" id="{1229AE4C-871D-4CFF-9798-1736E9BEDD55}"/>
              </a:ext>
            </a:extLst>
          </p:cNvPr>
          <p:cNvSpPr>
            <a:spLocks xmlns:a="http://schemas.openxmlformats.org/drawingml/2006/main" noGrp="1"/>
          </p:cNvSpPr>
          <p:nvPr/>
        </p:nvSpPr>
        <p:spPr>
          <a:xfrm xmlns:a="http://schemas.openxmlformats.org/drawingml/2006/main">
            <a:off x="453390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183B23"/>
                </a:solidFill>
              </a:defRPr>
            </a:pPr>
            <a:r>
              <a:rPr sz="1350" b="0" i="0">
                <a:solidFill>
                  <a:srgbClr val="183B23"/>
                </a:solidFill>
              </a:rPr>
              <a:t>Use subject vocabulary and show the because, so or therefore connection.</a:t>
            </a:r>
          </a:p>
        </p:txBody>
      </p:sp>
      <p:sp>
        <p:nvSpPr>
          <p:cNvPr id="18" name="">
            <a:extLst xmlns:a="http://schemas.openxmlformats.org/drawingml/2006/main">
              <a:ext uri="{FF2B5EF4-FFF2-40B4-BE49-F238E27FC236}">
                <a16:creationId xmlns:a16="http://schemas.microsoft.com/office/drawing/2014/main" id="{6BBD1307-D7AD-4657-8327-36830C458018}"/>
              </a:ext>
            </a:extLst>
          </p:cNvPr>
          <p:cNvSpPr>
            <a:spLocks xmlns:a="http://schemas.openxmlformats.org/drawingml/2006/main" noGrp="1"/>
          </p:cNvSpPr>
          <p:nvPr/>
        </p:nvSpPr>
        <p:spPr>
          <a:xfrm xmlns:a="http://schemas.openxmlformats.org/drawingml/2006/main">
            <a:off x="80200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5A3AAF1-B4D7-47B4-B6C8-81CFD70902E6}"/>
              </a:ext>
            </a:extLst>
          </p:cNvPr>
          <p:cNvSpPr>
            <a:spLocks xmlns:a="http://schemas.openxmlformats.org/drawingml/2006/main" noGrp="1"/>
          </p:cNvSpPr>
          <p:nvPr/>
        </p:nvSpPr>
        <p:spPr>
          <a:xfrm xmlns:a="http://schemas.openxmlformats.org/drawingml/2006/main">
            <a:off x="82486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3  CHECK</a:t>
            </a:r>
          </a:p>
        </p:txBody>
      </p:sp>
      <p:sp>
        <p:nvSpPr>
          <p:cNvPr id="20" name="">
            <a:extLst xmlns:a="http://schemas.openxmlformats.org/drawingml/2006/main">
              <a:ext uri="{FF2B5EF4-FFF2-40B4-BE49-F238E27FC236}">
                <a16:creationId xmlns:a16="http://schemas.microsoft.com/office/drawing/2014/main" id="{6F35800E-21EC-4922-AAFD-7DB1945D2507}"/>
              </a:ext>
            </a:extLst>
          </p:cNvPr>
          <p:cNvSpPr>
            <a:spLocks xmlns:a="http://schemas.openxmlformats.org/drawingml/2006/main" noGrp="1"/>
          </p:cNvSpPr>
          <p:nvPr/>
        </p:nvSpPr>
        <p:spPr>
          <a:xfrm xmlns:a="http://schemas.openxmlformats.org/drawingml/2006/main">
            <a:off x="82486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Answer every part, state limits honestly and remove unsupported local claims.</a:t>
            </a:r>
          </a:p>
        </p:txBody>
      </p:sp>
      <p:sp>
        <p:nvSpPr>
          <p:cNvPr id="21" name="">
            <a:extLst xmlns:a="http://schemas.openxmlformats.org/drawingml/2006/main">
              <a:ext uri="{FF2B5EF4-FFF2-40B4-BE49-F238E27FC236}">
                <a16:creationId xmlns:a16="http://schemas.microsoft.com/office/drawing/2014/main" id="{0A3681DA-0E29-4CBF-BD43-9C36DE2C9E2E}"/>
              </a:ext>
            </a:extLst>
          </p:cNvPr>
          <p:cNvSpPr>
            <a:spLocks xmlns:a="http://schemas.openxmlformats.org/drawingml/2006/main" noGrp="1"/>
          </p:cNvSpPr>
          <p:nvPr/>
        </p:nvSpPr>
        <p:spPr>
          <a:xfrm xmlns:a="http://schemas.openxmlformats.org/drawingml/2006/main">
            <a:off x="590550" y="56197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B6402D"/>
                </a:solidFill>
              </a:defRPr>
            </a:pPr>
            <a:r>
              <a:rPr sz="1350" b="1" i="0">
                <a:solidFill>
                  <a:srgbClr val="B6402D"/>
                </a:solidFill>
              </a:rPr>
              <a:t>Sentence starter: The design problem is to support ______ in a limited space while.... Success will be checked by...</a:t>
            </a:r>
          </a:p>
        </p:txBody>
      </p:sp>
    </p:spTree>
    <p:extLst>
      <p:ext uri="{BB962C8B-B14F-4D97-AF65-F5344CB8AC3E}">
        <p14:creationId xmlns:p14="http://schemas.microsoft.com/office/powerpoint/2010/main" val="1020404632"/>
      </p:ext>
    </p:extLst>
  </p:cSld>
</p:sld>
</file>

<file path=ppt/slides/slide8.xml><?xml version="1.0" encoding="utf-8"?>
<p:sld xmlns:p="http://schemas.openxmlformats.org/presentationml/2006/main">
  <p:cSld>
    <p:bg>
      <p:bgPr>
        <a:solidFill xmlns:a="http://schemas.openxmlformats.org/drawingml/2006/main">
          <a:srgbClr val="B640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2D3DB27-1EEA-4170-8029-FCF41A8296B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4C45FC-90F6-4D59-B0EF-B8BED6982876}"/>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EXIT TICKET</a:t>
            </a:r>
          </a:p>
        </p:txBody>
      </p:sp>
      <p:sp>
        <p:nvSpPr>
          <p:cNvPr id="3" name="">
            <a:extLst xmlns:a="http://schemas.openxmlformats.org/drawingml/2006/main">
              <a:ext uri="{FF2B5EF4-FFF2-40B4-BE49-F238E27FC236}">
                <a16:creationId xmlns:a16="http://schemas.microsoft.com/office/drawing/2014/main" id="{C161EBD5-00BC-4BB1-ADE5-C1A05FE7A261}"/>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  •  AGRICULTURE IS EVERYWHERE</a:t>
            </a:r>
          </a:p>
        </p:txBody>
      </p:sp>
      <p:sp>
        <p:nvSpPr>
          <p:cNvPr id="4" name="">
            <a:extLst xmlns:a="http://schemas.openxmlformats.org/drawingml/2006/main">
              <a:ext uri="{FF2B5EF4-FFF2-40B4-BE49-F238E27FC236}">
                <a16:creationId xmlns:a16="http://schemas.microsoft.com/office/drawing/2014/main" id="{A8FB0B69-7614-4F3D-AAB4-300A1B8C0547}"/>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08</a:t>
            </a:r>
          </a:p>
        </p:txBody>
      </p:sp>
      <p:sp>
        <p:nvSpPr>
          <p:cNvPr id="5" name="">
            <a:extLst xmlns:a="http://schemas.openxmlformats.org/drawingml/2006/main">
              <a:ext uri="{FF2B5EF4-FFF2-40B4-BE49-F238E27FC236}">
                <a16:creationId xmlns:a16="http://schemas.microsoft.com/office/drawing/2014/main" id="{D7ED295F-DAF6-4E83-9490-1D065B44007A}"/>
              </a:ext>
            </a:extLst>
          </p:cNvPr>
          <p:cNvSpPr>
            <a:spLocks xmlns:a="http://schemas.openxmlformats.org/drawingml/2006/main" noGrp="1"/>
          </p:cNvSpPr>
          <p:nvPr/>
        </p:nvSpPr>
        <p:spPr>
          <a:xfrm xmlns:a="http://schemas.openxmlformats.org/drawingml/2006/main">
            <a:off x="590550" y="8382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i="0">
                <a:solidFill>
                  <a:srgbClr val="FFFFFF"/>
                </a:solidFill>
              </a:defRPr>
            </a:pPr>
            <a:r>
              <a:rPr sz="3150" b="1" i="0">
                <a:solidFill>
                  <a:srgbClr val="FFFFFF"/>
                </a:solidFill>
              </a:rPr>
              <a:t>Before you pack up…</a:t>
            </a:r>
          </a:p>
        </p:txBody>
      </p:sp>
      <p:sp>
        <p:nvSpPr>
          <p:cNvPr id="6" name="">
            <a:extLst xmlns:a="http://schemas.openxmlformats.org/drawingml/2006/main">
              <a:ext uri="{FF2B5EF4-FFF2-40B4-BE49-F238E27FC236}">
                <a16:creationId xmlns:a16="http://schemas.microsoft.com/office/drawing/2014/main" id="{A647C4F4-AFD6-436F-8CDE-FBD5A2DF05E1}"/>
              </a:ext>
            </a:extLst>
          </p:cNvPr>
          <p:cNvSpPr>
            <a:spLocks xmlns:a="http://schemas.openxmlformats.org/drawingml/2006/main" noGrp="1"/>
          </p:cNvSpPr>
          <p:nvPr/>
        </p:nvSpPr>
        <p:spPr>
          <a:xfrm xmlns:a="http://schemas.openxmlformats.org/drawingml/2006/main">
            <a:off x="590550" y="1952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D7AFC7-3767-4FA1-8CFF-B1334A87A32C}"/>
              </a:ext>
            </a:extLst>
          </p:cNvPr>
          <p:cNvSpPr>
            <a:spLocks xmlns:a="http://schemas.openxmlformats.org/drawingml/2006/main" noGrp="1"/>
          </p:cNvSpPr>
          <p:nvPr/>
        </p:nvSpPr>
        <p:spPr>
          <a:xfrm xmlns:a="http://schemas.openxmlformats.org/drawingml/2006/main">
            <a:off x="857250" y="2085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1. One idea I can now explain is…</a:t>
            </a:r>
          </a:p>
        </p:txBody>
      </p:sp>
      <p:sp>
        <p:nvSpPr>
          <p:cNvPr id="8" name="">
            <a:extLst xmlns:a="http://schemas.openxmlformats.org/drawingml/2006/main">
              <a:ext uri="{FF2B5EF4-FFF2-40B4-BE49-F238E27FC236}">
                <a16:creationId xmlns:a16="http://schemas.microsoft.com/office/drawing/2014/main" id="{B70D77DA-8B4D-475F-B45D-A85C47F2D753}"/>
              </a:ext>
            </a:extLst>
          </p:cNvPr>
          <p:cNvSpPr>
            <a:spLocks xmlns:a="http://schemas.openxmlformats.org/drawingml/2006/main" noGrp="1"/>
          </p:cNvSpPr>
          <p:nvPr/>
        </p:nvSpPr>
        <p:spPr>
          <a:xfrm xmlns:a="http://schemas.openxmlformats.org/drawingml/2006/main">
            <a:off x="590550" y="3095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D13384-CB3E-49C5-BC1B-324580FDFD90}"/>
              </a:ext>
            </a:extLst>
          </p:cNvPr>
          <p:cNvSpPr>
            <a:spLocks xmlns:a="http://schemas.openxmlformats.org/drawingml/2006/main" noGrp="1"/>
          </p:cNvSpPr>
          <p:nvPr/>
        </p:nvSpPr>
        <p:spPr>
          <a:xfrm xmlns:a="http://schemas.openxmlformats.org/drawingml/2006/main">
            <a:off x="857250" y="3228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2. One decision or practical action this changes is…</a:t>
            </a:r>
          </a:p>
        </p:txBody>
      </p:sp>
      <p:sp>
        <p:nvSpPr>
          <p:cNvPr id="10" name="">
            <a:extLst xmlns:a="http://schemas.openxmlformats.org/drawingml/2006/main">
              <a:ext uri="{FF2B5EF4-FFF2-40B4-BE49-F238E27FC236}">
                <a16:creationId xmlns:a16="http://schemas.microsoft.com/office/drawing/2014/main" id="{C73C6D95-8311-45FC-B62F-8935B171EE09}"/>
              </a:ext>
            </a:extLst>
          </p:cNvPr>
          <p:cNvSpPr>
            <a:spLocks xmlns:a="http://schemas.openxmlformats.org/drawingml/2006/main" noGrp="1"/>
          </p:cNvSpPr>
          <p:nvPr/>
        </p:nvSpPr>
        <p:spPr>
          <a:xfrm xmlns:a="http://schemas.openxmlformats.org/drawingml/2006/main">
            <a:off x="590550" y="4238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B2B4722-C001-4C28-9D0D-38B71C275AE1}"/>
              </a:ext>
            </a:extLst>
          </p:cNvPr>
          <p:cNvSpPr>
            <a:spLocks xmlns:a="http://schemas.openxmlformats.org/drawingml/2006/main" noGrp="1"/>
          </p:cNvSpPr>
          <p:nvPr/>
        </p:nvSpPr>
        <p:spPr>
          <a:xfrm xmlns:a="http://schemas.openxmlformats.org/drawingml/2006/main">
            <a:off x="857250" y="4371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3. One local detail my teacher still needs to confirm is…</a:t>
            </a:r>
          </a:p>
        </p:txBody>
      </p:sp>
      <p:sp>
        <p:nvSpPr>
          <p:cNvPr id="12" name="">
            <a:extLst xmlns:a="http://schemas.openxmlformats.org/drawingml/2006/main">
              <a:ext uri="{FF2B5EF4-FFF2-40B4-BE49-F238E27FC236}">
                <a16:creationId xmlns:a16="http://schemas.microsoft.com/office/drawing/2014/main" id="{EB8BC96C-4000-451A-AA1D-6B492E7B324A}"/>
              </a:ext>
            </a:extLst>
          </p:cNvPr>
          <p:cNvSpPr>
            <a:spLocks xmlns:a="http://schemas.openxmlformats.org/drawingml/2006/main" noGrp="1"/>
          </p:cNvSpPr>
          <p:nvPr/>
        </p:nvSpPr>
        <p:spPr>
          <a:xfrm xmlns:a="http://schemas.openxmlformats.org/drawingml/2006/main">
            <a:off x="9715500" y="2476500"/>
            <a:ext cx="1619250" cy="1619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8952659-1B74-4310-8587-7403094CDF38}"/>
              </a:ext>
            </a:extLst>
          </p:cNvPr>
          <p:cNvSpPr>
            <a:spLocks xmlns:a="http://schemas.openxmlformats.org/drawingml/2006/main" noGrp="1"/>
          </p:cNvSpPr>
          <p:nvPr/>
        </p:nvSpPr>
        <p:spPr>
          <a:xfrm xmlns:a="http://schemas.openxmlformats.org/drawingml/2006/main">
            <a:off x="9906000" y="2724150"/>
            <a:ext cx="123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83B23"/>
                </a:solidFill>
              </a:defRPr>
            </a:pPr>
            <a:r>
              <a:rPr sz="1800" b="1" i="0">
                <a:solidFill>
                  <a:srgbClr val="183B23"/>
                </a:solidFill>
              </a:rPr>
              <a:t>SAVE</a:t>
            </a:r>
          </a:p>
          <a:p xmlns:a="http://schemas.openxmlformats.org/drawingml/2006/main">
            <a:pPr algn="ctr">
              <a:buNone/>
              <a:defRPr sz="1800" b="1" i="0">
                <a:solidFill>
                  <a:srgbClr val="183B23"/>
                </a:solidFill>
              </a:defRPr>
            </a:pPr>
            <a:r>
              <a:rPr sz="1800" b="1" i="0">
                <a:solidFill>
                  <a:srgbClr val="183B23"/>
                </a:solidFill>
              </a:rPr>
              <a:t>TO</a:t>
            </a:r>
          </a:p>
          <a:p xmlns:a="http://schemas.openxmlformats.org/drawingml/2006/main">
            <a:pPr algn="ctr">
              <a:buNone/>
              <a:defRPr sz="1800" b="1" i="0">
                <a:solidFill>
                  <a:srgbClr val="183B23"/>
                </a:solidFill>
              </a:defRPr>
            </a:pPr>
            <a:r>
              <a:rPr sz="1800" b="1" i="0">
                <a:solidFill>
                  <a:srgbClr val="183B23"/>
                </a:solidFill>
              </a:rPr>
              <a:t>FOLIO</a:t>
            </a:r>
          </a:p>
        </p:txBody>
      </p:sp>
    </p:spTree>
    <p:extLst>
      <p:ext uri="{BB962C8B-B14F-4D97-AF65-F5344CB8AC3E}">
        <p14:creationId xmlns:p14="http://schemas.microsoft.com/office/powerpoint/2010/main" val="125867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2026-09-02T00:57:19.8360000Z</dcterms:created>
  <dcterms:modified xsi:type="dcterms:W3CDTF">2026-09-02T00:57:19.8360000Z</dcterms:modified>
</coreProperties>
</file>