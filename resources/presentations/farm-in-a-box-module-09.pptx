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055a5ef5aca4889" /><Relationship Type="http://schemas.openxmlformats.org/officeDocument/2006/relationships/extended-properties" Target="/docProps/app.xml" Id="R49de8b849e6b4660" /><Relationship Type="http://schemas.openxmlformats.org/officeDocument/2006/relationships/officeDocument" Target="/ppt/presentation.xml" Id="R7484192c19f649f3" /></Relationships>
</file>

<file path=ppt/presentation.xml><?xml version="1.0" encoding="utf-8"?>
<p:presentation xmlns:p="http://schemas.openxmlformats.org/presentationml/2006/main">
  <p:sldMasterIdLst>
    <p:sldMasterId xmlns:r="http://schemas.openxmlformats.org/officeDocument/2006/relationships" id="2147483648" r:id="Re8efdfe324ab4b50"/>
  </p:sldMasterIdLst>
  <p:notesMasterIdLst>
    <p:notesMasterId xmlns:r="http://schemas.openxmlformats.org/officeDocument/2006/relationships" r:id="R34007a1fd97d4089"/>
  </p:notesMasterIdLst>
  <p:sldIdLst>
    <p:sldId xmlns:r="http://schemas.openxmlformats.org/officeDocument/2006/relationships" id="256" r:id="Rd1e0e7ed364a4e60"/>
    <p:sldId xmlns:r="http://schemas.openxmlformats.org/officeDocument/2006/relationships" id="257" r:id="R9c9064513c284ae6"/>
    <p:sldId xmlns:r="http://schemas.openxmlformats.org/officeDocument/2006/relationships" id="258" r:id="R212323771080426a"/>
    <p:sldId xmlns:r="http://schemas.openxmlformats.org/officeDocument/2006/relationships" id="259" r:id="R462c4bc480d04063"/>
    <p:sldId xmlns:r="http://schemas.openxmlformats.org/officeDocument/2006/relationships" id="260" r:id="R92516ffc509e4890"/>
    <p:sldId xmlns:r="http://schemas.openxmlformats.org/officeDocument/2006/relationships" id="261" r:id="Rc5a7c219d0254bfd"/>
    <p:sldId xmlns:r="http://schemas.openxmlformats.org/officeDocument/2006/relationships" id="262" r:id="Rd3683badaffd4f3d"/>
    <p:sldId xmlns:r="http://schemas.openxmlformats.org/officeDocument/2006/relationships" id="263" r:id="Rc7d496cf4143413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8fa41f0b2034a1b" /><Relationship Type="http://schemas.openxmlformats.org/officeDocument/2006/relationships/slideMaster" Target="/ppt/slideMasters/slideMaster1.xml" Id="Re8efdfe324ab4b50" /><Relationship Type="http://schemas.openxmlformats.org/officeDocument/2006/relationships/notesMaster" Target="/ppt/notesMasters/notesMaster1.xml" Id="R34007a1fd97d4089" /><Relationship Type="http://schemas.openxmlformats.org/officeDocument/2006/relationships/presProps" Target="/ppt/presProps.xml" Id="R08ad5cd163164ecf" /><Relationship Type="http://schemas.openxmlformats.org/officeDocument/2006/relationships/tableStyles" Target="/ppt/tableStyles.xml" Id="R3503758286924c76" /><Relationship Type="http://schemas.openxmlformats.org/officeDocument/2006/relationships/slide" Target="/ppt/slides/slide1.xml" Id="Rd1e0e7ed364a4e60" /><Relationship Type="http://schemas.openxmlformats.org/officeDocument/2006/relationships/slide" Target="/ppt/slides/slide2.xml" Id="R9c9064513c284ae6" /><Relationship Type="http://schemas.openxmlformats.org/officeDocument/2006/relationships/slide" Target="/ppt/slides/slide3.xml" Id="R212323771080426a" /><Relationship Type="http://schemas.openxmlformats.org/officeDocument/2006/relationships/slide" Target="/ppt/slides/slide4.xml" Id="R462c4bc480d04063" /><Relationship Type="http://schemas.openxmlformats.org/officeDocument/2006/relationships/slide" Target="/ppt/slides/slide5.xml" Id="R92516ffc509e4890" /><Relationship Type="http://schemas.openxmlformats.org/officeDocument/2006/relationships/slide" Target="/ppt/slides/slide6.xml" Id="Rc5a7c219d0254bfd" /><Relationship Type="http://schemas.openxmlformats.org/officeDocument/2006/relationships/slide" Target="/ppt/slides/slide7.xml" Id="Rd3683badaffd4f3d" /><Relationship Type="http://schemas.openxmlformats.org/officeDocument/2006/relationships/slide" Target="/ppt/slides/slide8.xml" Id="Rc7d496cf4143413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e401208754540d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ef6b0b9ea714f94" /><Relationship Type="http://schemas.openxmlformats.org/officeDocument/2006/relationships/notesMaster" Target="/ppt/notesMasters/notesMaster1.xml" Id="R52e5dbc5addd42f2" /></Relationships>
</file>

<file path=ppt/notesSlides/_rels/notesSlide2.xml.rels>&#65279;<?xml version="1.0" encoding="utf-8"?><Relationships xmlns="http://schemas.openxmlformats.org/package/2006/relationships"><Relationship Type="http://schemas.openxmlformats.org/officeDocument/2006/relationships/slide" Target="/ppt/slides/slide2.xml" Id="Rd88613a525ed4808" /><Relationship Type="http://schemas.openxmlformats.org/officeDocument/2006/relationships/notesMaster" Target="/ppt/notesMasters/notesMaster1.xml" Id="Rf1e27443368c430e" /></Relationships>
</file>

<file path=ppt/notesSlides/_rels/notesSlide3.xml.rels>&#65279;<?xml version="1.0" encoding="utf-8"?><Relationships xmlns="http://schemas.openxmlformats.org/package/2006/relationships"><Relationship Type="http://schemas.openxmlformats.org/officeDocument/2006/relationships/slide" Target="/ppt/slides/slide3.xml" Id="Refdf413961894acd" /><Relationship Type="http://schemas.openxmlformats.org/officeDocument/2006/relationships/notesMaster" Target="/ppt/notesMasters/notesMaster1.xml" Id="R38e92ba30ab44c70" /></Relationships>
</file>

<file path=ppt/notesSlides/_rels/notesSlide4.xml.rels>&#65279;<?xml version="1.0" encoding="utf-8"?><Relationships xmlns="http://schemas.openxmlformats.org/package/2006/relationships"><Relationship Type="http://schemas.openxmlformats.org/officeDocument/2006/relationships/slide" Target="/ppt/slides/slide4.xml" Id="R1e98b32ca5084716" /><Relationship Type="http://schemas.openxmlformats.org/officeDocument/2006/relationships/notesMaster" Target="/ppt/notesMasters/notesMaster1.xml" Id="R328e31f21c0f4b76" /></Relationships>
</file>

<file path=ppt/notesSlides/_rels/notesSlide5.xml.rels>&#65279;<?xml version="1.0" encoding="utf-8"?><Relationships xmlns="http://schemas.openxmlformats.org/package/2006/relationships"><Relationship Type="http://schemas.openxmlformats.org/officeDocument/2006/relationships/slide" Target="/ppt/slides/slide5.xml" Id="R3933b8a7e81d471a" /><Relationship Type="http://schemas.openxmlformats.org/officeDocument/2006/relationships/notesMaster" Target="/ppt/notesMasters/notesMaster1.xml" Id="R03e0657254f147b3" /></Relationships>
</file>

<file path=ppt/notesSlides/_rels/notesSlide6.xml.rels>&#65279;<?xml version="1.0" encoding="utf-8"?><Relationships xmlns="http://schemas.openxmlformats.org/package/2006/relationships"><Relationship Type="http://schemas.openxmlformats.org/officeDocument/2006/relationships/slide" Target="/ppt/slides/slide6.xml" Id="R0e4665b9ad4f49db" /><Relationship Type="http://schemas.openxmlformats.org/officeDocument/2006/relationships/notesMaster" Target="/ppt/notesMasters/notesMaster1.xml" Id="Rfcb0b4265fee48f7" /></Relationships>
</file>

<file path=ppt/notesSlides/_rels/notesSlide7.xml.rels>&#65279;<?xml version="1.0" encoding="utf-8"?><Relationships xmlns="http://schemas.openxmlformats.org/package/2006/relationships"><Relationship Type="http://schemas.openxmlformats.org/officeDocument/2006/relationships/slide" Target="/ppt/slides/slide7.xml" Id="R4bffe76fd6bf4c20" /><Relationship Type="http://schemas.openxmlformats.org/officeDocument/2006/relationships/notesMaster" Target="/ppt/notesMasters/notesMaster1.xml" Id="R4d0a54a0d92940ee" /></Relationships>
</file>

<file path=ppt/notesSlides/_rels/notesSlide8.xml.rels>&#65279;<?xml version="1.0" encoding="utf-8"?><Relationships xmlns="http://schemas.openxmlformats.org/package/2006/relationships"><Relationship Type="http://schemas.openxmlformats.org/officeDocument/2006/relationships/slide" Target="/ppt/slides/slide8.xml" Id="Rbe9c9b9015554db2" /><Relationship Type="http://schemas.openxmlformats.org/officeDocument/2006/relationships/notesMaster" Target="/ppt/notesMasters/notesMaster1.xml" Id="R495148e6d2c3490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introduce Grow, Measure and Improve as the next step in the Farm in a Box learning sequence.</a:t>
            </a:r>
          </a:p>
          <a:p xmlns:a="http://schemas.openxmlformats.org/drawingml/2006/main">
            <a:r>
              <a:t>Student outcome for this deck: Turn field records into responsible production decisions</a:t>
            </a:r>
          </a:p>
          <a:p xmlns:a="http://schemas.openxmlformats.org/drawingml/2006/main">
            <a:r>
              <a:t>Opening prompt: ask students what evidence in the image makes this an agriculture system rather than a decorative container.</a:t>
            </a:r>
          </a:p>
          <a:p xmlns:a="http://schemas.openxmlformats.org/drawingml/2006/main">
            <a:r>
              <a:t>Boundary: crop, site, materials, tools, method and local safety controls remain Teacher to confirm.</a:t>
            </a:r>
          </a:p>
          <a:p xmlns:a="http://schemas.openxmlformats.org/drawingml/2006/main">
            <a:r>
              <a:t>Transition: preview the three named learning areas without answering the warm-up for students.</a:t>
            </a:r>
          </a:p>
          <a:p xmlns:a="http://schemas.openxmlformats.org/drawingml/2006/main">
            <a:r>
              <a:t/>
            </a:r>
          </a:p>
          <a:p xmlns:a="http://schemas.openxmlformats.org/drawingml/2006/main">
            <a:r>
              <a:t>[Sources]</a:t>
            </a:r>
          </a:p>
          <a:p xmlns:a="http://schemas.openxmlformats.org/drawingml/2006/main">
            <a:r>
              <a:t>- Technology 7–8 Syllabus (2023) – Food and agricultural practices content — https://curriculum.nsw.edu.au/learning-areas/tas/technology-7-8-2023/content/stage-4/faa6e5f8d5</a:t>
            </a:r>
          </a:p>
          <a:p xmlns:a="http://schemas.openxmlformats.org/drawingml/2006/main">
            <a:r>
              <a:t>- Technology 7–8 (2023): Sample unit (Stage 4) – Micro farm — https://library.curriculum.nsw.edu.au/341419dc-8ec2-0289-7225-6db7f2d751ef/de7fba4f-172d-4d41-b88a-c48ca8b1e40e/technology-7-8-2023-sample-unit-stage-4-micro-farm.DOCX</a:t>
            </a:r>
          </a:p>
          <a:p xmlns:a="http://schemas.openxmlformats.org/drawingml/2006/main">
            <a:r>
              <a:t>- Technology 7–8 – Food and agricultural practices – Grow up! vertical garden adventure — https://education.nsw.gov.au/content/dam/main-education/documents/teaching-and-learning/curriculum/tas/tas-s4-agriculture-10-week-program-grow-up.docx</a:t>
            </a:r>
          </a:p>
          <a:p xmlns:a="http://schemas.openxmlformats.org/drawingml/2006/main">
            <a:r>
              <a:t>- WaterWise precision irrigation — https://www.csiro.au/en/about/corporate-governance/ensuring-our-impact/impact-case-studies/future-industries/waterwise</a:t>
            </a:r>
          </a:p>
          <a:p xmlns:a="http://schemas.openxmlformats.org/drawingml/2006/main">
            <a:r>
              <a:t>- Course design brief: resources/core/design-brief-v1.0.json.</a:t>
            </a:r>
          </a:p>
          <a:p xmlns:a="http://schemas.openxmlformats.org/drawingml/2006/main">
            <a:r>
              <a:t>- Generated title visual: assets/m09-s03-community-food-system.png — OpenAI image generation, 2026-09-02.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Give students quiet thinking time before taking responses.</a:t>
            </a:r>
          </a:p>
          <a:p xmlns:a="http://schemas.openxmlformats.org/drawingml/2006/main">
            <a:r>
              <a:t>The three named areas are Build a useful data record; Maintain, test and improve; Grow for community, waste less.</a:t>
            </a:r>
          </a:p>
          <a:p xmlns:a="http://schemas.openxmlformats.org/drawingml/2006/main">
            <a:r>
              <a:t>Keep initial answers provisional. The deck is designed to improve them with evidence.</a:t>
            </a:r>
          </a:p>
          <a:p xmlns:a="http://schemas.openxmlformats.org/drawingml/2006/main">
            <a:r>
              <a:t>Do not introduce outcome codes or local practical facts on this student-facing slide.</a:t>
            </a:r>
          </a:p>
          <a:p xmlns:a="http://schemas.openxmlformats.org/drawingml/2006/main">
            <a:r>
              <a:t/>
            </a:r>
          </a:p>
          <a:p xmlns:a="http://schemas.openxmlformats.org/drawingml/2006/main">
            <a:r>
              <a:t>[Sources]</a:t>
            </a:r>
          </a:p>
          <a:p xmlns:a="http://schemas.openxmlformats.org/drawingml/2006/main">
            <a:r>
              <a:t>- Technology 7–8 Syllabus (2023) – Food and agricultural practices content — https://curriculum.nsw.edu.au/learning-areas/tas/technology-7-8-2023/content/stage-4/faa6e5f8d5</a:t>
            </a:r>
          </a:p>
          <a:p xmlns:a="http://schemas.openxmlformats.org/drawingml/2006/main">
            <a:r>
              <a:t>- Technology 7–8 (2023): Sample unit (Stage 4) – Micro farm — https://library.curriculum.nsw.edu.au/341419dc-8ec2-0289-7225-6db7f2d751ef/de7fba4f-172d-4d41-b88a-c48ca8b1e40e/technology-7-8-2023-sample-unit-stage-4-micro-farm.DOCX</a:t>
            </a:r>
          </a:p>
          <a:p xmlns:a="http://schemas.openxmlformats.org/drawingml/2006/main">
            <a:r>
              <a:t>- Technology 7–8 – Food and agricultural practices – Grow up! vertical garden adventure — https://education.nsw.gov.au/content/dam/main-education/documents/teaching-and-learning/curriculum/tas/tas-s4-agriculture-10-week-program-grow-up.docx</a:t>
            </a:r>
          </a:p>
          <a:p xmlns:a="http://schemas.openxmlformats.org/drawingml/2006/main">
            <a:r>
              <a:t>- WaterWise precision irrigation — https://www.csiro.au/en/about/corporate-governance/ensuring-our-impact/impact-case-studies/future-industries/waterwise</a:t>
            </a:r>
          </a:p>
          <a:p xmlns:a="http://schemas.openxmlformats.org/drawingml/2006/main">
            <a:r>
              <a:t>- Course design brief: resources/core/design-brief-v1.0.json.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purpose: make Build a useful data record concrete before students apply it to the Farm in a Box.</a:t>
            </a:r>
          </a:p>
          <a:p xmlns:a="http://schemas.openxmlformats.org/drawingml/2006/main">
            <a:r>
              <a:t>Talking point 1: A useful field record identifies variable, method, time, unit and system. Graphs reveal patterns; they do not prove causes. Data supports decisions when interpreted in context.</a:t>
            </a:r>
          </a:p>
          <a:p xmlns:a="http://schemas.openxmlformats.org/drawingml/2006/main">
            <a:r>
              <a:t>Talking point 2: connect the image to the decision or evidence prompt; ask students what feature they notice and why it matters.</a:t>
            </a:r>
          </a:p>
          <a:p xmlns:a="http://schemas.openxmlformats.org/drawingml/2006/main">
            <a:r>
              <a:t>Likely misconception: If two values change together, the graph proves that one caused the other.</a:t>
            </a:r>
          </a:p>
          <a:p xmlns:a="http://schemas.openxmlformats.org/drawingml/2006/main">
            <a:r>
              <a:t>Correction: The graph shows an association or pattern; comparison records and controlled investigation are needed before claiming cause.</a:t>
            </a:r>
          </a:p>
          <a:p xmlns:a="http://schemas.openxmlformats.org/drawingml/2006/main">
            <a:r>
              <a:t>Prompt: Students clean a fictional field-data table, graph one variable and rewrite an overconfident causal claim as an evidence-proportional conclusion.</a:t>
            </a:r>
          </a:p>
          <a:p xmlns:a="http://schemas.openxmlformats.org/drawingml/2006/main">
            <a:r>
              <a:t>Transition: connect this idea to Maintain, test and improve.</a:t>
            </a:r>
          </a:p>
          <a:p xmlns:a="http://schemas.openxmlformats.org/drawingml/2006/main">
            <a:r>
              <a:t/>
            </a:r>
          </a:p>
          <a:p xmlns:a="http://schemas.openxmlformats.org/drawingml/2006/main">
            <a:r>
              <a:t>[Sources]</a:t>
            </a:r>
          </a:p>
          <a:p xmlns:a="http://schemas.openxmlformats.org/drawingml/2006/main">
            <a:r>
              <a:t>- Technology 7–8 Syllabus (2023) – Food and agricultural practices content — https://curriculum.nsw.edu.au/learning-areas/tas/technology-7-8-2023/content/stage-4/faa6e5f8d5</a:t>
            </a:r>
          </a:p>
          <a:p xmlns:a="http://schemas.openxmlformats.org/drawingml/2006/main">
            <a:r>
              <a:t>- Technology 7–8 (2023): Sample unit (Stage 4) – Micro farm — https://library.curriculum.nsw.edu.au/341419dc-8ec2-0289-7225-6db7f2d751ef/de7fba4f-172d-4d41-b88a-c48ca8b1e40e/technology-7-8-2023-sample-unit-stage-4-micro-farm.DOCX</a:t>
            </a:r>
          </a:p>
          <a:p xmlns:a="http://schemas.openxmlformats.org/drawingml/2006/main">
            <a:r>
              <a:t>- Technology 7–8 – Food and agricultural practices – Grow up! vertical garden adventure — https://education.nsw.gov.au/content/dam/main-education/documents/teaching-and-learning/curriculum/tas/tas-s4-agriculture-10-week-program-grow-up.docx</a:t>
            </a:r>
          </a:p>
          <a:p xmlns:a="http://schemas.openxmlformats.org/drawingml/2006/main">
            <a:r>
              <a:t>- WaterWise precision irrigation — https://www.csiro.au/en/about/corporate-governance/ensuring-our-impact/impact-case-studies/future-industries/waterwise</a:t>
            </a:r>
          </a:p>
          <a:p xmlns:a="http://schemas.openxmlformats.org/drawingml/2006/main">
            <a:r>
              <a:t>- Generated teaching visual: assets/m09-s01-field-data-to-decision.png — OpenAI image generation, 2026-09-02.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purpose: make Maintain, test and improve concrete before students apply it to the Farm in a Box.</a:t>
            </a:r>
          </a:p>
          <a:p xmlns:a="http://schemas.openxmlformats.org/drawingml/2006/main">
            <a:r>
              <a:t>Talking point 1: Maintenance is a recorded trigger–approved action–check cycle. Improvement changes one approved factor, re-tests consistently and treats every result as evidence rather than proof of universal success.</a:t>
            </a:r>
          </a:p>
          <a:p xmlns:a="http://schemas.openxmlformats.org/drawingml/2006/main">
            <a:r>
              <a:t>Talking point 2: connect the image to the decision or evidence prompt; ask students what feature they notice and why it matters.</a:t>
            </a:r>
          </a:p>
          <a:p xmlns:a="http://schemas.openxmlformats.org/drawingml/2006/main">
            <a:r>
              <a:t>Likely misconception: More frequent changes always improve a crop-production system.</a:t>
            </a:r>
          </a:p>
          <a:p xmlns:a="http://schemas.openxmlformats.org/drawingml/2006/main">
            <a:r>
              <a:t>Correction: Frequent uncontrolled changes make evidence harder to interpret; improvement should respond to a pattern and be re-tested.</a:t>
            </a:r>
          </a:p>
          <a:p xmlns:a="http://schemas.openxmlformats.org/drawingml/2006/main">
            <a:r>
              <a:t>Prompt: Students review a fictional maintenance log, identify an uncontrolled change and rewrite it as a trigger–approved action–check investigation.</a:t>
            </a:r>
          </a:p>
          <a:p xmlns:a="http://schemas.openxmlformats.org/drawingml/2006/main">
            <a:r>
              <a:t>Transition: connect this idea to Grow for community, waste less.</a:t>
            </a:r>
          </a:p>
          <a:p xmlns:a="http://schemas.openxmlformats.org/drawingml/2006/main">
            <a:r>
              <a:t/>
            </a:r>
          </a:p>
          <a:p xmlns:a="http://schemas.openxmlformats.org/drawingml/2006/main">
            <a:r>
              <a:t>[Sources]</a:t>
            </a:r>
          </a:p>
          <a:p xmlns:a="http://schemas.openxmlformats.org/drawingml/2006/main">
            <a:r>
              <a:t>- Technology 7–8 Syllabus (2023) – Food and agricultural practices content — https://curriculum.nsw.edu.au/learning-areas/tas/technology-7-8-2023/content/stage-4/faa6e5f8d5</a:t>
            </a:r>
          </a:p>
          <a:p xmlns:a="http://schemas.openxmlformats.org/drawingml/2006/main">
            <a:r>
              <a:t>- Technology 7–8 (2023): Sample unit (Stage 4) – Micro farm — https://library.curriculum.nsw.edu.au/341419dc-8ec2-0289-7225-6db7f2d751ef/de7fba4f-172d-4d41-b88a-c48ca8b1e40e/technology-7-8-2023-sample-unit-stage-4-micro-farm.DOCX</a:t>
            </a:r>
          </a:p>
          <a:p xmlns:a="http://schemas.openxmlformats.org/drawingml/2006/main">
            <a:r>
              <a:t>- Technology 7–8 – Food and agricultural practices – Grow up! vertical garden adventure — https://education.nsw.gov.au/content/dam/main-education/documents/teaching-and-learning/curriculum/tas/tas-s4-agriculture-10-week-program-grow-up.docx</a:t>
            </a:r>
          </a:p>
          <a:p xmlns:a="http://schemas.openxmlformats.org/drawingml/2006/main">
            <a:r>
              <a:t>- WaterWise precision irrigation — https://www.csiro.au/en/about/corporate-governance/ensuring-our-impact/impact-case-studies/future-industries/waterwise</a:t>
            </a:r>
          </a:p>
          <a:p xmlns:a="http://schemas.openxmlformats.org/drawingml/2006/main">
            <a:r>
              <a:t>- Generated teaching visual: assets/m09-s02-maintain-improve.png — OpenAI image generation, 2026-09-02.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purpose: make Grow for community, waste less concrete before students apply it to the Farm in a Box.</a:t>
            </a:r>
          </a:p>
          <a:p xmlns:a="http://schemas.openxmlformats.org/drawingml/2006/main">
            <a:r>
              <a:t>Talking point 1: A community food initiative is a system of people, resources, production, learning and distribution. Sustainability depends on evidence, fair participation and approved waste pathways—not the label alone.</a:t>
            </a:r>
          </a:p>
          <a:p xmlns:a="http://schemas.openxmlformats.org/drawingml/2006/main">
            <a:r>
              <a:t>Talking point 2: connect the image to the decision or evidence prompt; ask students what feature they notice and why it matters.</a:t>
            </a:r>
          </a:p>
          <a:p xmlns:a="http://schemas.openxmlformats.org/drawingml/2006/main">
            <a:r>
              <a:t>Likely misconception: If an initiative grows food for a community, it is automatically sustainable and fair.</a:t>
            </a:r>
          </a:p>
          <a:p xmlns:a="http://schemas.openxmlformats.org/drawingml/2006/main">
            <a:r>
              <a:t>Correction: Its resource use, access, workload, distribution, waste, controls and evidence must be examined.</a:t>
            </a:r>
          </a:p>
          <a:p xmlns:a="http://schemas.openxmlformats.org/drawingml/2006/main">
            <a:r>
              <a:t>Prompt: Students audit a fictional neighbourhood crop-box network, identify a missing distribution or waste pathway and recommend a source-safe improvement with a measurable indicator.</a:t>
            </a:r>
          </a:p>
          <a:p xmlns:a="http://schemas.openxmlformats.org/drawingml/2006/main">
            <a:r>
              <a:t>Transition: move from explanation to retrieval across all three ideas.</a:t>
            </a:r>
          </a:p>
          <a:p xmlns:a="http://schemas.openxmlformats.org/drawingml/2006/main">
            <a:r>
              <a:t/>
            </a:r>
          </a:p>
          <a:p xmlns:a="http://schemas.openxmlformats.org/drawingml/2006/main">
            <a:r>
              <a:t>[Sources]</a:t>
            </a:r>
          </a:p>
          <a:p xmlns:a="http://schemas.openxmlformats.org/drawingml/2006/main">
            <a:r>
              <a:t>- Technology 7–8 Syllabus (2023) – Food and agricultural practices content — https://curriculum.nsw.edu.au/learning-areas/tas/technology-7-8-2023/content/stage-4/faa6e5f8d5</a:t>
            </a:r>
          </a:p>
          <a:p xmlns:a="http://schemas.openxmlformats.org/drawingml/2006/main">
            <a:r>
              <a:t>- Technology 7–8 (2023): Sample unit (Stage 4) – Micro farm — https://library.curriculum.nsw.edu.au/341419dc-8ec2-0289-7225-6db7f2d751ef/de7fba4f-172d-4d41-b88a-c48ca8b1e40e/technology-7-8-2023-sample-unit-stage-4-micro-farm.DOCX</a:t>
            </a:r>
          </a:p>
          <a:p xmlns:a="http://schemas.openxmlformats.org/drawingml/2006/main">
            <a:r>
              <a:t>- Technology 7–8 – Food and agricultural practices – Grow up! vertical garden adventure — https://education.nsw.gov.au/content/dam/main-education/documents/teaching-and-learning/curriculum/tas/tas-s4-agriculture-10-week-program-grow-up.docx</a:t>
            </a:r>
          </a:p>
          <a:p xmlns:a="http://schemas.openxmlformats.org/drawingml/2006/main">
            <a:r>
              <a:t>- WaterWise precision irrigation — https://www.csiro.au/en/about/corporate-governance/ensuring-our-impact/impact-case-studies/future-industries/waterwise</a:t>
            </a:r>
          </a:p>
          <a:p xmlns:a="http://schemas.openxmlformats.org/drawingml/2006/main">
            <a:r>
              <a:t>- Generated teaching visual: assets/m09-s03-community-food-system.png — OpenAI image generation, 2026-09-02.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think-pair-share: students answer silently, cite one deck idea, then improve their explanation with a partner.</a:t>
            </a:r>
          </a:p>
          <a:p xmlns:a="http://schemas.openxmlformats.org/drawingml/2006/main">
            <a:r>
              <a:t>Question 1 checks Build a useful data record.</a:t>
            </a:r>
          </a:p>
          <a:p xmlns:a="http://schemas.openxmlformats.org/drawingml/2006/main">
            <a:r>
              <a:t>Question 2 checks Maintain, test and improve.</a:t>
            </a:r>
          </a:p>
          <a:p xmlns:a="http://schemas.openxmlformats.org/drawingml/2006/main">
            <a:r>
              <a:t>Question 3 checks Grow for community, waste less.</a:t>
            </a:r>
          </a:p>
          <a:p xmlns:a="http://schemas.openxmlformats.org/drawingml/2006/main">
            <a:r>
              <a:t>Ask for reasoning, not only a short answer. Correct overclaiming and invented local detail.</a:t>
            </a:r>
          </a:p>
          <a:p xmlns:a="http://schemas.openxmlformats.org/drawingml/2006/main">
            <a:r>
              <a:t/>
            </a:r>
          </a:p>
          <a:p xmlns:a="http://schemas.openxmlformats.org/drawingml/2006/main">
            <a:r>
              <a:t>[Sources]</a:t>
            </a:r>
          </a:p>
          <a:p xmlns:a="http://schemas.openxmlformats.org/drawingml/2006/main">
            <a:r>
              <a:t>- Technology 7–8 Syllabus (2023) – Food and agricultural practices content — https://curriculum.nsw.edu.au/learning-areas/tas/technology-7-8-2023/content/stage-4/faa6e5f8d5</a:t>
            </a:r>
          </a:p>
          <a:p xmlns:a="http://schemas.openxmlformats.org/drawingml/2006/main">
            <a:r>
              <a:t>- Technology 7–8 (2023): Sample unit (Stage 4) – Micro farm — https://library.curriculum.nsw.edu.au/341419dc-8ec2-0289-7225-6db7f2d751ef/de7fba4f-172d-4d41-b88a-c48ca8b1e40e/technology-7-8-2023-sample-unit-stage-4-micro-farm.DOCX</a:t>
            </a:r>
          </a:p>
          <a:p xmlns:a="http://schemas.openxmlformats.org/drawingml/2006/main">
            <a:r>
              <a:t>- Technology 7–8 – Food and agricultural practices – Grow up! vertical garden adventure — https://education.nsw.gov.au/content/dam/main-education/documents/teaching-and-learning/curriculum/tas/tas-s4-agriculture-10-week-program-grow-up.docx</a:t>
            </a:r>
          </a:p>
          <a:p xmlns:a="http://schemas.openxmlformats.org/drawingml/2006/main">
            <a:r>
              <a:t>- WaterWise precision irrigation — https://www.csiro.au/en/about/corporate-governance/ensuring-our-impact/impact-case-studies/future-industries/waterwise</a:t>
            </a:r>
          </a:p>
          <a:p xmlns:a="http://schemas.openxmlformats.org/drawingml/2006/main">
            <a:r>
              <a:t>- Course design brief: resources/core/design-brief-v1.0.json.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Response purpose: Evaluate a fictional community food initiative and recommend one evidence-based improvement that reduces avoidable waste.</a:t>
            </a:r>
          </a:p>
          <a:p xmlns:a="http://schemas.openxmlformats.org/drawingml/2006/main">
            <a:r>
              <a:t>Scaffold prompts: Who contributes, who benefits and where are access or workload gaps? | What resources, products, learning and waste pathways are visible? | Which social, ethical or authorised-rule issue matters most? | What one waste-prevention improvement and indicator would you recommend?</a:t>
            </a:r>
          </a:p>
          <a:p xmlns:a="http://schemas.openxmlformats.org/drawingml/2006/main">
            <a:r>
              <a:t>Success criteria: Maps the initiative as a connected system rather than judging its name. | Uses at least one social or ethical consideration and keeps local distribution controls unresolved where necessary. | Recommends a measurable waste-prevention improvement proportional to the evidence.</a:t>
            </a:r>
          </a:p>
          <a:p xmlns:a="http://schemas.openxmlformats.org/drawingml/2006/main">
            <a:r>
              <a:t>Appropriate response example for teacher modelling: The initiative currently contributes by sharing growing knowledge and recording small-space production, but the system map reveals that maintenance work is concentrated in one group and the surplus pathway is unclear. I would improve the planning stage by matching production goals with confirmed users before planting, which could prevent avoidable surplus without assuming that produce can be eaten or donated. The group could compare the recorded surplus before and after the change and review whether participation became more balanced.</a:t>
            </a:r>
          </a:p>
          <a:p xmlns:a="http://schemas.openxmlformats.org/drawingml/2006/main">
            <a:r>
              <a:t>Model how to acknowledge uncertainty without weakening a claim supported by evidence.</a:t>
            </a:r>
          </a:p>
          <a:p xmlns:a="http://schemas.openxmlformats.org/drawingml/2006/main">
            <a:r>
              <a:t/>
            </a:r>
          </a:p>
          <a:p xmlns:a="http://schemas.openxmlformats.org/drawingml/2006/main">
            <a:r>
              <a:t>[Sources]</a:t>
            </a:r>
          </a:p>
          <a:p xmlns:a="http://schemas.openxmlformats.org/drawingml/2006/main">
            <a:r>
              <a:t>- Technology 7–8 Syllabus (2023) – Food and agricultural practices content — https://curriculum.nsw.edu.au/learning-areas/tas/technology-7-8-2023/content/stage-4/faa6e5f8d5</a:t>
            </a:r>
          </a:p>
          <a:p xmlns:a="http://schemas.openxmlformats.org/drawingml/2006/main">
            <a:r>
              <a:t>- Technology 7–8 (2023): Sample unit (Stage 4) – Micro farm — https://library.curriculum.nsw.edu.au/341419dc-8ec2-0289-7225-6db7f2d751ef/de7fba4f-172d-4d41-b88a-c48ca8b1e40e/technology-7-8-2023-sample-unit-stage-4-micro-farm.DOCX</a:t>
            </a:r>
          </a:p>
          <a:p xmlns:a="http://schemas.openxmlformats.org/drawingml/2006/main">
            <a:r>
              <a:t>- Technology 7–8 – Food and agricultural practices – Grow up! vertical garden adventure — https://education.nsw.gov.au/content/dam/main-education/documents/teaching-and-learning/curriculum/tas/tas-s4-agriculture-10-week-program-grow-up.docx</a:t>
            </a:r>
          </a:p>
          <a:p xmlns:a="http://schemas.openxmlformats.org/drawingml/2006/main">
            <a:r>
              <a:t>- WaterWise precision irrigation — https://www.csiro.au/en/about/corporate-governance/ensuring-our-impact/impact-case-studies/future-industries/waterwise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Evidence destination: field data table and graph; maintenance log and evidence-based modification; community food initiative response and waste-reduction plan.</a:t>
            </a:r>
          </a:p>
          <a:p xmlns:a="http://schemas.openxmlformats.org/drawingml/2006/main">
            <a:r>
              <a:t>Students save a concise exit response in their local folio or on paper.</a:t>
            </a:r>
          </a:p>
          <a:p xmlns:a="http://schemas.openxmlformats.org/drawingml/2006/main">
            <a:r>
              <a:t>Accept a specific unanswered local-control question; do not pressure students to invent the answer.</a:t>
            </a:r>
          </a:p>
          <a:p xmlns:a="http://schemas.openxmlformats.org/drawingml/2006/main">
            <a:r>
              <a:t>Next step: continue to Module 10.</a:t>
            </a:r>
          </a:p>
          <a:p xmlns:a="http://schemas.openxmlformats.org/drawingml/2006/main">
            <a:r>
              <a:t/>
            </a:r>
          </a:p>
          <a:p xmlns:a="http://schemas.openxmlformats.org/drawingml/2006/main">
            <a:r>
              <a:t>[Sources]</a:t>
            </a:r>
          </a:p>
          <a:p xmlns:a="http://schemas.openxmlformats.org/drawingml/2006/main">
            <a:r>
              <a:t>- Technology 7–8 Syllabus (2023) – Food and agricultural practices content — https://curriculum.nsw.edu.au/learning-areas/tas/technology-7-8-2023/content/stage-4/faa6e5f8d5</a:t>
            </a:r>
          </a:p>
          <a:p xmlns:a="http://schemas.openxmlformats.org/drawingml/2006/main">
            <a:r>
              <a:t>- Technology 7–8 (2023): Sample unit (Stage 4) – Micro farm — https://library.curriculum.nsw.edu.au/341419dc-8ec2-0289-7225-6db7f2d751ef/de7fba4f-172d-4d41-b88a-c48ca8b1e40e/technology-7-8-2023-sample-unit-stage-4-micro-farm.DOCX</a:t>
            </a:r>
          </a:p>
          <a:p xmlns:a="http://schemas.openxmlformats.org/drawingml/2006/main">
            <a:r>
              <a:t>- Technology 7–8 – Food and agricultural practices – Grow up! vertical garden adventure — https://education.nsw.gov.au/content/dam/main-education/documents/teaching-and-learning/curriculum/tas/tas-s4-agriculture-10-week-program-grow-up.docx</a:t>
            </a:r>
          </a:p>
          <a:p xmlns:a="http://schemas.openxmlformats.org/drawingml/2006/main">
            <a:r>
              <a:t>- WaterWise precision irrigation — https://www.csiro.au/en/about/corporate-governance/ensuring-our-impact/impact-case-studies/future-industries/waterwise</a:t>
            </a:r>
          </a:p>
          <a:p xmlns:a="http://schemas.openxmlformats.org/drawingml/2006/main">
            <a:r>
              <a:t>- Course design brief: resources/core/design-brief-v1.0.json.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01d12dd5a0c43d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970f2962cfa4300" /><Relationship Type="http://schemas.openxmlformats.org/officeDocument/2006/relationships/slideLayout" Target="/ppt/slideLayouts/slideLayout1.xml" Id="R180ca194db79408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80ca194db79408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af782f0beb14a6d" /><Relationship Type="http://schemas.openxmlformats.org/officeDocument/2006/relationships/image" Target="/ppt/media/image.png" Id="Rd0e3d3733d3a4bd2" /><Relationship Type="http://schemas.openxmlformats.org/officeDocument/2006/relationships/notesSlide" Target="/ppt/notesSlides/notesSlide1.xml" Id="R9f4455da142b499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04737bee30e4cfe" /><Relationship Type="http://schemas.openxmlformats.org/officeDocument/2006/relationships/notesSlide" Target="/ppt/notesSlides/notesSlide2.xml" Id="R45205151cfc948c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ba73bcad29a498f" /><Relationship Type="http://schemas.openxmlformats.org/officeDocument/2006/relationships/image" Target="/ppt/media/image2.png" Id="Rcdc8b301d7b94381" /><Relationship Type="http://schemas.openxmlformats.org/officeDocument/2006/relationships/notesSlide" Target="/ppt/notesSlides/notesSlide3.xml" Id="Ra14651d6fe304d2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fd47c5b159542ff" /><Relationship Type="http://schemas.openxmlformats.org/officeDocument/2006/relationships/image" Target="/ppt/media/image3.png" Id="Rc54c25e5654b43cc" /><Relationship Type="http://schemas.openxmlformats.org/officeDocument/2006/relationships/notesSlide" Target="/ppt/notesSlides/notesSlide4.xml" Id="Rb4ec658bb8cb459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6ceaf01ca0649b2" /><Relationship Type="http://schemas.openxmlformats.org/officeDocument/2006/relationships/image" Target="/ppt/media/image4.png" Id="R94d77dec251b4d7c" /><Relationship Type="http://schemas.openxmlformats.org/officeDocument/2006/relationships/notesSlide" Target="/ppt/notesSlides/notesSlide5.xml" Id="R3e413673ae95429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bbacf3dc44a547ce" /><Relationship Type="http://schemas.openxmlformats.org/officeDocument/2006/relationships/notesSlide" Target="/ppt/notesSlides/notesSlide6.xml" Id="R4b42d285fbf64b3a"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ca8bea00070a4235" /><Relationship Type="http://schemas.openxmlformats.org/officeDocument/2006/relationships/notesSlide" Target="/ppt/notesSlides/notesSlide7.xml" Id="Ra9733fae4c6744e2"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0cf2dd0409f6479f" /><Relationship Type="http://schemas.openxmlformats.org/officeDocument/2006/relationships/notesSlide" Target="/ppt/notesSlides/notesSlide8.xml" Id="R3b8cb85d40c54a10" /></Relationships>
</file>

<file path=ppt/slides/slide1.xml><?xml version="1.0" encoding="utf-8"?>
<p:sld xmlns:p="http://schemas.openxmlformats.org/presentationml/2006/main">
  <p:cSld>
    <p:bg>
      <p:bgPr>
        <a:solidFill xmlns:a="http://schemas.openxmlformats.org/drawingml/2006/main">
          <a:srgbClr val="183B23"/>
        </a:solidFill>
      </p:bgPr>
    </p:bg>
    <p:spTree>
      <p:nvGrpSpPr>
        <p:cNvPr id="1" name=""/>
        <p:cNvGrpSpPr/>
        <p:nvPr/>
      </p:nvGrpSpPr>
      <p:grpSpPr>
        <a:xfrm xmlns:a="http://schemas.openxmlformats.org/drawingml/2006/main"/>
      </p:grpSpPr>
      <p:pic>
        <p:nvPicPr>
          <p:cNvPr id="9" name="" descr="Students and community volunteers record crops, share observation and sort clean reusable materials beside several growing boxes."/>
          <p:cNvPicPr>
            <a:picLocks xmlns:a="http://schemas.openxmlformats.org/drawingml/2006/main" noChangeAspect="1"/>
          </p:cNvPicPr>
          <p:nvPr/>
        </p:nvPicPr>
        <p:blipFill>
          <a:blip xmlns:r="http://schemas.openxmlformats.org/officeDocument/2006/relationships" xmlns:a="http://schemas.openxmlformats.org/drawingml/2006/main" r:embed="Rd0e3d3733d3a4bd2"/>
          <a:srcRect xmlns:a="http://schemas.openxmlformats.org/drawingml/2006/main" l="24074" t="0" r="24074" b="0"/>
          <a:stretch xmlns:a="http://schemas.openxmlformats.org/drawingml/2006/main">
            <a:fillRect l="0" t="0" r="0" b="0"/>
          </a:stretch>
        </p:blipFill>
        <p:spPr>
          <a:xfrm xmlns:a="http://schemas.openxmlformats.org/drawingml/2006/main">
            <a:off x="6858000" y="0"/>
            <a:ext cx="5334000" cy="6858000"/>
          </a:xfrm>
          <a:prstGeom xmlns:a="http://schemas.openxmlformats.org/drawingml/2006/main" prst="roundRect">
            <a:avLst/>
          </a:prstGeom>
        </p:spPr>
      </p:pic>
      <p:sp>
        <p:nvSpPr>
          <p:cNvPr id="2" name="">
            <a:extLst xmlns:a="http://schemas.openxmlformats.org/drawingml/2006/main">
              <a:ext uri="{FF2B5EF4-FFF2-40B4-BE49-F238E27FC236}">
                <a16:creationId xmlns:a16="http://schemas.microsoft.com/office/drawing/2014/main" id="{52FC72CB-6461-43E1-B296-597BB2571A7B}"/>
              </a:ext>
            </a:extLst>
          </p:cNvPr>
          <p:cNvSpPr>
            <a:spLocks xmlns:a="http://schemas.openxmlformats.org/drawingml/2006/main" noGrp="1"/>
          </p:cNvSpPr>
          <p:nvPr/>
        </p:nvSpPr>
        <p:spPr>
          <a:xfrm xmlns:a="http://schemas.openxmlformats.org/drawingml/2006/main">
            <a:off x="0" y="0"/>
            <a:ext cx="7381875" cy="6858000"/>
          </a:xfrm>
          <a:prstGeom xmlns:a="http://schemas.openxmlformats.org/drawingml/2006/main" prst="rect">
            <a:avLst/>
          </a:prstGeom>
          <a:solidFill xmlns:a="http://schemas.openxmlformats.org/drawingml/2006/main">
            <a:srgbClr val="183B23"/>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6AE25D08-F9E0-4A42-8C0B-107BF2E17DAC}"/>
              </a:ext>
            </a:extLst>
          </p:cNvPr>
          <p:cNvSpPr>
            <a:spLocks xmlns:a="http://schemas.openxmlformats.org/drawingml/2006/main" noGrp="1"/>
          </p:cNvSpPr>
          <p:nvPr/>
        </p:nvSpPr>
        <p:spPr>
          <a:xfrm xmlns:a="http://schemas.openxmlformats.org/drawingml/2006/main">
            <a:off x="609600" y="781050"/>
            <a:ext cx="914400" cy="95250"/>
          </a:xfrm>
          <a:prstGeom xmlns:a="http://schemas.openxmlformats.org/drawingml/2006/main" prst="rect">
            <a:avLst/>
          </a:prstGeom>
          <a:solidFill xmlns:a="http://schemas.openxmlformats.org/drawingml/2006/main">
            <a:srgbClr val="E1A72C"/>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D7F7D1A7-06DE-4249-8EAC-F079E315FFEF}"/>
              </a:ext>
            </a:extLst>
          </p:cNvPr>
          <p:cNvSpPr>
            <a:spLocks xmlns:a="http://schemas.openxmlformats.org/drawingml/2006/main" noGrp="1"/>
          </p:cNvSpPr>
          <p:nvPr/>
        </p:nvSpPr>
        <p:spPr>
          <a:xfrm xmlns:a="http://schemas.openxmlformats.org/drawingml/2006/main">
            <a:off x="609600" y="1123950"/>
            <a:ext cx="342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1" i="0">
                <a:solidFill>
                  <a:srgbClr val="FFF4BA"/>
                </a:solidFill>
              </a:defRPr>
            </a:pPr>
            <a:r>
              <a:rPr sz="1350" b="1" i="0">
                <a:solidFill>
                  <a:srgbClr val="FFF4BA"/>
                </a:solidFill>
              </a:rPr>
              <a:t>MODULE 9</a:t>
            </a:r>
          </a:p>
        </p:txBody>
      </p:sp>
      <p:sp>
        <p:nvSpPr>
          <p:cNvPr id="5" name="">
            <a:extLst xmlns:a="http://schemas.openxmlformats.org/drawingml/2006/main">
              <a:ext uri="{FF2B5EF4-FFF2-40B4-BE49-F238E27FC236}">
                <a16:creationId xmlns:a16="http://schemas.microsoft.com/office/drawing/2014/main" id="{3AF6E298-17A5-44B1-900A-06FD031B57C3}"/>
              </a:ext>
            </a:extLst>
          </p:cNvPr>
          <p:cNvSpPr>
            <a:spLocks xmlns:a="http://schemas.openxmlformats.org/drawingml/2006/main" noGrp="1"/>
          </p:cNvSpPr>
          <p:nvPr/>
        </p:nvSpPr>
        <p:spPr>
          <a:xfrm xmlns:a="http://schemas.openxmlformats.org/drawingml/2006/main">
            <a:off x="609600" y="1695450"/>
            <a:ext cx="57150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4050" b="1" i="0">
                <a:solidFill>
                  <a:srgbClr val="FFFFFF"/>
                </a:solidFill>
              </a:defRPr>
            </a:pPr>
            <a:r>
              <a:rPr sz="4050" b="1" i="0">
                <a:solidFill>
                  <a:srgbClr val="FFFFFF"/>
                </a:solidFill>
              </a:rPr>
              <a:t>Grow, Measure and Improve</a:t>
            </a:r>
          </a:p>
        </p:txBody>
      </p:sp>
      <p:sp>
        <p:nvSpPr>
          <p:cNvPr id="6" name="">
            <a:extLst xmlns:a="http://schemas.openxmlformats.org/drawingml/2006/main">
              <a:ext uri="{FF2B5EF4-FFF2-40B4-BE49-F238E27FC236}">
                <a16:creationId xmlns:a16="http://schemas.microsoft.com/office/drawing/2014/main" id="{EDC50AAE-2E51-4C71-8D73-4E79210A3F09}"/>
              </a:ext>
            </a:extLst>
          </p:cNvPr>
          <p:cNvSpPr>
            <a:spLocks xmlns:a="http://schemas.openxmlformats.org/drawingml/2006/main" noGrp="1"/>
          </p:cNvSpPr>
          <p:nvPr/>
        </p:nvSpPr>
        <p:spPr>
          <a:xfrm xmlns:a="http://schemas.openxmlformats.org/drawingml/2006/main">
            <a:off x="609600" y="3486150"/>
            <a:ext cx="54292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EAF2E6"/>
                </a:solidFill>
              </a:defRPr>
            </a:pPr>
            <a:r>
              <a:rPr sz="1875" b="0" i="0">
                <a:solidFill>
                  <a:srgbClr val="EAF2E6"/>
                </a:solidFill>
              </a:rPr>
              <a:t>Turn field records into responsible production decisions</a:t>
            </a:r>
          </a:p>
        </p:txBody>
      </p:sp>
      <p:sp>
        <p:nvSpPr>
          <p:cNvPr id="7" name="">
            <a:extLst xmlns:a="http://schemas.openxmlformats.org/drawingml/2006/main">
              <a:ext uri="{FF2B5EF4-FFF2-40B4-BE49-F238E27FC236}">
                <a16:creationId xmlns:a16="http://schemas.microsoft.com/office/drawing/2014/main" id="{368EA459-E7AE-4F39-9D1C-DF7E943E8CA7}"/>
              </a:ext>
            </a:extLst>
          </p:cNvPr>
          <p:cNvSpPr>
            <a:spLocks xmlns:a="http://schemas.openxmlformats.org/drawingml/2006/main" noGrp="1"/>
          </p:cNvSpPr>
          <p:nvPr/>
        </p:nvSpPr>
        <p:spPr>
          <a:xfrm xmlns:a="http://schemas.openxmlformats.org/drawingml/2006/main">
            <a:off x="609600" y="5810250"/>
            <a:ext cx="4953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125" b="1" i="0">
                <a:solidFill>
                  <a:srgbClr val="C8D8C6"/>
                </a:solidFill>
              </a:defRPr>
            </a:pPr>
            <a:r>
              <a:rPr sz="1125" b="1" i="0">
                <a:solidFill>
                  <a:srgbClr val="C8D8C6"/>
                </a:solidFill>
              </a:rPr>
              <a:t>Teacher-led classroom presentation</a:t>
            </a:r>
          </a:p>
        </p:txBody>
      </p:sp>
    </p:spTree>
    <p:extLst>
      <p:ext uri="{BB962C8B-B14F-4D97-AF65-F5344CB8AC3E}">
        <p14:creationId xmlns:p14="http://schemas.microsoft.com/office/powerpoint/2010/main" val="698357166"/>
      </p:ext>
    </p:extLst>
  </p:cSld>
</p:sld>
</file>

<file path=ppt/slides/slide2.xml><?xml version="1.0" encoding="utf-8"?>
<p:sld xmlns:p="http://schemas.openxmlformats.org/presentationml/2006/main">
  <p:cSld>
    <p:bg>
      <p:bgPr>
        <a:solidFill xmlns:a="http://schemas.openxmlformats.org/drawingml/2006/main">
          <a:srgbClr val="FFFAF0"/>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CCDAE42B-8791-40E1-AFB6-AA3E2F4A0C3D}"/>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E1A72C"/>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12760016-413E-4CE5-AC60-EAB4A94D46B2}"/>
              </a:ext>
            </a:extLst>
          </p:cNvPr>
          <p:cNvSpPr>
            <a:spLocks xmlns:a="http://schemas.openxmlformats.org/drawingml/2006/main" noGrp="1"/>
          </p:cNvSpPr>
          <p:nvPr/>
        </p:nvSpPr>
        <p:spPr>
          <a:xfrm xmlns:a="http://schemas.openxmlformats.org/drawingml/2006/main">
            <a:off x="590550" y="285750"/>
            <a:ext cx="619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050" b="1" i="0">
                <a:solidFill>
                  <a:srgbClr val="B6402D"/>
                </a:solidFill>
              </a:defRPr>
            </a:pPr>
            <a:r>
              <a:rPr sz="1050" b="1" i="0">
                <a:solidFill>
                  <a:srgbClr val="B6402D"/>
                </a:solidFill>
              </a:rPr>
              <a:t>TODAY’S LEARNING PATH</a:t>
            </a:r>
          </a:p>
        </p:txBody>
      </p:sp>
      <p:sp>
        <p:nvSpPr>
          <p:cNvPr id="3" name="">
            <a:extLst xmlns:a="http://schemas.openxmlformats.org/drawingml/2006/main">
              <a:ext uri="{FF2B5EF4-FFF2-40B4-BE49-F238E27FC236}">
                <a16:creationId xmlns:a16="http://schemas.microsoft.com/office/drawing/2014/main" id="{40724AA9-57B7-460C-AAEE-5C72CB88D331}"/>
              </a:ext>
            </a:extLst>
          </p:cNvPr>
          <p:cNvSpPr>
            <a:spLocks xmlns:a="http://schemas.openxmlformats.org/drawingml/2006/main" noGrp="1"/>
          </p:cNvSpPr>
          <p:nvPr/>
        </p:nvSpPr>
        <p:spPr>
          <a:xfrm xmlns:a="http://schemas.openxmlformats.org/drawingml/2006/main">
            <a:off x="590550" y="6334125"/>
            <a:ext cx="904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75" b="1" i="0">
                <a:solidFill>
                  <a:srgbClr val="5F685F"/>
                </a:solidFill>
              </a:defRPr>
            </a:pPr>
            <a:r>
              <a:rPr sz="975" b="1" i="0">
                <a:solidFill>
                  <a:srgbClr val="5F685F"/>
                </a:solidFill>
              </a:rPr>
              <a:t>MODULE 9  •  GROW, MEASURE AND IMPROVE</a:t>
            </a:r>
          </a:p>
        </p:txBody>
      </p:sp>
      <p:sp>
        <p:nvSpPr>
          <p:cNvPr id="4" name="">
            <a:extLst xmlns:a="http://schemas.openxmlformats.org/drawingml/2006/main">
              <a:ext uri="{FF2B5EF4-FFF2-40B4-BE49-F238E27FC236}">
                <a16:creationId xmlns:a16="http://schemas.microsoft.com/office/drawing/2014/main" id="{DE6B313D-E173-4ED9-85EE-0B6F08D23A54}"/>
              </a:ext>
            </a:extLst>
          </p:cNvPr>
          <p:cNvSpPr>
            <a:spLocks xmlns:a="http://schemas.openxmlformats.org/drawingml/2006/main" noGrp="1"/>
          </p:cNvSpPr>
          <p:nvPr/>
        </p:nvSpPr>
        <p:spPr>
          <a:xfrm xmlns:a="http://schemas.openxmlformats.org/drawingml/2006/main">
            <a:off x="11049000" y="6334125"/>
            <a:ext cx="523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975" b="1" i="0">
                <a:solidFill>
                  <a:srgbClr val="B6402D"/>
                </a:solidFill>
              </a:defRPr>
            </a:pPr>
            <a:r>
              <a:rPr sz="975" b="1" i="0">
                <a:solidFill>
                  <a:srgbClr val="B6402D"/>
                </a:solidFill>
              </a:rPr>
              <a:t>02</a:t>
            </a:r>
          </a:p>
        </p:txBody>
      </p:sp>
      <p:sp>
        <p:nvSpPr>
          <p:cNvPr id="5" name="">
            <a:extLst xmlns:a="http://schemas.openxmlformats.org/drawingml/2006/main">
              <a:ext uri="{FF2B5EF4-FFF2-40B4-BE49-F238E27FC236}">
                <a16:creationId xmlns:a16="http://schemas.microsoft.com/office/drawing/2014/main" id="{B9B8B443-3BE7-462F-A27A-69E3EEB8C3FD}"/>
              </a:ext>
            </a:extLst>
          </p:cNvPr>
          <p:cNvSpPr>
            <a:spLocks xmlns:a="http://schemas.openxmlformats.org/drawingml/2006/main" noGrp="1"/>
          </p:cNvSpPr>
          <p:nvPr/>
        </p:nvSpPr>
        <p:spPr>
          <a:xfrm xmlns:a="http://schemas.openxmlformats.org/drawingml/2006/main">
            <a:off x="590550" y="800100"/>
            <a:ext cx="6381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183B23"/>
                </a:solidFill>
              </a:defRPr>
            </a:pPr>
            <a:r>
              <a:rPr sz="2850" b="1" i="0">
                <a:solidFill>
                  <a:srgbClr val="183B23"/>
                </a:solidFill>
              </a:rPr>
              <a:t>Where are we going?</a:t>
            </a:r>
          </a:p>
        </p:txBody>
      </p:sp>
      <p:sp>
        <p:nvSpPr>
          <p:cNvPr id="6" name="">
            <a:extLst xmlns:a="http://schemas.openxmlformats.org/drawingml/2006/main">
              <a:ext uri="{FF2B5EF4-FFF2-40B4-BE49-F238E27FC236}">
                <a16:creationId xmlns:a16="http://schemas.microsoft.com/office/drawing/2014/main" id="{EF7DF9DA-FAAD-437C-8867-2D30CC008B3D}"/>
              </a:ext>
            </a:extLst>
          </p:cNvPr>
          <p:cNvSpPr>
            <a:spLocks xmlns:a="http://schemas.openxmlformats.org/drawingml/2006/main" noGrp="1"/>
          </p:cNvSpPr>
          <p:nvPr/>
        </p:nvSpPr>
        <p:spPr>
          <a:xfrm xmlns:a="http://schemas.openxmlformats.org/drawingml/2006/main">
            <a:off x="590550" y="1809750"/>
            <a:ext cx="6858000" cy="895350"/>
          </a:xfrm>
          <a:prstGeom xmlns:a="http://schemas.openxmlformats.org/drawingml/2006/main" prst="roundRect">
            <a:avLst>
              <a:gd name="adj" fmla="val 12766"/>
            </a:avLst>
          </a:prstGeom>
          <a:solidFill xmlns:a="http://schemas.openxmlformats.org/drawingml/2006/main">
            <a:srgbClr val="FFFFFF"/>
          </a:solidFill>
          <a:ln xmlns:a="http://schemas.openxmlformats.org/drawingml/2006/main" w="9525">
            <a:solidFill>
              <a:srgbClr val="D9DDCF"/>
            </a:solidFill>
            <a:prstDash val="solid"/>
          </a:ln>
        </p:spPr>
      </p:sp>
      <p:sp>
        <p:nvSpPr>
          <p:cNvPr id="7" name="">
            <a:extLst xmlns:a="http://schemas.openxmlformats.org/drawingml/2006/main">
              <a:ext uri="{FF2B5EF4-FFF2-40B4-BE49-F238E27FC236}">
                <a16:creationId xmlns:a16="http://schemas.microsoft.com/office/drawing/2014/main" id="{AD93B6D4-A1D0-48C0-9F53-9A610866AC07}"/>
              </a:ext>
            </a:extLst>
          </p:cNvPr>
          <p:cNvSpPr>
            <a:spLocks xmlns:a="http://schemas.openxmlformats.org/drawingml/2006/main" noGrp="1"/>
          </p:cNvSpPr>
          <p:nvPr/>
        </p:nvSpPr>
        <p:spPr>
          <a:xfrm xmlns:a="http://schemas.openxmlformats.org/drawingml/2006/main">
            <a:off x="781050" y="2019300"/>
            <a:ext cx="476250" cy="476250"/>
          </a:xfrm>
          <a:prstGeom xmlns:a="http://schemas.openxmlformats.org/drawingml/2006/main" prst="ellipse">
            <a:avLst/>
          </a:prstGeom>
          <a:solidFill xmlns:a="http://schemas.openxmlformats.org/drawingml/2006/main">
            <a:srgbClr val="B6402D"/>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9DDFEE5B-928F-4E20-811F-43D33993BBFB}"/>
              </a:ext>
            </a:extLst>
          </p:cNvPr>
          <p:cNvSpPr>
            <a:spLocks xmlns:a="http://schemas.openxmlformats.org/drawingml/2006/main" noGrp="1"/>
          </p:cNvSpPr>
          <p:nvPr/>
        </p:nvSpPr>
        <p:spPr>
          <a:xfrm xmlns:a="http://schemas.openxmlformats.org/drawingml/2006/main">
            <a:off x="781050" y="2019300"/>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9" name="">
            <a:extLst xmlns:a="http://schemas.openxmlformats.org/drawingml/2006/main">
              <a:ext uri="{FF2B5EF4-FFF2-40B4-BE49-F238E27FC236}">
                <a16:creationId xmlns:a16="http://schemas.microsoft.com/office/drawing/2014/main" id="{0E714772-D4C4-4874-B25E-05478BA072CA}"/>
              </a:ext>
            </a:extLst>
          </p:cNvPr>
          <p:cNvSpPr>
            <a:spLocks xmlns:a="http://schemas.openxmlformats.org/drawingml/2006/main" noGrp="1"/>
          </p:cNvSpPr>
          <p:nvPr/>
        </p:nvSpPr>
        <p:spPr>
          <a:xfrm xmlns:a="http://schemas.openxmlformats.org/drawingml/2006/main">
            <a:off x="1466850" y="1971675"/>
            <a:ext cx="5524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83B23"/>
                </a:solidFill>
              </a:defRPr>
            </a:pPr>
            <a:r>
              <a:rPr sz="1875" b="1" i="0">
                <a:solidFill>
                  <a:srgbClr val="183B23"/>
                </a:solidFill>
              </a:rPr>
              <a:t>Build a useful data record</a:t>
            </a:r>
          </a:p>
        </p:txBody>
      </p:sp>
      <p:sp>
        <p:nvSpPr>
          <p:cNvPr id="10" name="">
            <a:extLst xmlns:a="http://schemas.openxmlformats.org/drawingml/2006/main">
              <a:ext uri="{FF2B5EF4-FFF2-40B4-BE49-F238E27FC236}">
                <a16:creationId xmlns:a16="http://schemas.microsoft.com/office/drawing/2014/main" id="{75B0337C-3640-4288-BEF4-AE34E07164AB}"/>
              </a:ext>
            </a:extLst>
          </p:cNvPr>
          <p:cNvSpPr>
            <a:spLocks xmlns:a="http://schemas.openxmlformats.org/drawingml/2006/main" noGrp="1"/>
          </p:cNvSpPr>
          <p:nvPr/>
        </p:nvSpPr>
        <p:spPr>
          <a:xfrm xmlns:a="http://schemas.openxmlformats.org/drawingml/2006/main">
            <a:off x="590550" y="3028950"/>
            <a:ext cx="6858000" cy="895350"/>
          </a:xfrm>
          <a:prstGeom xmlns:a="http://schemas.openxmlformats.org/drawingml/2006/main" prst="roundRect">
            <a:avLst>
              <a:gd name="adj" fmla="val 12766"/>
            </a:avLst>
          </a:prstGeom>
          <a:solidFill xmlns:a="http://schemas.openxmlformats.org/drawingml/2006/main">
            <a:srgbClr val="FFFFFF"/>
          </a:solidFill>
          <a:ln xmlns:a="http://schemas.openxmlformats.org/drawingml/2006/main" w="9525">
            <a:solidFill>
              <a:srgbClr val="D9DDCF"/>
            </a:solidFill>
            <a:prstDash val="solid"/>
          </a:ln>
        </p:spPr>
      </p:sp>
      <p:sp>
        <p:nvSpPr>
          <p:cNvPr id="11" name="">
            <a:extLst xmlns:a="http://schemas.openxmlformats.org/drawingml/2006/main">
              <a:ext uri="{FF2B5EF4-FFF2-40B4-BE49-F238E27FC236}">
                <a16:creationId xmlns:a16="http://schemas.microsoft.com/office/drawing/2014/main" id="{803A1B6D-A717-460E-9BCF-7D3DD1C5302E}"/>
              </a:ext>
            </a:extLst>
          </p:cNvPr>
          <p:cNvSpPr>
            <a:spLocks xmlns:a="http://schemas.openxmlformats.org/drawingml/2006/main" noGrp="1"/>
          </p:cNvSpPr>
          <p:nvPr/>
        </p:nvSpPr>
        <p:spPr>
          <a:xfrm xmlns:a="http://schemas.openxmlformats.org/drawingml/2006/main">
            <a:off x="781050" y="3238500"/>
            <a:ext cx="476250" cy="476250"/>
          </a:xfrm>
          <a:prstGeom xmlns:a="http://schemas.openxmlformats.org/drawingml/2006/main" prst="ellipse">
            <a:avLst/>
          </a:prstGeom>
          <a:solidFill xmlns:a="http://schemas.openxmlformats.org/drawingml/2006/main">
            <a:srgbClr val="E1A72C"/>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1869CC96-32C0-4F64-82A6-0D315978CAF2}"/>
              </a:ext>
            </a:extLst>
          </p:cNvPr>
          <p:cNvSpPr>
            <a:spLocks xmlns:a="http://schemas.openxmlformats.org/drawingml/2006/main" noGrp="1"/>
          </p:cNvSpPr>
          <p:nvPr/>
        </p:nvSpPr>
        <p:spPr>
          <a:xfrm xmlns:a="http://schemas.openxmlformats.org/drawingml/2006/main">
            <a:off x="781050" y="3238500"/>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183B23"/>
                </a:solidFill>
              </a:defRPr>
            </a:pPr>
            <a:r>
              <a:rPr sz="1500" b="1" i="0">
                <a:solidFill>
                  <a:srgbClr val="183B23"/>
                </a:solidFill>
              </a:rPr>
              <a:t>2</a:t>
            </a:r>
          </a:p>
        </p:txBody>
      </p:sp>
      <p:sp>
        <p:nvSpPr>
          <p:cNvPr id="13" name="">
            <a:extLst xmlns:a="http://schemas.openxmlformats.org/drawingml/2006/main">
              <a:ext uri="{FF2B5EF4-FFF2-40B4-BE49-F238E27FC236}">
                <a16:creationId xmlns:a16="http://schemas.microsoft.com/office/drawing/2014/main" id="{28541C6C-F4EE-4774-B477-F475ACBE1E17}"/>
              </a:ext>
            </a:extLst>
          </p:cNvPr>
          <p:cNvSpPr>
            <a:spLocks xmlns:a="http://schemas.openxmlformats.org/drawingml/2006/main" noGrp="1"/>
          </p:cNvSpPr>
          <p:nvPr/>
        </p:nvSpPr>
        <p:spPr>
          <a:xfrm xmlns:a="http://schemas.openxmlformats.org/drawingml/2006/main">
            <a:off x="1466850" y="3190875"/>
            <a:ext cx="5524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83B23"/>
                </a:solidFill>
              </a:defRPr>
            </a:pPr>
            <a:r>
              <a:rPr sz="1875" b="1" i="0">
                <a:solidFill>
                  <a:srgbClr val="183B23"/>
                </a:solidFill>
              </a:rPr>
              <a:t>Maintain, test and improve</a:t>
            </a:r>
          </a:p>
        </p:txBody>
      </p:sp>
      <p:sp>
        <p:nvSpPr>
          <p:cNvPr id="14" name="">
            <a:extLst xmlns:a="http://schemas.openxmlformats.org/drawingml/2006/main">
              <a:ext uri="{FF2B5EF4-FFF2-40B4-BE49-F238E27FC236}">
                <a16:creationId xmlns:a16="http://schemas.microsoft.com/office/drawing/2014/main" id="{9EBA2104-706D-4F73-9692-C271A2BBD9B1}"/>
              </a:ext>
            </a:extLst>
          </p:cNvPr>
          <p:cNvSpPr>
            <a:spLocks xmlns:a="http://schemas.openxmlformats.org/drawingml/2006/main" noGrp="1"/>
          </p:cNvSpPr>
          <p:nvPr/>
        </p:nvSpPr>
        <p:spPr>
          <a:xfrm xmlns:a="http://schemas.openxmlformats.org/drawingml/2006/main">
            <a:off x="590550" y="4248150"/>
            <a:ext cx="6858000" cy="895350"/>
          </a:xfrm>
          <a:prstGeom xmlns:a="http://schemas.openxmlformats.org/drawingml/2006/main" prst="roundRect">
            <a:avLst>
              <a:gd name="adj" fmla="val 12766"/>
            </a:avLst>
          </a:prstGeom>
          <a:solidFill xmlns:a="http://schemas.openxmlformats.org/drawingml/2006/main">
            <a:srgbClr val="FFFFFF"/>
          </a:solidFill>
          <a:ln xmlns:a="http://schemas.openxmlformats.org/drawingml/2006/main" w="9525">
            <a:solidFill>
              <a:srgbClr val="D9DDCF"/>
            </a:solidFill>
            <a:prstDash val="solid"/>
          </a:ln>
        </p:spPr>
      </p:sp>
      <p:sp>
        <p:nvSpPr>
          <p:cNvPr id="15" name="">
            <a:extLst xmlns:a="http://schemas.openxmlformats.org/drawingml/2006/main">
              <a:ext uri="{FF2B5EF4-FFF2-40B4-BE49-F238E27FC236}">
                <a16:creationId xmlns:a16="http://schemas.microsoft.com/office/drawing/2014/main" id="{2ED63A9C-21FC-429A-9648-0D8468CE1961}"/>
              </a:ext>
            </a:extLst>
          </p:cNvPr>
          <p:cNvSpPr>
            <a:spLocks xmlns:a="http://schemas.openxmlformats.org/drawingml/2006/main" noGrp="1"/>
          </p:cNvSpPr>
          <p:nvPr/>
        </p:nvSpPr>
        <p:spPr>
          <a:xfrm xmlns:a="http://schemas.openxmlformats.org/drawingml/2006/main">
            <a:off x="781050" y="4457700"/>
            <a:ext cx="476250" cy="476250"/>
          </a:xfrm>
          <a:prstGeom xmlns:a="http://schemas.openxmlformats.org/drawingml/2006/main" prst="ellipse">
            <a:avLst/>
          </a:prstGeom>
          <a:solidFill xmlns:a="http://schemas.openxmlformats.org/drawingml/2006/main">
            <a:srgbClr val="E1A72C"/>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8E557CF9-EEAA-4BF0-AD44-35EFFA77D855}"/>
              </a:ext>
            </a:extLst>
          </p:cNvPr>
          <p:cNvSpPr>
            <a:spLocks xmlns:a="http://schemas.openxmlformats.org/drawingml/2006/main" noGrp="1"/>
          </p:cNvSpPr>
          <p:nvPr/>
        </p:nvSpPr>
        <p:spPr>
          <a:xfrm xmlns:a="http://schemas.openxmlformats.org/drawingml/2006/main">
            <a:off x="781050" y="4457700"/>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183B23"/>
                </a:solidFill>
              </a:defRPr>
            </a:pPr>
            <a:r>
              <a:rPr sz="1500" b="1" i="0">
                <a:solidFill>
                  <a:srgbClr val="183B23"/>
                </a:solidFill>
              </a:rPr>
              <a:t>3</a:t>
            </a:r>
          </a:p>
        </p:txBody>
      </p:sp>
      <p:sp>
        <p:nvSpPr>
          <p:cNvPr id="17" name="">
            <a:extLst xmlns:a="http://schemas.openxmlformats.org/drawingml/2006/main">
              <a:ext uri="{FF2B5EF4-FFF2-40B4-BE49-F238E27FC236}">
                <a16:creationId xmlns:a16="http://schemas.microsoft.com/office/drawing/2014/main" id="{5680CF70-FC07-413D-BC4C-23189F210C44}"/>
              </a:ext>
            </a:extLst>
          </p:cNvPr>
          <p:cNvSpPr>
            <a:spLocks xmlns:a="http://schemas.openxmlformats.org/drawingml/2006/main" noGrp="1"/>
          </p:cNvSpPr>
          <p:nvPr/>
        </p:nvSpPr>
        <p:spPr>
          <a:xfrm xmlns:a="http://schemas.openxmlformats.org/drawingml/2006/main">
            <a:off x="1466850" y="4410075"/>
            <a:ext cx="5524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83B23"/>
                </a:solidFill>
              </a:defRPr>
            </a:pPr>
            <a:r>
              <a:rPr sz="1875" b="1" i="0">
                <a:solidFill>
                  <a:srgbClr val="183B23"/>
                </a:solidFill>
              </a:rPr>
              <a:t>Grow for community, waste less</a:t>
            </a:r>
          </a:p>
        </p:txBody>
      </p:sp>
      <p:sp>
        <p:nvSpPr>
          <p:cNvPr id="18" name="">
            <a:extLst xmlns:a="http://schemas.openxmlformats.org/drawingml/2006/main">
              <a:ext uri="{FF2B5EF4-FFF2-40B4-BE49-F238E27FC236}">
                <a16:creationId xmlns:a16="http://schemas.microsoft.com/office/drawing/2014/main" id="{F9511355-C70D-4E35-9999-864DD74F6C5E}"/>
              </a:ext>
            </a:extLst>
          </p:cNvPr>
          <p:cNvSpPr>
            <a:spLocks xmlns:a="http://schemas.openxmlformats.org/drawingml/2006/main" noGrp="1"/>
          </p:cNvSpPr>
          <p:nvPr/>
        </p:nvSpPr>
        <p:spPr>
          <a:xfrm xmlns:a="http://schemas.openxmlformats.org/drawingml/2006/main">
            <a:off x="7905750" y="1809750"/>
            <a:ext cx="3619500" cy="3333750"/>
          </a:xfrm>
          <a:prstGeom xmlns:a="http://schemas.openxmlformats.org/drawingml/2006/main" prst="roundRect">
            <a:avLst>
              <a:gd name="adj" fmla="val 3429"/>
            </a:avLst>
          </a:prstGeom>
          <a:solidFill xmlns:a="http://schemas.openxmlformats.org/drawingml/2006/main">
            <a:srgbClr val="183B23"/>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E82F9AC1-108E-4779-BA53-ABC5411A02D4}"/>
              </a:ext>
            </a:extLst>
          </p:cNvPr>
          <p:cNvSpPr>
            <a:spLocks xmlns:a="http://schemas.openxmlformats.org/drawingml/2006/main" noGrp="1"/>
          </p:cNvSpPr>
          <p:nvPr/>
        </p:nvSpPr>
        <p:spPr>
          <a:xfrm xmlns:a="http://schemas.openxmlformats.org/drawingml/2006/main">
            <a:off x="8239125" y="213360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125" b="1" i="0">
                <a:solidFill>
                  <a:srgbClr val="FFF4BA"/>
                </a:solidFill>
              </a:defRPr>
            </a:pPr>
            <a:r>
              <a:rPr sz="1125" b="1" i="0">
                <a:solidFill>
                  <a:srgbClr val="FFF4BA"/>
                </a:solidFill>
              </a:rPr>
              <a:t>RETRIEVAL WARM-UP</a:t>
            </a:r>
          </a:p>
        </p:txBody>
      </p:sp>
      <p:sp>
        <p:nvSpPr>
          <p:cNvPr id="20" name="">
            <a:extLst xmlns:a="http://schemas.openxmlformats.org/drawingml/2006/main">
              <a:ext uri="{FF2B5EF4-FFF2-40B4-BE49-F238E27FC236}">
                <a16:creationId xmlns:a16="http://schemas.microsoft.com/office/drawing/2014/main" id="{D79C3AA1-760F-42AB-86EA-D1C3B8F863D0}"/>
              </a:ext>
            </a:extLst>
          </p:cNvPr>
          <p:cNvSpPr>
            <a:spLocks xmlns:a="http://schemas.openxmlformats.org/drawingml/2006/main" noGrp="1"/>
          </p:cNvSpPr>
          <p:nvPr/>
        </p:nvSpPr>
        <p:spPr>
          <a:xfrm xmlns:a="http://schemas.openxmlformats.org/drawingml/2006/main">
            <a:off x="8239125" y="2619375"/>
            <a:ext cx="2857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100" b="1" i="0">
                <a:solidFill>
                  <a:srgbClr val="FFFFFF"/>
                </a:solidFill>
              </a:defRPr>
            </a:pPr>
            <a:r>
              <a:rPr sz="2100" b="1" i="0">
                <a:solidFill>
                  <a:srgbClr val="FFFFFF"/>
                </a:solidFill>
              </a:rPr>
              <a:t>What do you already know?</a:t>
            </a:r>
          </a:p>
        </p:txBody>
      </p:sp>
      <p:sp>
        <p:nvSpPr>
          <p:cNvPr id="21" name="">
            <a:extLst xmlns:a="http://schemas.openxmlformats.org/drawingml/2006/main">
              <a:ext uri="{FF2B5EF4-FFF2-40B4-BE49-F238E27FC236}">
                <a16:creationId xmlns:a16="http://schemas.microsoft.com/office/drawing/2014/main" id="{035B1890-CC37-4B79-A807-7CB4F17783BB}"/>
              </a:ext>
            </a:extLst>
          </p:cNvPr>
          <p:cNvSpPr>
            <a:spLocks xmlns:a="http://schemas.openxmlformats.org/drawingml/2006/main" noGrp="1"/>
          </p:cNvSpPr>
          <p:nvPr/>
        </p:nvSpPr>
        <p:spPr>
          <a:xfrm xmlns:a="http://schemas.openxmlformats.org/drawingml/2006/main">
            <a:off x="8239125" y="3429000"/>
            <a:ext cx="28575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0" i="0">
                <a:solidFill>
                  <a:srgbClr val="EAF2E6"/>
                </a:solidFill>
              </a:defRPr>
            </a:pPr>
            <a:r>
              <a:rPr sz="1500" b="0" i="0">
                <a:solidFill>
                  <a:srgbClr val="EAF2E6"/>
                </a:solidFill>
              </a:rPr>
              <a:t>1. Define one key word from the module.</a:t>
            </a:r>
          </a:p>
          <a:p xmlns:a="http://schemas.openxmlformats.org/drawingml/2006/main">
            <a:r>
              <a:t/>
            </a:r>
          </a:p>
          <a:p xmlns:a="http://schemas.openxmlformats.org/drawingml/2006/main">
            <a:pPr algn="l">
              <a:buNone/>
              <a:defRPr sz="1500" b="0" i="0">
                <a:solidFill>
                  <a:srgbClr val="EAF2E6"/>
                </a:solidFill>
              </a:defRPr>
            </a:pPr>
            <a:r>
              <a:rPr sz="1500" b="0" i="0">
                <a:solidFill>
                  <a:srgbClr val="EAF2E6"/>
                </a:solidFill>
              </a:rPr>
              <a:t>2. Predict one practical or design decision.</a:t>
            </a:r>
          </a:p>
          <a:p xmlns:a="http://schemas.openxmlformats.org/drawingml/2006/main">
            <a:r>
              <a:t/>
            </a:r>
          </a:p>
          <a:p xmlns:a="http://schemas.openxmlformats.org/drawingml/2006/main">
            <a:pPr algn="l">
              <a:buNone/>
              <a:defRPr sz="1500" b="0" i="0">
                <a:solidFill>
                  <a:srgbClr val="EAF2E6"/>
                </a:solidFill>
              </a:defRPr>
            </a:pPr>
            <a:r>
              <a:rPr sz="1500" b="0" i="0">
                <a:solidFill>
                  <a:srgbClr val="EAF2E6"/>
                </a:solidFill>
              </a:rPr>
              <a:t>3. Name one question you have.</a:t>
            </a:r>
          </a:p>
        </p:txBody>
      </p:sp>
    </p:spTree>
    <p:extLst>
      <p:ext uri="{BB962C8B-B14F-4D97-AF65-F5344CB8AC3E}">
        <p14:creationId xmlns:p14="http://schemas.microsoft.com/office/powerpoint/2010/main" val="590937058"/>
      </p:ext>
    </p:extLst>
  </p:cSld>
</p:sld>
</file>

<file path=ppt/slides/slide3.xml><?xml version="1.0" encoding="utf-8"?>
<p:sld xmlns:p="http://schemas.openxmlformats.org/presentationml/2006/main">
  <p:cSld>
    <p:bg>
      <p:bgPr>
        <a:solidFill xmlns:a="http://schemas.openxmlformats.org/drawingml/2006/main">
          <a:srgbClr val="FFFAF0"/>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696BC848-40AF-4EDF-A1E3-F9B6608634E2}"/>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E1A72C"/>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90A39A3-4182-490B-BB84-50933B4D0959}"/>
              </a:ext>
            </a:extLst>
          </p:cNvPr>
          <p:cNvSpPr>
            <a:spLocks xmlns:a="http://schemas.openxmlformats.org/drawingml/2006/main" noGrp="1"/>
          </p:cNvSpPr>
          <p:nvPr/>
        </p:nvSpPr>
        <p:spPr>
          <a:xfrm xmlns:a="http://schemas.openxmlformats.org/drawingml/2006/main">
            <a:off x="590550" y="285750"/>
            <a:ext cx="619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050" b="1" i="0">
                <a:solidFill>
                  <a:srgbClr val="B6402D"/>
                </a:solidFill>
              </a:defRPr>
            </a:pPr>
            <a:r>
              <a:rPr sz="1050" b="1" i="0">
                <a:solidFill>
                  <a:srgbClr val="B6402D"/>
                </a:solidFill>
              </a:rPr>
              <a:t>9.1 BUILD A USEFUL DATA RECORD</a:t>
            </a:r>
          </a:p>
        </p:txBody>
      </p:sp>
      <p:sp>
        <p:nvSpPr>
          <p:cNvPr id="3" name="">
            <a:extLst xmlns:a="http://schemas.openxmlformats.org/drawingml/2006/main">
              <a:ext uri="{FF2B5EF4-FFF2-40B4-BE49-F238E27FC236}">
                <a16:creationId xmlns:a16="http://schemas.microsoft.com/office/drawing/2014/main" id="{691739EE-091B-4752-80C0-8C18DE4F5D95}"/>
              </a:ext>
            </a:extLst>
          </p:cNvPr>
          <p:cNvSpPr>
            <a:spLocks xmlns:a="http://schemas.openxmlformats.org/drawingml/2006/main" noGrp="1"/>
          </p:cNvSpPr>
          <p:nvPr/>
        </p:nvSpPr>
        <p:spPr>
          <a:xfrm xmlns:a="http://schemas.openxmlformats.org/drawingml/2006/main">
            <a:off x="590550" y="6334125"/>
            <a:ext cx="904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75" b="1" i="0">
                <a:solidFill>
                  <a:srgbClr val="5F685F"/>
                </a:solidFill>
              </a:defRPr>
            </a:pPr>
            <a:r>
              <a:rPr sz="975" b="1" i="0">
                <a:solidFill>
                  <a:srgbClr val="5F685F"/>
                </a:solidFill>
              </a:rPr>
              <a:t>MODULE 9  •  GROW, MEASURE AND IMPROVE</a:t>
            </a:r>
          </a:p>
        </p:txBody>
      </p:sp>
      <p:sp>
        <p:nvSpPr>
          <p:cNvPr id="4" name="">
            <a:extLst xmlns:a="http://schemas.openxmlformats.org/drawingml/2006/main">
              <a:ext uri="{FF2B5EF4-FFF2-40B4-BE49-F238E27FC236}">
                <a16:creationId xmlns:a16="http://schemas.microsoft.com/office/drawing/2014/main" id="{A4640239-DE48-4600-A5B5-5B8E5A1F28F2}"/>
              </a:ext>
            </a:extLst>
          </p:cNvPr>
          <p:cNvSpPr>
            <a:spLocks xmlns:a="http://schemas.openxmlformats.org/drawingml/2006/main" noGrp="1"/>
          </p:cNvSpPr>
          <p:nvPr/>
        </p:nvSpPr>
        <p:spPr>
          <a:xfrm xmlns:a="http://schemas.openxmlformats.org/drawingml/2006/main">
            <a:off x="11049000" y="6334125"/>
            <a:ext cx="523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975" b="1" i="0">
                <a:solidFill>
                  <a:srgbClr val="B6402D"/>
                </a:solidFill>
              </a:defRPr>
            </a:pPr>
            <a:r>
              <a:rPr sz="975" b="1" i="0">
                <a:solidFill>
                  <a:srgbClr val="B6402D"/>
                </a:solidFill>
              </a:rPr>
              <a:t>03</a:t>
            </a:r>
          </a:p>
        </p:txBody>
      </p:sp>
      <p:sp>
        <p:nvSpPr>
          <p:cNvPr id="5" name="">
            <a:extLst xmlns:a="http://schemas.openxmlformats.org/drawingml/2006/main">
              <a:ext uri="{FF2B5EF4-FFF2-40B4-BE49-F238E27FC236}">
                <a16:creationId xmlns:a16="http://schemas.microsoft.com/office/drawing/2014/main" id="{A65057E5-20C4-43A7-84A3-7D0316AF4206}"/>
              </a:ext>
            </a:extLst>
          </p:cNvPr>
          <p:cNvSpPr>
            <a:spLocks xmlns:a="http://schemas.openxmlformats.org/drawingml/2006/main" noGrp="1"/>
          </p:cNvSpPr>
          <p:nvPr/>
        </p:nvSpPr>
        <p:spPr>
          <a:xfrm xmlns:a="http://schemas.openxmlformats.org/drawingml/2006/main">
            <a:off x="590550" y="800100"/>
            <a:ext cx="6572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183B23"/>
                </a:solidFill>
              </a:defRPr>
            </a:pPr>
            <a:r>
              <a:rPr sz="2850" b="1" i="0">
                <a:solidFill>
                  <a:srgbClr val="183B23"/>
                </a:solidFill>
              </a:rPr>
              <a:t>Build a useful data record</a:t>
            </a:r>
          </a:p>
        </p:txBody>
      </p:sp>
      <p:sp>
        <p:nvSpPr>
          <p:cNvPr id="6" name="">
            <a:extLst xmlns:a="http://schemas.openxmlformats.org/drawingml/2006/main">
              <a:ext uri="{FF2B5EF4-FFF2-40B4-BE49-F238E27FC236}">
                <a16:creationId xmlns:a16="http://schemas.microsoft.com/office/drawing/2014/main" id="{E09AFBBA-CA78-4CA7-882D-DEB00F653B13}"/>
              </a:ext>
            </a:extLst>
          </p:cNvPr>
          <p:cNvSpPr>
            <a:spLocks xmlns:a="http://schemas.openxmlformats.org/drawingml/2006/main" noGrp="1"/>
          </p:cNvSpPr>
          <p:nvPr/>
        </p:nvSpPr>
        <p:spPr>
          <a:xfrm xmlns:a="http://schemas.openxmlformats.org/drawingml/2006/main">
            <a:off x="590550" y="1524000"/>
            <a:ext cx="590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050" b="1" i="0">
                <a:solidFill>
                  <a:srgbClr val="B6402D"/>
                </a:solidFill>
              </a:defRPr>
            </a:pPr>
            <a:r>
              <a:rPr sz="1050" b="1" i="0">
                <a:solidFill>
                  <a:srgbClr val="B6402D"/>
                </a:solidFill>
              </a:rPr>
              <a:t>THREE IDEAS TO PUT ON THE BOARD</a:t>
            </a:r>
          </a:p>
        </p:txBody>
      </p:sp>
      <p:sp>
        <p:nvSpPr>
          <p:cNvPr id="7" name="">
            <a:extLst xmlns:a="http://schemas.openxmlformats.org/drawingml/2006/main">
              <a:ext uri="{FF2B5EF4-FFF2-40B4-BE49-F238E27FC236}">
                <a16:creationId xmlns:a16="http://schemas.microsoft.com/office/drawing/2014/main" id="{FBEBAAD1-4377-4F5F-9463-CD3085A77E5C}"/>
              </a:ext>
            </a:extLst>
          </p:cNvPr>
          <p:cNvSpPr>
            <a:spLocks xmlns:a="http://schemas.openxmlformats.org/drawingml/2006/main" noGrp="1"/>
          </p:cNvSpPr>
          <p:nvPr/>
        </p:nvSpPr>
        <p:spPr>
          <a:xfrm xmlns:a="http://schemas.openxmlformats.org/drawingml/2006/main">
            <a:off x="647700" y="2181225"/>
            <a:ext cx="209550" cy="209550"/>
          </a:xfrm>
          <a:prstGeom xmlns:a="http://schemas.openxmlformats.org/drawingml/2006/main" prst="ellipse">
            <a:avLst/>
          </a:prstGeom>
          <a:solidFill xmlns:a="http://schemas.openxmlformats.org/drawingml/2006/main">
            <a:srgbClr val="B6402D"/>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85F54432-A4C7-46F9-9132-EC54E46001A0}"/>
              </a:ext>
            </a:extLst>
          </p:cNvPr>
          <p:cNvSpPr>
            <a:spLocks xmlns:a="http://schemas.openxmlformats.org/drawingml/2006/main" noGrp="1"/>
          </p:cNvSpPr>
          <p:nvPr/>
        </p:nvSpPr>
        <p:spPr>
          <a:xfrm xmlns:a="http://schemas.openxmlformats.org/drawingml/2006/main">
            <a:off x="1009650" y="2095500"/>
            <a:ext cx="60198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725" b="0" i="0">
                <a:solidFill>
                  <a:srgbClr val="243024"/>
                </a:solidFill>
              </a:defRPr>
            </a:pPr>
            <a:r>
              <a:rPr sz="1725" b="0" i="0">
                <a:solidFill>
                  <a:srgbClr val="243024"/>
                </a:solidFill>
              </a:rPr>
              <a:t>A useful field record identifies variable, method, time, unit and system.</a:t>
            </a:r>
          </a:p>
        </p:txBody>
      </p:sp>
      <p:sp>
        <p:nvSpPr>
          <p:cNvPr id="9" name="">
            <a:extLst xmlns:a="http://schemas.openxmlformats.org/drawingml/2006/main">
              <a:ext uri="{FF2B5EF4-FFF2-40B4-BE49-F238E27FC236}">
                <a16:creationId xmlns:a16="http://schemas.microsoft.com/office/drawing/2014/main" id="{476D9A76-8129-4C04-AEA2-616B424A67E6}"/>
              </a:ext>
            </a:extLst>
          </p:cNvPr>
          <p:cNvSpPr>
            <a:spLocks xmlns:a="http://schemas.openxmlformats.org/drawingml/2006/main" noGrp="1"/>
          </p:cNvSpPr>
          <p:nvPr/>
        </p:nvSpPr>
        <p:spPr>
          <a:xfrm xmlns:a="http://schemas.openxmlformats.org/drawingml/2006/main">
            <a:off x="647700" y="2981325"/>
            <a:ext cx="209550" cy="209550"/>
          </a:xfrm>
          <a:prstGeom xmlns:a="http://schemas.openxmlformats.org/drawingml/2006/main" prst="ellipse">
            <a:avLst/>
          </a:prstGeom>
          <a:solidFill xmlns:a="http://schemas.openxmlformats.org/drawingml/2006/main">
            <a:srgbClr val="E1A72C"/>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822C7818-CFD5-4DE8-9C10-36229EDB13FD}"/>
              </a:ext>
            </a:extLst>
          </p:cNvPr>
          <p:cNvSpPr>
            <a:spLocks xmlns:a="http://schemas.openxmlformats.org/drawingml/2006/main" noGrp="1"/>
          </p:cNvSpPr>
          <p:nvPr/>
        </p:nvSpPr>
        <p:spPr>
          <a:xfrm xmlns:a="http://schemas.openxmlformats.org/drawingml/2006/main">
            <a:off x="1009650" y="2895600"/>
            <a:ext cx="60198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725" b="0" i="0">
                <a:solidFill>
                  <a:srgbClr val="243024"/>
                </a:solidFill>
              </a:defRPr>
            </a:pPr>
            <a:r>
              <a:rPr sz="1725" b="0" i="0">
                <a:solidFill>
                  <a:srgbClr val="243024"/>
                </a:solidFill>
              </a:rPr>
              <a:t>Graphs reveal patterns; they do not prove causes.</a:t>
            </a:r>
          </a:p>
        </p:txBody>
      </p:sp>
      <p:sp>
        <p:nvSpPr>
          <p:cNvPr id="11" name="">
            <a:extLst xmlns:a="http://schemas.openxmlformats.org/drawingml/2006/main">
              <a:ext uri="{FF2B5EF4-FFF2-40B4-BE49-F238E27FC236}">
                <a16:creationId xmlns:a16="http://schemas.microsoft.com/office/drawing/2014/main" id="{D029ACCA-B248-4B7D-B7AB-D4ACD64B0BE9}"/>
              </a:ext>
            </a:extLst>
          </p:cNvPr>
          <p:cNvSpPr>
            <a:spLocks xmlns:a="http://schemas.openxmlformats.org/drawingml/2006/main" noGrp="1"/>
          </p:cNvSpPr>
          <p:nvPr/>
        </p:nvSpPr>
        <p:spPr>
          <a:xfrm xmlns:a="http://schemas.openxmlformats.org/drawingml/2006/main">
            <a:off x="647700" y="3781425"/>
            <a:ext cx="209550" cy="209550"/>
          </a:xfrm>
          <a:prstGeom xmlns:a="http://schemas.openxmlformats.org/drawingml/2006/main" prst="ellipse">
            <a:avLst/>
          </a:prstGeom>
          <a:solidFill xmlns:a="http://schemas.openxmlformats.org/drawingml/2006/main">
            <a:srgbClr val="E1A72C"/>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1A21A4FF-2F68-4387-950C-8BE4D4F9DDC9}"/>
              </a:ext>
            </a:extLst>
          </p:cNvPr>
          <p:cNvSpPr>
            <a:spLocks xmlns:a="http://schemas.openxmlformats.org/drawingml/2006/main" noGrp="1"/>
          </p:cNvSpPr>
          <p:nvPr/>
        </p:nvSpPr>
        <p:spPr>
          <a:xfrm xmlns:a="http://schemas.openxmlformats.org/drawingml/2006/main">
            <a:off x="1009650" y="3695700"/>
            <a:ext cx="60198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725" b="0" i="0">
                <a:solidFill>
                  <a:srgbClr val="243024"/>
                </a:solidFill>
              </a:defRPr>
            </a:pPr>
            <a:r>
              <a:rPr sz="1725" b="0" i="0">
                <a:solidFill>
                  <a:srgbClr val="243024"/>
                </a:solidFill>
              </a:rPr>
              <a:t>Data supports decisions when interpreted in context.</a:t>
            </a:r>
          </a:p>
        </p:txBody>
      </p:sp>
      <p:pic>
        <p:nvPicPr>
          <p:cNvPr id="30" name="" descr="A student measures crop growth beside a blank field table, a simple line graph, a clock face and weather symbols."/>
          <p:cNvPicPr>
            <a:picLocks xmlns:a="http://schemas.openxmlformats.org/drawingml/2006/main" noChangeAspect="1"/>
          </p:cNvPicPr>
          <p:nvPr/>
        </p:nvPicPr>
        <p:blipFill>
          <a:blip xmlns:r="http://schemas.openxmlformats.org/officeDocument/2006/relationships" xmlns:a="http://schemas.openxmlformats.org/drawingml/2006/main" r:embed="Rcdc8b301d7b94381"/>
          <a:srcRect xmlns:a="http://schemas.openxmlformats.org/drawingml/2006/main" l="12500" t="0" r="12500" b="0"/>
          <a:stretch xmlns:a="http://schemas.openxmlformats.org/drawingml/2006/main">
            <a:fillRect l="0" t="0" r="0" b="0"/>
          </a:stretch>
        </p:blipFill>
        <p:spPr>
          <a:xfrm xmlns:a="http://schemas.openxmlformats.org/drawingml/2006/main">
            <a:off x="7667625" y="1238250"/>
            <a:ext cx="3857625" cy="3429000"/>
          </a:xfrm>
          <a:prstGeom xmlns:a="http://schemas.openxmlformats.org/drawingml/2006/main" prst="roundRect">
            <a:avLst/>
          </a:prstGeom>
        </p:spPr>
      </p:pic>
      <p:sp>
        <p:nvSpPr>
          <p:cNvPr id="14" name="">
            <a:extLst xmlns:a="http://schemas.openxmlformats.org/drawingml/2006/main">
              <a:ext uri="{FF2B5EF4-FFF2-40B4-BE49-F238E27FC236}">
                <a16:creationId xmlns:a16="http://schemas.microsoft.com/office/drawing/2014/main" id="{848EB283-0213-4A7C-8DA5-8E2A2729EAA4}"/>
              </a:ext>
            </a:extLst>
          </p:cNvPr>
          <p:cNvSpPr>
            <a:spLocks xmlns:a="http://schemas.openxmlformats.org/drawingml/2006/main" noGrp="1"/>
          </p:cNvSpPr>
          <p:nvPr/>
        </p:nvSpPr>
        <p:spPr>
          <a:xfrm xmlns:a="http://schemas.openxmlformats.org/drawingml/2006/main">
            <a:off x="7667625" y="4905375"/>
            <a:ext cx="3857625" cy="1000125"/>
          </a:xfrm>
          <a:prstGeom xmlns:a="http://schemas.openxmlformats.org/drawingml/2006/main" prst="roundRect">
            <a:avLst>
              <a:gd name="adj" fmla="val 11429"/>
            </a:avLst>
          </a:prstGeom>
          <a:solidFill xmlns:a="http://schemas.openxmlformats.org/drawingml/2006/main">
            <a:srgbClr val="E8EFE4"/>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65A6B75E-C558-4984-9AA9-866F0E95AE37}"/>
              </a:ext>
            </a:extLst>
          </p:cNvPr>
          <p:cNvSpPr>
            <a:spLocks xmlns:a="http://schemas.openxmlformats.org/drawingml/2006/main" noGrp="1"/>
          </p:cNvSpPr>
          <p:nvPr/>
        </p:nvSpPr>
        <p:spPr>
          <a:xfrm xmlns:a="http://schemas.openxmlformats.org/drawingml/2006/main">
            <a:off x="7905750" y="5048250"/>
            <a:ext cx="3381375"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1" i="0">
                <a:solidFill>
                  <a:srgbClr val="183B23"/>
                </a:solidFill>
              </a:defRPr>
            </a:pPr>
            <a:r>
              <a:rPr sz="1350" b="1" i="0">
                <a:solidFill>
                  <a:srgbClr val="183B23"/>
                </a:solidFill>
              </a:rPr>
              <a:t>ASK THE ROOM</a:t>
            </a:r>
          </a:p>
          <a:p xmlns:a="http://schemas.openxmlformats.org/drawingml/2006/main">
            <a:pPr algn="l">
              <a:buNone/>
              <a:defRPr sz="1350" b="1" i="0">
                <a:solidFill>
                  <a:srgbClr val="183B23"/>
                </a:solidFill>
              </a:defRPr>
            </a:pPr>
            <a:r>
              <a:rPr sz="1350" b="1" i="0">
                <a:solidFill>
                  <a:srgbClr val="183B23"/>
                </a:solidFill>
              </a:rPr>
              <a:t>How would you correct this idea? “If two values change together, the graph proves that one caused the other.”</a:t>
            </a:r>
          </a:p>
        </p:txBody>
      </p:sp>
    </p:spTree>
    <p:extLst>
      <p:ext uri="{BB962C8B-B14F-4D97-AF65-F5344CB8AC3E}">
        <p14:creationId xmlns:p14="http://schemas.microsoft.com/office/powerpoint/2010/main" val="978589025"/>
      </p:ext>
    </p:extLst>
  </p:cSld>
</p:sld>
</file>

<file path=ppt/slides/slide4.xml><?xml version="1.0" encoding="utf-8"?>
<p:sld xmlns:p="http://schemas.openxmlformats.org/presentationml/2006/main">
  <p:cSld>
    <p:bg>
      <p:bgPr>
        <a:solidFill xmlns:a="http://schemas.openxmlformats.org/drawingml/2006/main">
          <a:srgbClr val="FFFAF0"/>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09A7D3A0-2F31-458B-9051-9164170580E1}"/>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E1A72C"/>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AFCC68BD-7490-4F07-840A-40F56EC5CD2A}"/>
              </a:ext>
            </a:extLst>
          </p:cNvPr>
          <p:cNvSpPr>
            <a:spLocks xmlns:a="http://schemas.openxmlformats.org/drawingml/2006/main" noGrp="1"/>
          </p:cNvSpPr>
          <p:nvPr/>
        </p:nvSpPr>
        <p:spPr>
          <a:xfrm xmlns:a="http://schemas.openxmlformats.org/drawingml/2006/main">
            <a:off x="590550" y="285750"/>
            <a:ext cx="619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050" b="1" i="0">
                <a:solidFill>
                  <a:srgbClr val="B6402D"/>
                </a:solidFill>
              </a:defRPr>
            </a:pPr>
            <a:r>
              <a:rPr sz="1050" b="1" i="0">
                <a:solidFill>
                  <a:srgbClr val="B6402D"/>
                </a:solidFill>
              </a:rPr>
              <a:t>9.2 MAINTAIN, TEST AND IMPROVE</a:t>
            </a:r>
          </a:p>
        </p:txBody>
      </p:sp>
      <p:sp>
        <p:nvSpPr>
          <p:cNvPr id="3" name="">
            <a:extLst xmlns:a="http://schemas.openxmlformats.org/drawingml/2006/main">
              <a:ext uri="{FF2B5EF4-FFF2-40B4-BE49-F238E27FC236}">
                <a16:creationId xmlns:a16="http://schemas.microsoft.com/office/drawing/2014/main" id="{36CEDAF1-DAB7-49C5-B02D-E180AA676CF6}"/>
              </a:ext>
            </a:extLst>
          </p:cNvPr>
          <p:cNvSpPr>
            <a:spLocks xmlns:a="http://schemas.openxmlformats.org/drawingml/2006/main" noGrp="1"/>
          </p:cNvSpPr>
          <p:nvPr/>
        </p:nvSpPr>
        <p:spPr>
          <a:xfrm xmlns:a="http://schemas.openxmlformats.org/drawingml/2006/main">
            <a:off x="590550" y="6334125"/>
            <a:ext cx="904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75" b="1" i="0">
                <a:solidFill>
                  <a:srgbClr val="5F685F"/>
                </a:solidFill>
              </a:defRPr>
            </a:pPr>
            <a:r>
              <a:rPr sz="975" b="1" i="0">
                <a:solidFill>
                  <a:srgbClr val="5F685F"/>
                </a:solidFill>
              </a:rPr>
              <a:t>MODULE 9  •  GROW, MEASURE AND IMPROVE</a:t>
            </a:r>
          </a:p>
        </p:txBody>
      </p:sp>
      <p:sp>
        <p:nvSpPr>
          <p:cNvPr id="4" name="">
            <a:extLst xmlns:a="http://schemas.openxmlformats.org/drawingml/2006/main">
              <a:ext uri="{FF2B5EF4-FFF2-40B4-BE49-F238E27FC236}">
                <a16:creationId xmlns:a16="http://schemas.microsoft.com/office/drawing/2014/main" id="{518DD8F7-31B7-4239-A829-25871D1D38AA}"/>
              </a:ext>
            </a:extLst>
          </p:cNvPr>
          <p:cNvSpPr>
            <a:spLocks xmlns:a="http://schemas.openxmlformats.org/drawingml/2006/main" noGrp="1"/>
          </p:cNvSpPr>
          <p:nvPr/>
        </p:nvSpPr>
        <p:spPr>
          <a:xfrm xmlns:a="http://schemas.openxmlformats.org/drawingml/2006/main">
            <a:off x="11049000" y="6334125"/>
            <a:ext cx="523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975" b="1" i="0">
                <a:solidFill>
                  <a:srgbClr val="B6402D"/>
                </a:solidFill>
              </a:defRPr>
            </a:pPr>
            <a:r>
              <a:rPr sz="975" b="1" i="0">
                <a:solidFill>
                  <a:srgbClr val="B6402D"/>
                </a:solidFill>
              </a:rPr>
              <a:t>04</a:t>
            </a:r>
          </a:p>
        </p:txBody>
      </p:sp>
      <p:sp>
        <p:nvSpPr>
          <p:cNvPr id="5" name="">
            <a:extLst xmlns:a="http://schemas.openxmlformats.org/drawingml/2006/main">
              <a:ext uri="{FF2B5EF4-FFF2-40B4-BE49-F238E27FC236}">
                <a16:creationId xmlns:a16="http://schemas.microsoft.com/office/drawing/2014/main" id="{10B54210-AB8E-4BF0-96A1-81B44258C303}"/>
              </a:ext>
            </a:extLst>
          </p:cNvPr>
          <p:cNvSpPr>
            <a:spLocks xmlns:a="http://schemas.openxmlformats.org/drawingml/2006/main" noGrp="1"/>
          </p:cNvSpPr>
          <p:nvPr/>
        </p:nvSpPr>
        <p:spPr>
          <a:xfrm xmlns:a="http://schemas.openxmlformats.org/drawingml/2006/main">
            <a:off x="590550" y="800100"/>
            <a:ext cx="6572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183B23"/>
                </a:solidFill>
              </a:defRPr>
            </a:pPr>
            <a:r>
              <a:rPr sz="2850" b="1" i="0">
                <a:solidFill>
                  <a:srgbClr val="183B23"/>
                </a:solidFill>
              </a:rPr>
              <a:t>Maintain, test and improve</a:t>
            </a:r>
          </a:p>
        </p:txBody>
      </p:sp>
      <p:sp>
        <p:nvSpPr>
          <p:cNvPr id="6" name="">
            <a:extLst xmlns:a="http://schemas.openxmlformats.org/drawingml/2006/main">
              <a:ext uri="{FF2B5EF4-FFF2-40B4-BE49-F238E27FC236}">
                <a16:creationId xmlns:a16="http://schemas.microsoft.com/office/drawing/2014/main" id="{7460131B-7CC2-48F4-A117-6DBA5DFC0257}"/>
              </a:ext>
            </a:extLst>
          </p:cNvPr>
          <p:cNvSpPr>
            <a:spLocks xmlns:a="http://schemas.openxmlformats.org/drawingml/2006/main" noGrp="1"/>
          </p:cNvSpPr>
          <p:nvPr/>
        </p:nvSpPr>
        <p:spPr>
          <a:xfrm xmlns:a="http://schemas.openxmlformats.org/drawingml/2006/main">
            <a:off x="590550" y="1524000"/>
            <a:ext cx="590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050" b="1" i="0">
                <a:solidFill>
                  <a:srgbClr val="B6402D"/>
                </a:solidFill>
              </a:defRPr>
            </a:pPr>
            <a:r>
              <a:rPr sz="1050" b="1" i="0">
                <a:solidFill>
                  <a:srgbClr val="B6402D"/>
                </a:solidFill>
              </a:rPr>
              <a:t>THREE IDEAS TO PUT ON THE BOARD</a:t>
            </a:r>
          </a:p>
        </p:txBody>
      </p:sp>
      <p:sp>
        <p:nvSpPr>
          <p:cNvPr id="7" name="">
            <a:extLst xmlns:a="http://schemas.openxmlformats.org/drawingml/2006/main">
              <a:ext uri="{FF2B5EF4-FFF2-40B4-BE49-F238E27FC236}">
                <a16:creationId xmlns:a16="http://schemas.microsoft.com/office/drawing/2014/main" id="{99E03B20-DDC5-407F-99FB-DF620A425FBE}"/>
              </a:ext>
            </a:extLst>
          </p:cNvPr>
          <p:cNvSpPr>
            <a:spLocks xmlns:a="http://schemas.openxmlformats.org/drawingml/2006/main" noGrp="1"/>
          </p:cNvSpPr>
          <p:nvPr/>
        </p:nvSpPr>
        <p:spPr>
          <a:xfrm xmlns:a="http://schemas.openxmlformats.org/drawingml/2006/main">
            <a:off x="647700" y="2181225"/>
            <a:ext cx="209550" cy="209550"/>
          </a:xfrm>
          <a:prstGeom xmlns:a="http://schemas.openxmlformats.org/drawingml/2006/main" prst="ellipse">
            <a:avLst/>
          </a:prstGeom>
          <a:solidFill xmlns:a="http://schemas.openxmlformats.org/drawingml/2006/main">
            <a:srgbClr val="B6402D"/>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C357A500-AF2C-4754-B923-F8B625725C8F}"/>
              </a:ext>
            </a:extLst>
          </p:cNvPr>
          <p:cNvSpPr>
            <a:spLocks xmlns:a="http://schemas.openxmlformats.org/drawingml/2006/main" noGrp="1"/>
          </p:cNvSpPr>
          <p:nvPr/>
        </p:nvSpPr>
        <p:spPr>
          <a:xfrm xmlns:a="http://schemas.openxmlformats.org/drawingml/2006/main">
            <a:off x="1009650" y="2095500"/>
            <a:ext cx="60198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725" b="0" i="0">
                <a:solidFill>
                  <a:srgbClr val="243024"/>
                </a:solidFill>
              </a:defRPr>
            </a:pPr>
            <a:r>
              <a:rPr sz="1725" b="0" i="0">
                <a:solidFill>
                  <a:srgbClr val="243024"/>
                </a:solidFill>
              </a:rPr>
              <a:t>Maintenance is a recorded trigger–approved action–check cycle.</a:t>
            </a:r>
          </a:p>
        </p:txBody>
      </p:sp>
      <p:sp>
        <p:nvSpPr>
          <p:cNvPr id="9" name="">
            <a:extLst xmlns:a="http://schemas.openxmlformats.org/drawingml/2006/main">
              <a:ext uri="{FF2B5EF4-FFF2-40B4-BE49-F238E27FC236}">
                <a16:creationId xmlns:a16="http://schemas.microsoft.com/office/drawing/2014/main" id="{87DD5B3B-AAA8-4C7F-90CA-8C6DD2E16BDE}"/>
              </a:ext>
            </a:extLst>
          </p:cNvPr>
          <p:cNvSpPr>
            <a:spLocks xmlns:a="http://schemas.openxmlformats.org/drawingml/2006/main" noGrp="1"/>
          </p:cNvSpPr>
          <p:nvPr/>
        </p:nvSpPr>
        <p:spPr>
          <a:xfrm xmlns:a="http://schemas.openxmlformats.org/drawingml/2006/main">
            <a:off x="647700" y="2981325"/>
            <a:ext cx="209550" cy="209550"/>
          </a:xfrm>
          <a:prstGeom xmlns:a="http://schemas.openxmlformats.org/drawingml/2006/main" prst="ellipse">
            <a:avLst/>
          </a:prstGeom>
          <a:solidFill xmlns:a="http://schemas.openxmlformats.org/drawingml/2006/main">
            <a:srgbClr val="E1A72C"/>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F7ADD338-4CE1-4838-908B-D9445008877D}"/>
              </a:ext>
            </a:extLst>
          </p:cNvPr>
          <p:cNvSpPr>
            <a:spLocks xmlns:a="http://schemas.openxmlformats.org/drawingml/2006/main" noGrp="1"/>
          </p:cNvSpPr>
          <p:nvPr/>
        </p:nvSpPr>
        <p:spPr>
          <a:xfrm xmlns:a="http://schemas.openxmlformats.org/drawingml/2006/main">
            <a:off x="1009650" y="2895600"/>
            <a:ext cx="60198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725" b="0" i="0">
                <a:solidFill>
                  <a:srgbClr val="243024"/>
                </a:solidFill>
              </a:defRPr>
            </a:pPr>
            <a:r>
              <a:rPr sz="1725" b="0" i="0">
                <a:solidFill>
                  <a:srgbClr val="243024"/>
                </a:solidFill>
              </a:rPr>
              <a:t>Improvement changes one approved factor, re-tests consistently and treats every result as evidence rather than proof of universal success.</a:t>
            </a:r>
          </a:p>
        </p:txBody>
      </p:sp>
      <p:sp>
        <p:nvSpPr>
          <p:cNvPr id="11" name="">
            <a:extLst xmlns:a="http://schemas.openxmlformats.org/drawingml/2006/main">
              <a:ext uri="{FF2B5EF4-FFF2-40B4-BE49-F238E27FC236}">
                <a16:creationId xmlns:a16="http://schemas.microsoft.com/office/drawing/2014/main" id="{4F561237-606F-49FB-8461-23D905FC606F}"/>
              </a:ext>
            </a:extLst>
          </p:cNvPr>
          <p:cNvSpPr>
            <a:spLocks xmlns:a="http://schemas.openxmlformats.org/drawingml/2006/main" noGrp="1"/>
          </p:cNvSpPr>
          <p:nvPr/>
        </p:nvSpPr>
        <p:spPr>
          <a:xfrm xmlns:a="http://schemas.openxmlformats.org/drawingml/2006/main">
            <a:off x="647700" y="3781425"/>
            <a:ext cx="209550" cy="209550"/>
          </a:xfrm>
          <a:prstGeom xmlns:a="http://schemas.openxmlformats.org/drawingml/2006/main" prst="ellipse">
            <a:avLst/>
          </a:prstGeom>
          <a:solidFill xmlns:a="http://schemas.openxmlformats.org/drawingml/2006/main">
            <a:srgbClr val="E1A72C"/>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D96E578B-F350-4E83-8862-FB096CA398E9}"/>
              </a:ext>
            </a:extLst>
          </p:cNvPr>
          <p:cNvSpPr>
            <a:spLocks xmlns:a="http://schemas.openxmlformats.org/drawingml/2006/main" noGrp="1"/>
          </p:cNvSpPr>
          <p:nvPr/>
        </p:nvSpPr>
        <p:spPr>
          <a:xfrm xmlns:a="http://schemas.openxmlformats.org/drawingml/2006/main">
            <a:off x="1009650" y="3695700"/>
            <a:ext cx="60198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725" b="0" i="0">
                <a:solidFill>
                  <a:srgbClr val="243024"/>
                </a:solidFill>
              </a:defRPr>
            </a:pPr>
            <a:r>
              <a:rPr sz="1725" b="0" i="0">
                <a:solidFill>
                  <a:srgbClr val="243024"/>
                </a:solidFill>
              </a:rPr>
              <a:t>Frequent uncontrolled changes make evidence harder to interpret; improvement should respond to a pattern and be re-tested.</a:t>
            </a:r>
          </a:p>
        </p:txBody>
      </p:sp>
      <p:pic>
        <p:nvPicPr>
          <p:cNvPr id="30" name="" descr="Two students and a teacher compare a crop box with paired photographs and a maintenance record before considering one system adjustment."/>
          <p:cNvPicPr>
            <a:picLocks xmlns:a="http://schemas.openxmlformats.org/drawingml/2006/main" noChangeAspect="1"/>
          </p:cNvPicPr>
          <p:nvPr/>
        </p:nvPicPr>
        <p:blipFill>
          <a:blip xmlns:r="http://schemas.openxmlformats.org/officeDocument/2006/relationships" xmlns:a="http://schemas.openxmlformats.org/drawingml/2006/main" r:embed="Rc54c25e5654b43cc"/>
          <a:stretch xmlns:a="http://schemas.openxmlformats.org/drawingml/2006/main"/>
        </p:blipFill>
        <p:spPr>
          <a:xfrm xmlns:a="http://schemas.openxmlformats.org/drawingml/2006/main">
            <a:off x="7667625" y="1752600"/>
            <a:ext cx="3857625" cy="2400300"/>
          </a:xfrm>
          <a:prstGeom xmlns:a="http://schemas.openxmlformats.org/drawingml/2006/main" prst="roundRect">
            <a:avLst/>
          </a:prstGeom>
        </p:spPr>
      </p:pic>
      <p:sp>
        <p:nvSpPr>
          <p:cNvPr id="14" name="">
            <a:extLst xmlns:a="http://schemas.openxmlformats.org/drawingml/2006/main">
              <a:ext uri="{FF2B5EF4-FFF2-40B4-BE49-F238E27FC236}">
                <a16:creationId xmlns:a16="http://schemas.microsoft.com/office/drawing/2014/main" id="{476AFD2F-75D6-4864-B543-4CA3140CFC61}"/>
              </a:ext>
            </a:extLst>
          </p:cNvPr>
          <p:cNvSpPr>
            <a:spLocks xmlns:a="http://schemas.openxmlformats.org/drawingml/2006/main" noGrp="1"/>
          </p:cNvSpPr>
          <p:nvPr/>
        </p:nvSpPr>
        <p:spPr>
          <a:xfrm xmlns:a="http://schemas.openxmlformats.org/drawingml/2006/main">
            <a:off x="7667625" y="4905375"/>
            <a:ext cx="3857625" cy="1000125"/>
          </a:xfrm>
          <a:prstGeom xmlns:a="http://schemas.openxmlformats.org/drawingml/2006/main" prst="roundRect">
            <a:avLst>
              <a:gd name="adj" fmla="val 11429"/>
            </a:avLst>
          </a:prstGeom>
          <a:solidFill xmlns:a="http://schemas.openxmlformats.org/drawingml/2006/main">
            <a:srgbClr val="E8EFE4"/>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EB304CD4-4C39-45D4-AC1E-C7BB613BF9A7}"/>
              </a:ext>
            </a:extLst>
          </p:cNvPr>
          <p:cNvSpPr>
            <a:spLocks xmlns:a="http://schemas.openxmlformats.org/drawingml/2006/main" noGrp="1"/>
          </p:cNvSpPr>
          <p:nvPr/>
        </p:nvSpPr>
        <p:spPr>
          <a:xfrm xmlns:a="http://schemas.openxmlformats.org/drawingml/2006/main">
            <a:off x="7905750" y="5048250"/>
            <a:ext cx="3381375"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1" i="0">
                <a:solidFill>
                  <a:srgbClr val="183B23"/>
                </a:solidFill>
              </a:defRPr>
            </a:pPr>
            <a:r>
              <a:rPr sz="1350" b="1" i="0">
                <a:solidFill>
                  <a:srgbClr val="183B23"/>
                </a:solidFill>
              </a:rPr>
              <a:t>ASK THE ROOM</a:t>
            </a:r>
          </a:p>
          <a:p xmlns:a="http://schemas.openxmlformats.org/drawingml/2006/main">
            <a:pPr algn="l">
              <a:buNone/>
              <a:defRPr sz="1350" b="1" i="0">
                <a:solidFill>
                  <a:srgbClr val="183B23"/>
                </a:solidFill>
              </a:defRPr>
            </a:pPr>
            <a:r>
              <a:rPr sz="1350" b="1" i="0">
                <a:solidFill>
                  <a:srgbClr val="183B23"/>
                </a:solidFill>
              </a:rPr>
              <a:t>How would you correct this idea? “More frequent changes always improve a crop-production system.”</a:t>
            </a:r>
          </a:p>
        </p:txBody>
      </p:sp>
    </p:spTree>
    <p:extLst>
      <p:ext uri="{BB962C8B-B14F-4D97-AF65-F5344CB8AC3E}">
        <p14:creationId xmlns:p14="http://schemas.microsoft.com/office/powerpoint/2010/main" val="2051490501"/>
      </p:ext>
    </p:extLst>
  </p:cSld>
</p:sld>
</file>

<file path=ppt/slides/slide5.xml><?xml version="1.0" encoding="utf-8"?>
<p:sld xmlns:p="http://schemas.openxmlformats.org/presentationml/2006/main">
  <p:cSld>
    <p:bg>
      <p:bgPr>
        <a:solidFill xmlns:a="http://schemas.openxmlformats.org/drawingml/2006/main">
          <a:srgbClr val="FFFAF0"/>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17641D85-E866-4D68-931F-40A7A23D0EC5}"/>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E1A72C"/>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ADB9A1A8-28F5-4CCE-B3A7-E71ABE4649F8}"/>
              </a:ext>
            </a:extLst>
          </p:cNvPr>
          <p:cNvSpPr>
            <a:spLocks xmlns:a="http://schemas.openxmlformats.org/drawingml/2006/main" noGrp="1"/>
          </p:cNvSpPr>
          <p:nvPr/>
        </p:nvSpPr>
        <p:spPr>
          <a:xfrm xmlns:a="http://schemas.openxmlformats.org/drawingml/2006/main">
            <a:off x="590550" y="285750"/>
            <a:ext cx="619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050" b="1" i="0">
                <a:solidFill>
                  <a:srgbClr val="B6402D"/>
                </a:solidFill>
              </a:defRPr>
            </a:pPr>
            <a:r>
              <a:rPr sz="1050" b="1" i="0">
                <a:solidFill>
                  <a:srgbClr val="B6402D"/>
                </a:solidFill>
              </a:rPr>
              <a:t>9.3 GROW FOR COMMUNITY, WASTE LESS</a:t>
            </a:r>
          </a:p>
        </p:txBody>
      </p:sp>
      <p:sp>
        <p:nvSpPr>
          <p:cNvPr id="3" name="">
            <a:extLst xmlns:a="http://schemas.openxmlformats.org/drawingml/2006/main">
              <a:ext uri="{FF2B5EF4-FFF2-40B4-BE49-F238E27FC236}">
                <a16:creationId xmlns:a16="http://schemas.microsoft.com/office/drawing/2014/main" id="{E4BB2255-67D5-443D-A498-4C320E7049D0}"/>
              </a:ext>
            </a:extLst>
          </p:cNvPr>
          <p:cNvSpPr>
            <a:spLocks xmlns:a="http://schemas.openxmlformats.org/drawingml/2006/main" noGrp="1"/>
          </p:cNvSpPr>
          <p:nvPr/>
        </p:nvSpPr>
        <p:spPr>
          <a:xfrm xmlns:a="http://schemas.openxmlformats.org/drawingml/2006/main">
            <a:off x="590550" y="6334125"/>
            <a:ext cx="904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75" b="1" i="0">
                <a:solidFill>
                  <a:srgbClr val="5F685F"/>
                </a:solidFill>
              </a:defRPr>
            </a:pPr>
            <a:r>
              <a:rPr sz="975" b="1" i="0">
                <a:solidFill>
                  <a:srgbClr val="5F685F"/>
                </a:solidFill>
              </a:rPr>
              <a:t>MODULE 9  •  GROW, MEASURE AND IMPROVE</a:t>
            </a:r>
          </a:p>
        </p:txBody>
      </p:sp>
      <p:sp>
        <p:nvSpPr>
          <p:cNvPr id="4" name="">
            <a:extLst xmlns:a="http://schemas.openxmlformats.org/drawingml/2006/main">
              <a:ext uri="{FF2B5EF4-FFF2-40B4-BE49-F238E27FC236}">
                <a16:creationId xmlns:a16="http://schemas.microsoft.com/office/drawing/2014/main" id="{25746652-1227-4489-BBF3-8A68C5B3234A}"/>
              </a:ext>
            </a:extLst>
          </p:cNvPr>
          <p:cNvSpPr>
            <a:spLocks xmlns:a="http://schemas.openxmlformats.org/drawingml/2006/main" noGrp="1"/>
          </p:cNvSpPr>
          <p:nvPr/>
        </p:nvSpPr>
        <p:spPr>
          <a:xfrm xmlns:a="http://schemas.openxmlformats.org/drawingml/2006/main">
            <a:off x="11049000" y="6334125"/>
            <a:ext cx="523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975" b="1" i="0">
                <a:solidFill>
                  <a:srgbClr val="B6402D"/>
                </a:solidFill>
              </a:defRPr>
            </a:pPr>
            <a:r>
              <a:rPr sz="975" b="1" i="0">
                <a:solidFill>
                  <a:srgbClr val="B6402D"/>
                </a:solidFill>
              </a:rPr>
              <a:t>05</a:t>
            </a:r>
          </a:p>
        </p:txBody>
      </p:sp>
      <p:sp>
        <p:nvSpPr>
          <p:cNvPr id="5" name="">
            <a:extLst xmlns:a="http://schemas.openxmlformats.org/drawingml/2006/main">
              <a:ext uri="{FF2B5EF4-FFF2-40B4-BE49-F238E27FC236}">
                <a16:creationId xmlns:a16="http://schemas.microsoft.com/office/drawing/2014/main" id="{ABC3017E-35F3-4C99-BF6E-906A8E7E94B0}"/>
              </a:ext>
            </a:extLst>
          </p:cNvPr>
          <p:cNvSpPr>
            <a:spLocks xmlns:a="http://schemas.openxmlformats.org/drawingml/2006/main" noGrp="1"/>
          </p:cNvSpPr>
          <p:nvPr/>
        </p:nvSpPr>
        <p:spPr>
          <a:xfrm xmlns:a="http://schemas.openxmlformats.org/drawingml/2006/main">
            <a:off x="590550" y="800100"/>
            <a:ext cx="6572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183B23"/>
                </a:solidFill>
              </a:defRPr>
            </a:pPr>
            <a:r>
              <a:rPr sz="2850" b="1" i="0">
                <a:solidFill>
                  <a:srgbClr val="183B23"/>
                </a:solidFill>
              </a:rPr>
              <a:t>Grow for community, waste less</a:t>
            </a:r>
          </a:p>
        </p:txBody>
      </p:sp>
      <p:sp>
        <p:nvSpPr>
          <p:cNvPr id="6" name="">
            <a:extLst xmlns:a="http://schemas.openxmlformats.org/drawingml/2006/main">
              <a:ext uri="{FF2B5EF4-FFF2-40B4-BE49-F238E27FC236}">
                <a16:creationId xmlns:a16="http://schemas.microsoft.com/office/drawing/2014/main" id="{95EB3664-2A3D-4B94-92E5-ED80E5AC04EE}"/>
              </a:ext>
            </a:extLst>
          </p:cNvPr>
          <p:cNvSpPr>
            <a:spLocks xmlns:a="http://schemas.openxmlformats.org/drawingml/2006/main" noGrp="1"/>
          </p:cNvSpPr>
          <p:nvPr/>
        </p:nvSpPr>
        <p:spPr>
          <a:xfrm xmlns:a="http://schemas.openxmlformats.org/drawingml/2006/main">
            <a:off x="590550" y="1524000"/>
            <a:ext cx="590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050" b="1" i="0">
                <a:solidFill>
                  <a:srgbClr val="B6402D"/>
                </a:solidFill>
              </a:defRPr>
            </a:pPr>
            <a:r>
              <a:rPr sz="1050" b="1" i="0">
                <a:solidFill>
                  <a:srgbClr val="B6402D"/>
                </a:solidFill>
              </a:rPr>
              <a:t>THREE IDEAS TO PUT ON THE BOARD</a:t>
            </a:r>
          </a:p>
        </p:txBody>
      </p:sp>
      <p:sp>
        <p:nvSpPr>
          <p:cNvPr id="7" name="">
            <a:extLst xmlns:a="http://schemas.openxmlformats.org/drawingml/2006/main">
              <a:ext uri="{FF2B5EF4-FFF2-40B4-BE49-F238E27FC236}">
                <a16:creationId xmlns:a16="http://schemas.microsoft.com/office/drawing/2014/main" id="{CA7AD055-373E-4037-9228-970A3083A0CE}"/>
              </a:ext>
            </a:extLst>
          </p:cNvPr>
          <p:cNvSpPr>
            <a:spLocks xmlns:a="http://schemas.openxmlformats.org/drawingml/2006/main" noGrp="1"/>
          </p:cNvSpPr>
          <p:nvPr/>
        </p:nvSpPr>
        <p:spPr>
          <a:xfrm xmlns:a="http://schemas.openxmlformats.org/drawingml/2006/main">
            <a:off x="647700" y="2181225"/>
            <a:ext cx="209550" cy="209550"/>
          </a:xfrm>
          <a:prstGeom xmlns:a="http://schemas.openxmlformats.org/drawingml/2006/main" prst="ellipse">
            <a:avLst/>
          </a:prstGeom>
          <a:solidFill xmlns:a="http://schemas.openxmlformats.org/drawingml/2006/main">
            <a:srgbClr val="B6402D"/>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0EC6294F-C2E4-4FEA-96C7-22BB699855DB}"/>
              </a:ext>
            </a:extLst>
          </p:cNvPr>
          <p:cNvSpPr>
            <a:spLocks xmlns:a="http://schemas.openxmlformats.org/drawingml/2006/main" noGrp="1"/>
          </p:cNvSpPr>
          <p:nvPr/>
        </p:nvSpPr>
        <p:spPr>
          <a:xfrm xmlns:a="http://schemas.openxmlformats.org/drawingml/2006/main">
            <a:off x="1009650" y="2095500"/>
            <a:ext cx="60198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725" b="0" i="0">
                <a:solidFill>
                  <a:srgbClr val="243024"/>
                </a:solidFill>
              </a:defRPr>
            </a:pPr>
            <a:r>
              <a:rPr sz="1725" b="0" i="0">
                <a:solidFill>
                  <a:srgbClr val="243024"/>
                </a:solidFill>
              </a:rPr>
              <a:t>A community food initiative is a system of people, resources, production, learning and distribution.</a:t>
            </a:r>
          </a:p>
        </p:txBody>
      </p:sp>
      <p:sp>
        <p:nvSpPr>
          <p:cNvPr id="9" name="">
            <a:extLst xmlns:a="http://schemas.openxmlformats.org/drawingml/2006/main">
              <a:ext uri="{FF2B5EF4-FFF2-40B4-BE49-F238E27FC236}">
                <a16:creationId xmlns:a16="http://schemas.microsoft.com/office/drawing/2014/main" id="{72B73FE6-9BCD-41A6-B646-D114FF6F1393}"/>
              </a:ext>
            </a:extLst>
          </p:cNvPr>
          <p:cNvSpPr>
            <a:spLocks xmlns:a="http://schemas.openxmlformats.org/drawingml/2006/main" noGrp="1"/>
          </p:cNvSpPr>
          <p:nvPr/>
        </p:nvSpPr>
        <p:spPr>
          <a:xfrm xmlns:a="http://schemas.openxmlformats.org/drawingml/2006/main">
            <a:off x="647700" y="2981325"/>
            <a:ext cx="209550" cy="209550"/>
          </a:xfrm>
          <a:prstGeom xmlns:a="http://schemas.openxmlformats.org/drawingml/2006/main" prst="ellipse">
            <a:avLst/>
          </a:prstGeom>
          <a:solidFill xmlns:a="http://schemas.openxmlformats.org/drawingml/2006/main">
            <a:srgbClr val="E1A72C"/>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CD3A3F18-3163-49C7-A9BE-924992F9BB5D}"/>
              </a:ext>
            </a:extLst>
          </p:cNvPr>
          <p:cNvSpPr>
            <a:spLocks xmlns:a="http://schemas.openxmlformats.org/drawingml/2006/main" noGrp="1"/>
          </p:cNvSpPr>
          <p:nvPr/>
        </p:nvSpPr>
        <p:spPr>
          <a:xfrm xmlns:a="http://schemas.openxmlformats.org/drawingml/2006/main">
            <a:off x="1009650" y="2895600"/>
            <a:ext cx="60198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725" b="0" i="0">
                <a:solidFill>
                  <a:srgbClr val="243024"/>
                </a:solidFill>
              </a:defRPr>
            </a:pPr>
            <a:r>
              <a:rPr sz="1725" b="0" i="0">
                <a:solidFill>
                  <a:srgbClr val="243024"/>
                </a:solidFill>
              </a:rPr>
              <a:t>Sustainability depends on evidence, fair participation and approved waste pathways—not the label alone.</a:t>
            </a:r>
          </a:p>
        </p:txBody>
      </p:sp>
      <p:sp>
        <p:nvSpPr>
          <p:cNvPr id="11" name="">
            <a:extLst xmlns:a="http://schemas.openxmlformats.org/drawingml/2006/main">
              <a:ext uri="{FF2B5EF4-FFF2-40B4-BE49-F238E27FC236}">
                <a16:creationId xmlns:a16="http://schemas.microsoft.com/office/drawing/2014/main" id="{38B30C41-6077-46FC-A211-7008E1789D15}"/>
              </a:ext>
            </a:extLst>
          </p:cNvPr>
          <p:cNvSpPr>
            <a:spLocks xmlns:a="http://schemas.openxmlformats.org/drawingml/2006/main" noGrp="1"/>
          </p:cNvSpPr>
          <p:nvPr/>
        </p:nvSpPr>
        <p:spPr>
          <a:xfrm xmlns:a="http://schemas.openxmlformats.org/drawingml/2006/main">
            <a:off x="647700" y="3781425"/>
            <a:ext cx="209550" cy="209550"/>
          </a:xfrm>
          <a:prstGeom xmlns:a="http://schemas.openxmlformats.org/drawingml/2006/main" prst="ellipse">
            <a:avLst/>
          </a:prstGeom>
          <a:solidFill xmlns:a="http://schemas.openxmlformats.org/drawingml/2006/main">
            <a:srgbClr val="E1A72C"/>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92D77AD2-61E6-41DD-8BD3-6A3B86B90860}"/>
              </a:ext>
            </a:extLst>
          </p:cNvPr>
          <p:cNvSpPr>
            <a:spLocks xmlns:a="http://schemas.openxmlformats.org/drawingml/2006/main" noGrp="1"/>
          </p:cNvSpPr>
          <p:nvPr/>
        </p:nvSpPr>
        <p:spPr>
          <a:xfrm xmlns:a="http://schemas.openxmlformats.org/drawingml/2006/main">
            <a:off x="1009650" y="3695700"/>
            <a:ext cx="60198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725" b="0" i="0">
                <a:solidFill>
                  <a:srgbClr val="243024"/>
                </a:solidFill>
              </a:defRPr>
            </a:pPr>
            <a:r>
              <a:rPr sz="1725" b="0" i="0">
                <a:solidFill>
                  <a:srgbClr val="243024"/>
                </a:solidFill>
              </a:rPr>
              <a:t>Its resource use, access, workload, distribution, waste, controls and evidence must be examined.</a:t>
            </a:r>
          </a:p>
        </p:txBody>
      </p:sp>
      <p:pic>
        <p:nvPicPr>
          <p:cNvPr id="30" name="" descr="Students and community volunteers record crops, share observation and sort clean reusable materials beside several growing boxes."/>
          <p:cNvPicPr>
            <a:picLocks xmlns:a="http://schemas.openxmlformats.org/drawingml/2006/main" noChangeAspect="1"/>
          </p:cNvPicPr>
          <p:nvPr/>
        </p:nvPicPr>
        <p:blipFill>
          <a:blip xmlns:r="http://schemas.openxmlformats.org/officeDocument/2006/relationships" xmlns:a="http://schemas.openxmlformats.org/drawingml/2006/main" r:embed="R94d77dec251b4d7c"/>
          <a:srcRect xmlns:a="http://schemas.openxmlformats.org/drawingml/2006/main" l="12500" t="0" r="12500" b="0"/>
          <a:stretch xmlns:a="http://schemas.openxmlformats.org/drawingml/2006/main">
            <a:fillRect l="0" t="0" r="0" b="0"/>
          </a:stretch>
        </p:blipFill>
        <p:spPr>
          <a:xfrm xmlns:a="http://schemas.openxmlformats.org/drawingml/2006/main">
            <a:off x="7667625" y="1238250"/>
            <a:ext cx="3857625" cy="3429000"/>
          </a:xfrm>
          <a:prstGeom xmlns:a="http://schemas.openxmlformats.org/drawingml/2006/main" prst="roundRect">
            <a:avLst/>
          </a:prstGeom>
        </p:spPr>
      </p:pic>
      <p:sp>
        <p:nvSpPr>
          <p:cNvPr id="14" name="">
            <a:extLst xmlns:a="http://schemas.openxmlformats.org/drawingml/2006/main">
              <a:ext uri="{FF2B5EF4-FFF2-40B4-BE49-F238E27FC236}">
                <a16:creationId xmlns:a16="http://schemas.microsoft.com/office/drawing/2014/main" id="{87D3294D-DDB4-4876-A7DB-9E77B13FCBF5}"/>
              </a:ext>
            </a:extLst>
          </p:cNvPr>
          <p:cNvSpPr>
            <a:spLocks xmlns:a="http://schemas.openxmlformats.org/drawingml/2006/main" noGrp="1"/>
          </p:cNvSpPr>
          <p:nvPr/>
        </p:nvSpPr>
        <p:spPr>
          <a:xfrm xmlns:a="http://schemas.openxmlformats.org/drawingml/2006/main">
            <a:off x="7667625" y="4905375"/>
            <a:ext cx="3857625" cy="1000125"/>
          </a:xfrm>
          <a:prstGeom xmlns:a="http://schemas.openxmlformats.org/drawingml/2006/main" prst="roundRect">
            <a:avLst>
              <a:gd name="adj" fmla="val 11429"/>
            </a:avLst>
          </a:prstGeom>
          <a:solidFill xmlns:a="http://schemas.openxmlformats.org/drawingml/2006/main">
            <a:srgbClr val="E8EFE4"/>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0B986E4A-6FCC-4066-BCAB-E0284402A4A9}"/>
              </a:ext>
            </a:extLst>
          </p:cNvPr>
          <p:cNvSpPr>
            <a:spLocks xmlns:a="http://schemas.openxmlformats.org/drawingml/2006/main" noGrp="1"/>
          </p:cNvSpPr>
          <p:nvPr/>
        </p:nvSpPr>
        <p:spPr>
          <a:xfrm xmlns:a="http://schemas.openxmlformats.org/drawingml/2006/main">
            <a:off x="7905750" y="5048250"/>
            <a:ext cx="3381375"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1" i="0">
                <a:solidFill>
                  <a:srgbClr val="183B23"/>
                </a:solidFill>
              </a:defRPr>
            </a:pPr>
            <a:r>
              <a:rPr sz="1350" b="1" i="0">
                <a:solidFill>
                  <a:srgbClr val="183B23"/>
                </a:solidFill>
              </a:rPr>
              <a:t>ASK THE ROOM</a:t>
            </a:r>
          </a:p>
          <a:p xmlns:a="http://schemas.openxmlformats.org/drawingml/2006/main">
            <a:pPr algn="l">
              <a:buNone/>
              <a:defRPr sz="1350" b="1" i="0">
                <a:solidFill>
                  <a:srgbClr val="183B23"/>
                </a:solidFill>
              </a:defRPr>
            </a:pPr>
            <a:r>
              <a:rPr sz="1350" b="1" i="0">
                <a:solidFill>
                  <a:srgbClr val="183B23"/>
                </a:solidFill>
              </a:rPr>
              <a:t>How would you correct this idea? “If an initiative grows food for a community, it is automatically sustainable and fair.”</a:t>
            </a:r>
          </a:p>
        </p:txBody>
      </p:sp>
    </p:spTree>
    <p:extLst>
      <p:ext uri="{BB962C8B-B14F-4D97-AF65-F5344CB8AC3E}">
        <p14:creationId xmlns:p14="http://schemas.microsoft.com/office/powerpoint/2010/main" val="1658129732"/>
      </p:ext>
    </p:extLst>
  </p:cSld>
</p:sld>
</file>

<file path=ppt/slides/slide6.xml><?xml version="1.0" encoding="utf-8"?>
<p:sld xmlns:p="http://schemas.openxmlformats.org/presentationml/2006/main">
  <p:cSld>
    <p:bg>
      <p:bgPr>
        <a:solidFill xmlns:a="http://schemas.openxmlformats.org/drawingml/2006/main">
          <a:srgbClr val="183B23"/>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66CD21CD-C414-48E6-B047-4495C471723A}"/>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E1A72C"/>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6150EA9D-184B-42CE-B3D9-C78668D3EECA}"/>
              </a:ext>
            </a:extLst>
          </p:cNvPr>
          <p:cNvSpPr>
            <a:spLocks xmlns:a="http://schemas.openxmlformats.org/drawingml/2006/main" noGrp="1"/>
          </p:cNvSpPr>
          <p:nvPr/>
        </p:nvSpPr>
        <p:spPr>
          <a:xfrm xmlns:a="http://schemas.openxmlformats.org/drawingml/2006/main">
            <a:off x="590550" y="285750"/>
            <a:ext cx="619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050" b="1" i="0">
                <a:solidFill>
                  <a:srgbClr val="B6402D"/>
                </a:solidFill>
              </a:defRPr>
            </a:pPr>
            <a:r>
              <a:rPr sz="1050" b="1" i="0">
                <a:solidFill>
                  <a:srgbClr val="B6402D"/>
                </a:solidFill>
              </a:rPr>
              <a:t>CHECK FOR UNDERSTANDING</a:t>
            </a:r>
          </a:p>
        </p:txBody>
      </p:sp>
      <p:sp>
        <p:nvSpPr>
          <p:cNvPr id="3" name="">
            <a:extLst xmlns:a="http://schemas.openxmlformats.org/drawingml/2006/main">
              <a:ext uri="{FF2B5EF4-FFF2-40B4-BE49-F238E27FC236}">
                <a16:creationId xmlns:a16="http://schemas.microsoft.com/office/drawing/2014/main" id="{4C5B2ECA-22AF-471A-9F33-75E191CF0B5A}"/>
              </a:ext>
            </a:extLst>
          </p:cNvPr>
          <p:cNvSpPr>
            <a:spLocks xmlns:a="http://schemas.openxmlformats.org/drawingml/2006/main" noGrp="1"/>
          </p:cNvSpPr>
          <p:nvPr/>
        </p:nvSpPr>
        <p:spPr>
          <a:xfrm xmlns:a="http://schemas.openxmlformats.org/drawingml/2006/main">
            <a:off x="590550" y="6334125"/>
            <a:ext cx="904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75" b="1" i="0">
                <a:solidFill>
                  <a:srgbClr val="5F685F"/>
                </a:solidFill>
              </a:defRPr>
            </a:pPr>
            <a:r>
              <a:rPr sz="975" b="1" i="0">
                <a:solidFill>
                  <a:srgbClr val="5F685F"/>
                </a:solidFill>
              </a:rPr>
              <a:t>MODULE 9  •  GROW, MEASURE AND IMPROVE</a:t>
            </a:r>
          </a:p>
        </p:txBody>
      </p:sp>
      <p:sp>
        <p:nvSpPr>
          <p:cNvPr id="4" name="">
            <a:extLst xmlns:a="http://schemas.openxmlformats.org/drawingml/2006/main">
              <a:ext uri="{FF2B5EF4-FFF2-40B4-BE49-F238E27FC236}">
                <a16:creationId xmlns:a16="http://schemas.microsoft.com/office/drawing/2014/main" id="{95758344-9ACF-4452-9E79-34E39BF057FA}"/>
              </a:ext>
            </a:extLst>
          </p:cNvPr>
          <p:cNvSpPr>
            <a:spLocks xmlns:a="http://schemas.openxmlformats.org/drawingml/2006/main" noGrp="1"/>
          </p:cNvSpPr>
          <p:nvPr/>
        </p:nvSpPr>
        <p:spPr>
          <a:xfrm xmlns:a="http://schemas.openxmlformats.org/drawingml/2006/main">
            <a:off x="11049000" y="6334125"/>
            <a:ext cx="523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975" b="1" i="0">
                <a:solidFill>
                  <a:srgbClr val="B6402D"/>
                </a:solidFill>
              </a:defRPr>
            </a:pPr>
            <a:r>
              <a:rPr sz="975" b="1" i="0">
                <a:solidFill>
                  <a:srgbClr val="B6402D"/>
                </a:solidFill>
              </a:rPr>
              <a:t>06</a:t>
            </a:r>
          </a:p>
        </p:txBody>
      </p:sp>
      <p:sp>
        <p:nvSpPr>
          <p:cNvPr id="5" name="">
            <a:extLst xmlns:a="http://schemas.openxmlformats.org/drawingml/2006/main">
              <a:ext uri="{FF2B5EF4-FFF2-40B4-BE49-F238E27FC236}">
                <a16:creationId xmlns:a16="http://schemas.microsoft.com/office/drawing/2014/main" id="{28B696D9-14BE-4644-A002-8AF01E235C91}"/>
              </a:ext>
            </a:extLst>
          </p:cNvPr>
          <p:cNvSpPr>
            <a:spLocks xmlns:a="http://schemas.openxmlformats.org/drawingml/2006/main" noGrp="1"/>
          </p:cNvSpPr>
          <p:nvPr/>
        </p:nvSpPr>
        <p:spPr>
          <a:xfrm xmlns:a="http://schemas.openxmlformats.org/drawingml/2006/main">
            <a:off x="590550" y="781050"/>
            <a:ext cx="6858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3000" b="1" i="0">
                <a:solidFill>
                  <a:srgbClr val="FFFFFF"/>
                </a:solidFill>
              </a:defRPr>
            </a:pPr>
            <a:r>
              <a:rPr sz="3000" b="1" i="0">
                <a:solidFill>
                  <a:srgbClr val="FFFFFF"/>
                </a:solidFill>
              </a:rPr>
              <a:t>Stop. Think. Explain.</a:t>
            </a:r>
          </a:p>
        </p:txBody>
      </p:sp>
      <p:sp>
        <p:nvSpPr>
          <p:cNvPr id="6" name="">
            <a:extLst xmlns:a="http://schemas.openxmlformats.org/drawingml/2006/main">
              <a:ext uri="{FF2B5EF4-FFF2-40B4-BE49-F238E27FC236}">
                <a16:creationId xmlns:a16="http://schemas.microsoft.com/office/drawing/2014/main" id="{69C246FB-3C59-4141-83A8-133E637D2CE0}"/>
              </a:ext>
            </a:extLst>
          </p:cNvPr>
          <p:cNvSpPr>
            <a:spLocks xmlns:a="http://schemas.openxmlformats.org/drawingml/2006/main" noGrp="1"/>
          </p:cNvSpPr>
          <p:nvPr/>
        </p:nvSpPr>
        <p:spPr>
          <a:xfrm xmlns:a="http://schemas.openxmlformats.org/drawingml/2006/main">
            <a:off x="590550" y="1466850"/>
            <a:ext cx="723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0" i="0">
                <a:solidFill>
                  <a:srgbClr val="DDE9DB"/>
                </a:solidFill>
              </a:defRPr>
            </a:pPr>
            <a:r>
              <a:rPr sz="1500" b="0" i="0">
                <a:solidFill>
                  <a:srgbClr val="DDE9DB"/>
                </a:solidFill>
              </a:rPr>
              <a:t>Answer silently first, then justify with a partner.</a:t>
            </a:r>
          </a:p>
        </p:txBody>
      </p:sp>
      <p:sp>
        <p:nvSpPr>
          <p:cNvPr id="7" name="">
            <a:extLst xmlns:a="http://schemas.openxmlformats.org/drawingml/2006/main">
              <a:ext uri="{FF2B5EF4-FFF2-40B4-BE49-F238E27FC236}">
                <a16:creationId xmlns:a16="http://schemas.microsoft.com/office/drawing/2014/main" id="{254BEC0E-25EA-409A-8D5E-EC8429C625C3}"/>
              </a:ext>
            </a:extLst>
          </p:cNvPr>
          <p:cNvSpPr>
            <a:spLocks xmlns:a="http://schemas.openxmlformats.org/drawingml/2006/main" noGrp="1"/>
          </p:cNvSpPr>
          <p:nvPr/>
        </p:nvSpPr>
        <p:spPr>
          <a:xfrm xmlns:a="http://schemas.openxmlformats.org/drawingml/2006/main">
            <a:off x="590550" y="2190750"/>
            <a:ext cx="10953750" cy="952500"/>
          </a:xfrm>
          <a:prstGeom xmlns:a="http://schemas.openxmlformats.org/drawingml/2006/main" prst="roundRect">
            <a:avLst>
              <a:gd name="adj" fmla="val 12000"/>
            </a:avLst>
          </a:prstGeom>
          <a:solidFill xmlns:a="http://schemas.openxmlformats.org/drawingml/2006/main">
            <a:srgbClr val="234128"/>
          </a:solidFill>
          <a:ln xmlns:a="http://schemas.openxmlformats.org/drawingml/2006/main" w="9525">
            <a:solidFill>
              <a:srgbClr val="4D7254"/>
            </a:solidFill>
            <a:prstDash val="solid"/>
          </a:ln>
        </p:spPr>
      </p:sp>
      <p:sp>
        <p:nvSpPr>
          <p:cNvPr id="8" name="">
            <a:extLst xmlns:a="http://schemas.openxmlformats.org/drawingml/2006/main">
              <a:ext uri="{FF2B5EF4-FFF2-40B4-BE49-F238E27FC236}">
                <a16:creationId xmlns:a16="http://schemas.microsoft.com/office/drawing/2014/main" id="{28557DE3-5EC9-459B-B176-C7A348D62849}"/>
              </a:ext>
            </a:extLst>
          </p:cNvPr>
          <p:cNvSpPr>
            <a:spLocks xmlns:a="http://schemas.openxmlformats.org/drawingml/2006/main" noGrp="1"/>
          </p:cNvSpPr>
          <p:nvPr/>
        </p:nvSpPr>
        <p:spPr>
          <a:xfrm xmlns:a="http://schemas.openxmlformats.org/drawingml/2006/main">
            <a:off x="819150" y="2409825"/>
            <a:ext cx="438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FFF4BA"/>
                </a:solidFill>
              </a:defRPr>
            </a:pPr>
            <a:r>
              <a:rPr sz="1800" b="1" i="0">
                <a:solidFill>
                  <a:srgbClr val="FFF4BA"/>
                </a:solidFill>
              </a:rPr>
              <a:t>1</a:t>
            </a:r>
          </a:p>
        </p:txBody>
      </p:sp>
      <p:sp>
        <p:nvSpPr>
          <p:cNvPr id="9" name="">
            <a:extLst xmlns:a="http://schemas.openxmlformats.org/drawingml/2006/main">
              <a:ext uri="{FF2B5EF4-FFF2-40B4-BE49-F238E27FC236}">
                <a16:creationId xmlns:a16="http://schemas.microsoft.com/office/drawing/2014/main" id="{0F8D7CDE-DD55-40E6-AC83-B66FE05430C1}"/>
              </a:ext>
            </a:extLst>
          </p:cNvPr>
          <p:cNvSpPr>
            <a:spLocks xmlns:a="http://schemas.openxmlformats.org/drawingml/2006/main" noGrp="1"/>
          </p:cNvSpPr>
          <p:nvPr/>
        </p:nvSpPr>
        <p:spPr>
          <a:xfrm xmlns:a="http://schemas.openxmlformats.org/drawingml/2006/main">
            <a:off x="1428750" y="2324100"/>
            <a:ext cx="9620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725" b="1" i="0">
                <a:solidFill>
                  <a:srgbClr val="FFFFFF"/>
                </a:solidFill>
              </a:defRPr>
            </a:pPr>
            <a:r>
              <a:rPr sz="1725" b="1" i="0">
                <a:solidFill>
                  <a:srgbClr val="FFFFFF"/>
                </a:solidFill>
              </a:rPr>
              <a:t>Which set makes a field-data value interpretable?</a:t>
            </a:r>
          </a:p>
        </p:txBody>
      </p:sp>
      <p:sp>
        <p:nvSpPr>
          <p:cNvPr id="10" name="">
            <a:extLst xmlns:a="http://schemas.openxmlformats.org/drawingml/2006/main">
              <a:ext uri="{FF2B5EF4-FFF2-40B4-BE49-F238E27FC236}">
                <a16:creationId xmlns:a16="http://schemas.microsoft.com/office/drawing/2014/main" id="{FF2C8873-E8A3-4425-AD19-AF754C78362E}"/>
              </a:ext>
            </a:extLst>
          </p:cNvPr>
          <p:cNvSpPr>
            <a:spLocks xmlns:a="http://schemas.openxmlformats.org/drawingml/2006/main" noGrp="1"/>
          </p:cNvSpPr>
          <p:nvPr/>
        </p:nvSpPr>
        <p:spPr>
          <a:xfrm xmlns:a="http://schemas.openxmlformats.org/drawingml/2006/main">
            <a:off x="590550" y="3429000"/>
            <a:ext cx="10953750" cy="952500"/>
          </a:xfrm>
          <a:prstGeom xmlns:a="http://schemas.openxmlformats.org/drawingml/2006/main" prst="roundRect">
            <a:avLst>
              <a:gd name="adj" fmla="val 12000"/>
            </a:avLst>
          </a:prstGeom>
          <a:solidFill xmlns:a="http://schemas.openxmlformats.org/drawingml/2006/main">
            <a:srgbClr val="284B30"/>
          </a:solidFill>
          <a:ln xmlns:a="http://schemas.openxmlformats.org/drawingml/2006/main" w="9525">
            <a:solidFill>
              <a:srgbClr val="4D7254"/>
            </a:solidFill>
            <a:prstDash val="solid"/>
          </a:ln>
        </p:spPr>
      </p:sp>
      <p:sp>
        <p:nvSpPr>
          <p:cNvPr id="11" name="">
            <a:extLst xmlns:a="http://schemas.openxmlformats.org/drawingml/2006/main">
              <a:ext uri="{FF2B5EF4-FFF2-40B4-BE49-F238E27FC236}">
                <a16:creationId xmlns:a16="http://schemas.microsoft.com/office/drawing/2014/main" id="{AB675479-A591-49EF-92FA-78126AD1C1F6}"/>
              </a:ext>
            </a:extLst>
          </p:cNvPr>
          <p:cNvSpPr>
            <a:spLocks xmlns:a="http://schemas.openxmlformats.org/drawingml/2006/main" noGrp="1"/>
          </p:cNvSpPr>
          <p:nvPr/>
        </p:nvSpPr>
        <p:spPr>
          <a:xfrm xmlns:a="http://schemas.openxmlformats.org/drawingml/2006/main">
            <a:off x="819150" y="3648075"/>
            <a:ext cx="438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FFF4BA"/>
                </a:solidFill>
              </a:defRPr>
            </a:pPr>
            <a:r>
              <a:rPr sz="1800" b="1" i="0">
                <a:solidFill>
                  <a:srgbClr val="FFF4BA"/>
                </a:solidFill>
              </a:rPr>
              <a:t>2</a:t>
            </a:r>
          </a:p>
        </p:txBody>
      </p:sp>
      <p:sp>
        <p:nvSpPr>
          <p:cNvPr id="12" name="">
            <a:extLst xmlns:a="http://schemas.openxmlformats.org/drawingml/2006/main">
              <a:ext uri="{FF2B5EF4-FFF2-40B4-BE49-F238E27FC236}">
                <a16:creationId xmlns:a16="http://schemas.microsoft.com/office/drawing/2014/main" id="{7D56665B-7079-40E6-A89F-93F2D3074A9E}"/>
              </a:ext>
            </a:extLst>
          </p:cNvPr>
          <p:cNvSpPr>
            <a:spLocks xmlns:a="http://schemas.openxmlformats.org/drawingml/2006/main" noGrp="1"/>
          </p:cNvSpPr>
          <p:nvPr/>
        </p:nvSpPr>
        <p:spPr>
          <a:xfrm xmlns:a="http://schemas.openxmlformats.org/drawingml/2006/main">
            <a:off x="1428750" y="3562350"/>
            <a:ext cx="9620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725" b="1" i="0">
                <a:solidFill>
                  <a:srgbClr val="FFFFFF"/>
                </a:solidFill>
              </a:defRPr>
            </a:pPr>
            <a:r>
              <a:rPr sz="1725" b="1" i="0">
                <a:solidFill>
                  <a:srgbClr val="FFFFFF"/>
                </a:solidFill>
              </a:rPr>
              <a:t>What is the purpose of maintenance?</a:t>
            </a:r>
          </a:p>
        </p:txBody>
      </p:sp>
      <p:sp>
        <p:nvSpPr>
          <p:cNvPr id="13" name="">
            <a:extLst xmlns:a="http://schemas.openxmlformats.org/drawingml/2006/main">
              <a:ext uri="{FF2B5EF4-FFF2-40B4-BE49-F238E27FC236}">
                <a16:creationId xmlns:a16="http://schemas.microsoft.com/office/drawing/2014/main" id="{C314E154-81F0-43A3-8710-FB0AB3FE7AEC}"/>
              </a:ext>
            </a:extLst>
          </p:cNvPr>
          <p:cNvSpPr>
            <a:spLocks xmlns:a="http://schemas.openxmlformats.org/drawingml/2006/main" noGrp="1"/>
          </p:cNvSpPr>
          <p:nvPr/>
        </p:nvSpPr>
        <p:spPr>
          <a:xfrm xmlns:a="http://schemas.openxmlformats.org/drawingml/2006/main">
            <a:off x="590550" y="4667250"/>
            <a:ext cx="10953750" cy="952500"/>
          </a:xfrm>
          <a:prstGeom xmlns:a="http://schemas.openxmlformats.org/drawingml/2006/main" prst="roundRect">
            <a:avLst>
              <a:gd name="adj" fmla="val 12000"/>
            </a:avLst>
          </a:prstGeom>
          <a:solidFill xmlns:a="http://schemas.openxmlformats.org/drawingml/2006/main">
            <a:srgbClr val="234128"/>
          </a:solidFill>
          <a:ln xmlns:a="http://schemas.openxmlformats.org/drawingml/2006/main" w="9525">
            <a:solidFill>
              <a:srgbClr val="4D7254"/>
            </a:solidFill>
            <a:prstDash val="solid"/>
          </a:ln>
        </p:spPr>
      </p:sp>
      <p:sp>
        <p:nvSpPr>
          <p:cNvPr id="14" name="">
            <a:extLst xmlns:a="http://schemas.openxmlformats.org/drawingml/2006/main">
              <a:ext uri="{FF2B5EF4-FFF2-40B4-BE49-F238E27FC236}">
                <a16:creationId xmlns:a16="http://schemas.microsoft.com/office/drawing/2014/main" id="{41AF5303-5531-40BC-9054-ADE7A3D12039}"/>
              </a:ext>
            </a:extLst>
          </p:cNvPr>
          <p:cNvSpPr>
            <a:spLocks xmlns:a="http://schemas.openxmlformats.org/drawingml/2006/main" noGrp="1"/>
          </p:cNvSpPr>
          <p:nvPr/>
        </p:nvSpPr>
        <p:spPr>
          <a:xfrm xmlns:a="http://schemas.openxmlformats.org/drawingml/2006/main">
            <a:off x="819150" y="4886325"/>
            <a:ext cx="438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FFF4BA"/>
                </a:solidFill>
              </a:defRPr>
            </a:pPr>
            <a:r>
              <a:rPr sz="1800" b="1" i="0">
                <a:solidFill>
                  <a:srgbClr val="FFF4BA"/>
                </a:solidFill>
              </a:rPr>
              <a:t>3</a:t>
            </a:r>
          </a:p>
        </p:txBody>
      </p:sp>
      <p:sp>
        <p:nvSpPr>
          <p:cNvPr id="15" name="">
            <a:extLst xmlns:a="http://schemas.openxmlformats.org/drawingml/2006/main">
              <a:ext uri="{FF2B5EF4-FFF2-40B4-BE49-F238E27FC236}">
                <a16:creationId xmlns:a16="http://schemas.microsoft.com/office/drawing/2014/main" id="{D17EA4B0-A68C-4C85-901C-ED19D9304363}"/>
              </a:ext>
            </a:extLst>
          </p:cNvPr>
          <p:cNvSpPr>
            <a:spLocks xmlns:a="http://schemas.openxmlformats.org/drawingml/2006/main" noGrp="1"/>
          </p:cNvSpPr>
          <p:nvPr/>
        </p:nvSpPr>
        <p:spPr>
          <a:xfrm xmlns:a="http://schemas.openxmlformats.org/drawingml/2006/main">
            <a:off x="1428750" y="4800600"/>
            <a:ext cx="9620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725" b="1" i="0">
                <a:solidFill>
                  <a:srgbClr val="FFFFFF"/>
                </a:solidFill>
              </a:defRPr>
            </a:pPr>
            <a:r>
              <a:rPr sz="1725" b="1" i="0">
                <a:solidFill>
                  <a:srgbClr val="FFFFFF"/>
                </a:solidFill>
              </a:rPr>
              <a:t>What makes an activity a community food initiative?</a:t>
            </a:r>
          </a:p>
        </p:txBody>
      </p:sp>
    </p:spTree>
    <p:extLst>
      <p:ext uri="{BB962C8B-B14F-4D97-AF65-F5344CB8AC3E}">
        <p14:creationId xmlns:p14="http://schemas.microsoft.com/office/powerpoint/2010/main" val="1751919841"/>
      </p:ext>
    </p:extLst>
  </p:cSld>
</p:sld>
</file>

<file path=ppt/slides/slide7.xml><?xml version="1.0" encoding="utf-8"?>
<p:sld xmlns:p="http://schemas.openxmlformats.org/presentationml/2006/main">
  <p:cSld>
    <p:bg>
      <p:bgPr>
        <a:solidFill xmlns:a="http://schemas.openxmlformats.org/drawingml/2006/main">
          <a:srgbClr val="FFFAF0"/>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E8A8842D-E33F-4D64-A88C-61B1B809478E}"/>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E1A72C"/>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E45E76D1-F9DE-4A1F-94A4-9DDFDF48FE6C}"/>
              </a:ext>
            </a:extLst>
          </p:cNvPr>
          <p:cNvSpPr>
            <a:spLocks xmlns:a="http://schemas.openxmlformats.org/drawingml/2006/main" noGrp="1"/>
          </p:cNvSpPr>
          <p:nvPr/>
        </p:nvSpPr>
        <p:spPr>
          <a:xfrm xmlns:a="http://schemas.openxmlformats.org/drawingml/2006/main">
            <a:off x="590550" y="285750"/>
            <a:ext cx="619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050" b="1" i="0">
                <a:solidFill>
                  <a:srgbClr val="B6402D"/>
                </a:solidFill>
              </a:defRPr>
            </a:pPr>
            <a:r>
              <a:rPr sz="1050" b="1" i="0">
                <a:solidFill>
                  <a:srgbClr val="B6402D"/>
                </a:solidFill>
              </a:rPr>
              <a:t>MODEL A LONGER RESPONSE</a:t>
            </a:r>
          </a:p>
        </p:txBody>
      </p:sp>
      <p:sp>
        <p:nvSpPr>
          <p:cNvPr id="3" name="">
            <a:extLst xmlns:a="http://schemas.openxmlformats.org/drawingml/2006/main">
              <a:ext uri="{FF2B5EF4-FFF2-40B4-BE49-F238E27FC236}">
                <a16:creationId xmlns:a16="http://schemas.microsoft.com/office/drawing/2014/main" id="{05C00A1F-899C-4594-99A2-422F8BD1E1EF}"/>
              </a:ext>
            </a:extLst>
          </p:cNvPr>
          <p:cNvSpPr>
            <a:spLocks xmlns:a="http://schemas.openxmlformats.org/drawingml/2006/main" noGrp="1"/>
          </p:cNvSpPr>
          <p:nvPr/>
        </p:nvSpPr>
        <p:spPr>
          <a:xfrm xmlns:a="http://schemas.openxmlformats.org/drawingml/2006/main">
            <a:off x="590550" y="6334125"/>
            <a:ext cx="904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75" b="1" i="0">
                <a:solidFill>
                  <a:srgbClr val="5F685F"/>
                </a:solidFill>
              </a:defRPr>
            </a:pPr>
            <a:r>
              <a:rPr sz="975" b="1" i="0">
                <a:solidFill>
                  <a:srgbClr val="5F685F"/>
                </a:solidFill>
              </a:rPr>
              <a:t>MODULE 9  •  GROW, MEASURE AND IMPROVE</a:t>
            </a:r>
          </a:p>
        </p:txBody>
      </p:sp>
      <p:sp>
        <p:nvSpPr>
          <p:cNvPr id="4" name="">
            <a:extLst xmlns:a="http://schemas.openxmlformats.org/drawingml/2006/main">
              <a:ext uri="{FF2B5EF4-FFF2-40B4-BE49-F238E27FC236}">
                <a16:creationId xmlns:a16="http://schemas.microsoft.com/office/drawing/2014/main" id="{A7998425-661A-4A3A-A9DA-BB21EBC575D3}"/>
              </a:ext>
            </a:extLst>
          </p:cNvPr>
          <p:cNvSpPr>
            <a:spLocks xmlns:a="http://schemas.openxmlformats.org/drawingml/2006/main" noGrp="1"/>
          </p:cNvSpPr>
          <p:nvPr/>
        </p:nvSpPr>
        <p:spPr>
          <a:xfrm xmlns:a="http://schemas.openxmlformats.org/drawingml/2006/main">
            <a:off x="11049000" y="6334125"/>
            <a:ext cx="523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975" b="1" i="0">
                <a:solidFill>
                  <a:srgbClr val="B6402D"/>
                </a:solidFill>
              </a:defRPr>
            </a:pPr>
            <a:r>
              <a:rPr sz="975" b="1" i="0">
                <a:solidFill>
                  <a:srgbClr val="B6402D"/>
                </a:solidFill>
              </a:rPr>
              <a:t>07</a:t>
            </a:r>
          </a:p>
        </p:txBody>
      </p:sp>
      <p:sp>
        <p:nvSpPr>
          <p:cNvPr id="5" name="">
            <a:extLst xmlns:a="http://schemas.openxmlformats.org/drawingml/2006/main">
              <a:ext uri="{FF2B5EF4-FFF2-40B4-BE49-F238E27FC236}">
                <a16:creationId xmlns:a16="http://schemas.microsoft.com/office/drawing/2014/main" id="{5F45F9B6-9FDB-4AF7-8E84-F17C433386B9}"/>
              </a:ext>
            </a:extLst>
          </p:cNvPr>
          <p:cNvSpPr>
            <a:spLocks xmlns:a="http://schemas.openxmlformats.org/drawingml/2006/main" noGrp="1"/>
          </p:cNvSpPr>
          <p:nvPr/>
        </p:nvSpPr>
        <p:spPr>
          <a:xfrm xmlns:a="http://schemas.openxmlformats.org/drawingml/2006/main">
            <a:off x="590550" y="781050"/>
            <a:ext cx="7524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183B23"/>
                </a:solidFill>
              </a:defRPr>
            </a:pPr>
            <a:r>
              <a:rPr sz="2850" b="1" i="0">
                <a:solidFill>
                  <a:srgbClr val="183B23"/>
                </a:solidFill>
              </a:rPr>
              <a:t>Read → Select → Explain → Check</a:t>
            </a:r>
          </a:p>
        </p:txBody>
      </p:sp>
      <p:sp>
        <p:nvSpPr>
          <p:cNvPr id="6" name="">
            <a:extLst xmlns:a="http://schemas.openxmlformats.org/drawingml/2006/main">
              <a:ext uri="{FF2B5EF4-FFF2-40B4-BE49-F238E27FC236}">
                <a16:creationId xmlns:a16="http://schemas.microsoft.com/office/drawing/2014/main" id="{EFB64C5C-0781-4BCC-8F09-3A24A67FC19C}"/>
              </a:ext>
            </a:extLst>
          </p:cNvPr>
          <p:cNvSpPr>
            <a:spLocks xmlns:a="http://schemas.openxmlformats.org/drawingml/2006/main" noGrp="1"/>
          </p:cNvSpPr>
          <p:nvPr/>
        </p:nvSpPr>
        <p:spPr>
          <a:xfrm xmlns:a="http://schemas.openxmlformats.org/drawingml/2006/main">
            <a:off x="590550" y="1676400"/>
            <a:ext cx="5619750" cy="1762125"/>
          </a:xfrm>
          <a:prstGeom xmlns:a="http://schemas.openxmlformats.org/drawingml/2006/main" prst="roundRect">
            <a:avLst>
              <a:gd name="adj" fmla="val 6486"/>
            </a:avLst>
          </a:prstGeom>
          <a:solidFill xmlns:a="http://schemas.openxmlformats.org/drawingml/2006/main">
            <a:srgbClr val="FFFFFF"/>
          </a:solidFill>
          <a:ln xmlns:a="http://schemas.openxmlformats.org/drawingml/2006/main" w="9525">
            <a:solidFill>
              <a:srgbClr val="D9DDCF"/>
            </a:solidFill>
            <a:prstDash val="solid"/>
          </a:ln>
        </p:spPr>
      </p:sp>
      <p:sp>
        <p:nvSpPr>
          <p:cNvPr id="7" name="">
            <a:extLst xmlns:a="http://schemas.openxmlformats.org/drawingml/2006/main">
              <a:ext uri="{FF2B5EF4-FFF2-40B4-BE49-F238E27FC236}">
                <a16:creationId xmlns:a16="http://schemas.microsoft.com/office/drawing/2014/main" id="{9CBE6167-EA0A-4E97-82F3-56F556C255CE}"/>
              </a:ext>
            </a:extLst>
          </p:cNvPr>
          <p:cNvSpPr>
            <a:spLocks xmlns:a="http://schemas.openxmlformats.org/drawingml/2006/main" noGrp="1"/>
          </p:cNvSpPr>
          <p:nvPr/>
        </p:nvSpPr>
        <p:spPr>
          <a:xfrm xmlns:a="http://schemas.openxmlformats.org/drawingml/2006/main">
            <a:off x="838200" y="188595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050" b="1" i="0">
                <a:solidFill>
                  <a:srgbClr val="B6402D"/>
                </a:solidFill>
              </a:defRPr>
            </a:pPr>
            <a:r>
              <a:rPr sz="1050" b="1" i="0">
                <a:solidFill>
                  <a:srgbClr val="B6402D"/>
                </a:solidFill>
              </a:rPr>
              <a:t>THE QUESTION</a:t>
            </a:r>
          </a:p>
        </p:txBody>
      </p:sp>
      <p:sp>
        <p:nvSpPr>
          <p:cNvPr id="8" name="">
            <a:extLst xmlns:a="http://schemas.openxmlformats.org/drawingml/2006/main">
              <a:ext uri="{FF2B5EF4-FFF2-40B4-BE49-F238E27FC236}">
                <a16:creationId xmlns:a16="http://schemas.microsoft.com/office/drawing/2014/main" id="{4BAA2D6A-1D18-4AED-8E35-6EFCA501EAD4}"/>
              </a:ext>
            </a:extLst>
          </p:cNvPr>
          <p:cNvSpPr>
            <a:spLocks xmlns:a="http://schemas.openxmlformats.org/drawingml/2006/main" noGrp="1"/>
          </p:cNvSpPr>
          <p:nvPr/>
        </p:nvSpPr>
        <p:spPr>
          <a:xfrm xmlns:a="http://schemas.openxmlformats.org/drawingml/2006/main">
            <a:off x="838200" y="2266950"/>
            <a:ext cx="5095875"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725" b="1" i="0">
                <a:solidFill>
                  <a:srgbClr val="183B23"/>
                </a:solidFill>
              </a:defRPr>
            </a:pPr>
            <a:r>
              <a:rPr sz="1725" b="1" i="0">
                <a:solidFill>
                  <a:srgbClr val="183B23"/>
                </a:solidFill>
              </a:rPr>
              <a:t>Evaluate a community food initiative and recommend one evidence-based improvement that reduces avoidable waste.</a:t>
            </a:r>
          </a:p>
        </p:txBody>
      </p:sp>
      <p:sp>
        <p:nvSpPr>
          <p:cNvPr id="9" name="">
            <a:extLst xmlns:a="http://schemas.openxmlformats.org/drawingml/2006/main">
              <a:ext uri="{FF2B5EF4-FFF2-40B4-BE49-F238E27FC236}">
                <a16:creationId xmlns:a16="http://schemas.microsoft.com/office/drawing/2014/main" id="{FAF343BD-B36A-4018-9BE8-6201CEAF9FAD}"/>
              </a:ext>
            </a:extLst>
          </p:cNvPr>
          <p:cNvSpPr>
            <a:spLocks xmlns:a="http://schemas.openxmlformats.org/drawingml/2006/main" noGrp="1"/>
          </p:cNvSpPr>
          <p:nvPr/>
        </p:nvSpPr>
        <p:spPr>
          <a:xfrm xmlns:a="http://schemas.openxmlformats.org/drawingml/2006/main">
            <a:off x="6534150" y="1676400"/>
            <a:ext cx="5010150" cy="1762125"/>
          </a:xfrm>
          <a:prstGeom xmlns:a="http://schemas.openxmlformats.org/drawingml/2006/main" prst="roundRect">
            <a:avLst>
              <a:gd name="adj" fmla="val 6486"/>
            </a:avLst>
          </a:prstGeom>
          <a:solidFill xmlns:a="http://schemas.openxmlformats.org/drawingml/2006/main">
            <a:srgbClr val="E8EFE4"/>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AEFAE122-D968-4EFC-A93D-914B836C6EAC}"/>
              </a:ext>
            </a:extLst>
          </p:cNvPr>
          <p:cNvSpPr>
            <a:spLocks xmlns:a="http://schemas.openxmlformats.org/drawingml/2006/main" noGrp="1"/>
          </p:cNvSpPr>
          <p:nvPr/>
        </p:nvSpPr>
        <p:spPr>
          <a:xfrm xmlns:a="http://schemas.openxmlformats.org/drawingml/2006/main">
            <a:off x="6781800" y="188595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050" b="1" i="0">
                <a:solidFill>
                  <a:srgbClr val="B6402D"/>
                </a:solidFill>
              </a:defRPr>
            </a:pPr>
            <a:r>
              <a:rPr sz="1050" b="1" i="0">
                <a:solidFill>
                  <a:srgbClr val="B6402D"/>
                </a:solidFill>
              </a:rPr>
              <a:t>WHAT IS THIS ASKING?</a:t>
            </a:r>
          </a:p>
        </p:txBody>
      </p:sp>
      <p:sp>
        <p:nvSpPr>
          <p:cNvPr id="11" name="">
            <a:extLst xmlns:a="http://schemas.openxmlformats.org/drawingml/2006/main">
              <a:ext uri="{FF2B5EF4-FFF2-40B4-BE49-F238E27FC236}">
                <a16:creationId xmlns:a16="http://schemas.microsoft.com/office/drawing/2014/main" id="{5D8CD85C-89C5-4BAC-B889-0CB76DC6E736}"/>
              </a:ext>
            </a:extLst>
          </p:cNvPr>
          <p:cNvSpPr>
            <a:spLocks xmlns:a="http://schemas.openxmlformats.org/drawingml/2006/main" noGrp="1"/>
          </p:cNvSpPr>
          <p:nvPr/>
        </p:nvSpPr>
        <p:spPr>
          <a:xfrm xmlns:a="http://schemas.openxmlformats.org/drawingml/2006/main">
            <a:off x="6781800" y="2266950"/>
            <a:ext cx="451485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75" b="0" i="0">
                <a:solidFill>
                  <a:srgbClr val="243024"/>
                </a:solidFill>
              </a:defRPr>
            </a:pPr>
            <a:r>
              <a:rPr sz="1575" b="0" i="0">
                <a:solidFill>
                  <a:srgbClr val="243024"/>
                </a:solidFill>
              </a:rPr>
              <a:t>Maps the initiative as a connected system rather than judging its name.</a:t>
            </a:r>
          </a:p>
        </p:txBody>
      </p:sp>
      <p:sp>
        <p:nvSpPr>
          <p:cNvPr id="12" name="">
            <a:extLst xmlns:a="http://schemas.openxmlformats.org/drawingml/2006/main">
              <a:ext uri="{FF2B5EF4-FFF2-40B4-BE49-F238E27FC236}">
                <a16:creationId xmlns:a16="http://schemas.microsoft.com/office/drawing/2014/main" id="{B9A6EB41-25E1-4112-8290-0689E5FFC4DB}"/>
              </a:ext>
            </a:extLst>
          </p:cNvPr>
          <p:cNvSpPr>
            <a:spLocks xmlns:a="http://schemas.openxmlformats.org/drawingml/2006/main" noGrp="1"/>
          </p:cNvSpPr>
          <p:nvPr/>
        </p:nvSpPr>
        <p:spPr>
          <a:xfrm xmlns:a="http://schemas.openxmlformats.org/drawingml/2006/main">
            <a:off x="590550" y="3876675"/>
            <a:ext cx="3371850" cy="1428750"/>
          </a:xfrm>
          <a:prstGeom xmlns:a="http://schemas.openxmlformats.org/drawingml/2006/main" prst="roundRect">
            <a:avLst>
              <a:gd name="adj" fmla="val 8000"/>
            </a:avLst>
          </a:prstGeom>
          <a:solidFill xmlns:a="http://schemas.openxmlformats.org/drawingml/2006/main">
            <a:srgbClr val="183B23"/>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D0FC85CC-B68E-4300-B2D0-F680C981079B}"/>
              </a:ext>
            </a:extLst>
          </p:cNvPr>
          <p:cNvSpPr>
            <a:spLocks xmlns:a="http://schemas.openxmlformats.org/drawingml/2006/main" noGrp="1"/>
          </p:cNvSpPr>
          <p:nvPr/>
        </p:nvSpPr>
        <p:spPr>
          <a:xfrm xmlns:a="http://schemas.openxmlformats.org/drawingml/2006/main">
            <a:off x="819150" y="4038600"/>
            <a:ext cx="285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050" b="1" i="0">
                <a:solidFill>
                  <a:srgbClr val="FFF4BA"/>
                </a:solidFill>
              </a:defRPr>
            </a:pPr>
            <a:r>
              <a:rPr sz="1050" b="1" i="0">
                <a:solidFill>
                  <a:srgbClr val="FFF4BA"/>
                </a:solidFill>
              </a:rPr>
              <a:t>1  SELECT</a:t>
            </a:r>
          </a:p>
        </p:txBody>
      </p:sp>
      <p:sp>
        <p:nvSpPr>
          <p:cNvPr id="14" name="">
            <a:extLst xmlns:a="http://schemas.openxmlformats.org/drawingml/2006/main">
              <a:ext uri="{FF2B5EF4-FFF2-40B4-BE49-F238E27FC236}">
                <a16:creationId xmlns:a16="http://schemas.microsoft.com/office/drawing/2014/main" id="{166A47C7-7EC3-4D74-8524-B8297E4F679F}"/>
              </a:ext>
            </a:extLst>
          </p:cNvPr>
          <p:cNvSpPr>
            <a:spLocks xmlns:a="http://schemas.openxmlformats.org/drawingml/2006/main" noGrp="1"/>
          </p:cNvSpPr>
          <p:nvPr/>
        </p:nvSpPr>
        <p:spPr>
          <a:xfrm xmlns:a="http://schemas.openxmlformats.org/drawingml/2006/main">
            <a:off x="819150" y="4381500"/>
            <a:ext cx="29146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0" i="0">
                <a:solidFill>
                  <a:srgbClr val="FFFFFF"/>
                </a:solidFill>
              </a:defRPr>
            </a:pPr>
            <a:r>
              <a:rPr sz="1350" b="0" i="0">
                <a:solidFill>
                  <a:srgbClr val="FFFFFF"/>
                </a:solidFill>
              </a:rPr>
              <a:t>Select the exact theory, observation or record that answers the question.</a:t>
            </a:r>
          </a:p>
        </p:txBody>
      </p:sp>
      <p:sp>
        <p:nvSpPr>
          <p:cNvPr id="15" name="">
            <a:extLst xmlns:a="http://schemas.openxmlformats.org/drawingml/2006/main">
              <a:ext uri="{FF2B5EF4-FFF2-40B4-BE49-F238E27FC236}">
                <a16:creationId xmlns:a16="http://schemas.microsoft.com/office/drawing/2014/main" id="{F70EBEDD-49C0-47A9-80AF-A60F65918C73}"/>
              </a:ext>
            </a:extLst>
          </p:cNvPr>
          <p:cNvSpPr>
            <a:spLocks xmlns:a="http://schemas.openxmlformats.org/drawingml/2006/main" noGrp="1"/>
          </p:cNvSpPr>
          <p:nvPr/>
        </p:nvSpPr>
        <p:spPr>
          <a:xfrm xmlns:a="http://schemas.openxmlformats.org/drawingml/2006/main">
            <a:off x="4305300" y="3876675"/>
            <a:ext cx="3371850" cy="1428750"/>
          </a:xfrm>
          <a:prstGeom xmlns:a="http://schemas.openxmlformats.org/drawingml/2006/main" prst="roundRect">
            <a:avLst>
              <a:gd name="adj" fmla="val 8000"/>
            </a:avLst>
          </a:prstGeom>
          <a:solidFill xmlns:a="http://schemas.openxmlformats.org/drawingml/2006/main">
            <a:srgbClr val="E1A72C"/>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C4CB0877-44C2-48AC-A5E7-F139E2008D53}"/>
              </a:ext>
            </a:extLst>
          </p:cNvPr>
          <p:cNvSpPr>
            <a:spLocks xmlns:a="http://schemas.openxmlformats.org/drawingml/2006/main" noGrp="1"/>
          </p:cNvSpPr>
          <p:nvPr/>
        </p:nvSpPr>
        <p:spPr>
          <a:xfrm xmlns:a="http://schemas.openxmlformats.org/drawingml/2006/main">
            <a:off x="4533900" y="4038600"/>
            <a:ext cx="285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050" b="1" i="0">
                <a:solidFill>
                  <a:srgbClr val="183B23"/>
                </a:solidFill>
              </a:defRPr>
            </a:pPr>
            <a:r>
              <a:rPr sz="1050" b="1" i="0">
                <a:solidFill>
                  <a:srgbClr val="183B23"/>
                </a:solidFill>
              </a:rPr>
              <a:t>2  EXPLAIN</a:t>
            </a:r>
          </a:p>
        </p:txBody>
      </p:sp>
      <p:sp>
        <p:nvSpPr>
          <p:cNvPr id="17" name="">
            <a:extLst xmlns:a="http://schemas.openxmlformats.org/drawingml/2006/main">
              <a:ext uri="{FF2B5EF4-FFF2-40B4-BE49-F238E27FC236}">
                <a16:creationId xmlns:a16="http://schemas.microsoft.com/office/drawing/2014/main" id="{19B9B563-E2FF-4AA9-B779-230968EDA971}"/>
              </a:ext>
            </a:extLst>
          </p:cNvPr>
          <p:cNvSpPr>
            <a:spLocks xmlns:a="http://schemas.openxmlformats.org/drawingml/2006/main" noGrp="1"/>
          </p:cNvSpPr>
          <p:nvPr/>
        </p:nvSpPr>
        <p:spPr>
          <a:xfrm xmlns:a="http://schemas.openxmlformats.org/drawingml/2006/main">
            <a:off x="4533900" y="4381500"/>
            <a:ext cx="29146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0" i="0">
                <a:solidFill>
                  <a:srgbClr val="183B23"/>
                </a:solidFill>
              </a:defRPr>
            </a:pPr>
            <a:r>
              <a:rPr sz="1350" b="0" i="0">
                <a:solidFill>
                  <a:srgbClr val="183B23"/>
                </a:solidFill>
              </a:rPr>
              <a:t>Use subject vocabulary and show the because, so or therefore connection.</a:t>
            </a:r>
          </a:p>
        </p:txBody>
      </p:sp>
      <p:sp>
        <p:nvSpPr>
          <p:cNvPr id="18" name="">
            <a:extLst xmlns:a="http://schemas.openxmlformats.org/drawingml/2006/main">
              <a:ext uri="{FF2B5EF4-FFF2-40B4-BE49-F238E27FC236}">
                <a16:creationId xmlns:a16="http://schemas.microsoft.com/office/drawing/2014/main" id="{EDDA4F42-C5FF-4965-9E5C-C3C3AAA17781}"/>
              </a:ext>
            </a:extLst>
          </p:cNvPr>
          <p:cNvSpPr>
            <a:spLocks xmlns:a="http://schemas.openxmlformats.org/drawingml/2006/main" noGrp="1"/>
          </p:cNvSpPr>
          <p:nvPr/>
        </p:nvSpPr>
        <p:spPr>
          <a:xfrm xmlns:a="http://schemas.openxmlformats.org/drawingml/2006/main">
            <a:off x="8020050" y="3876675"/>
            <a:ext cx="3371850" cy="1428750"/>
          </a:xfrm>
          <a:prstGeom xmlns:a="http://schemas.openxmlformats.org/drawingml/2006/main" prst="roundRect">
            <a:avLst>
              <a:gd name="adj" fmla="val 8000"/>
            </a:avLst>
          </a:prstGeom>
          <a:solidFill xmlns:a="http://schemas.openxmlformats.org/drawingml/2006/main">
            <a:srgbClr val="183B23"/>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FE849CDF-FCB9-4201-99B8-B0FAA45A6670}"/>
              </a:ext>
            </a:extLst>
          </p:cNvPr>
          <p:cNvSpPr>
            <a:spLocks xmlns:a="http://schemas.openxmlformats.org/drawingml/2006/main" noGrp="1"/>
          </p:cNvSpPr>
          <p:nvPr/>
        </p:nvSpPr>
        <p:spPr>
          <a:xfrm xmlns:a="http://schemas.openxmlformats.org/drawingml/2006/main">
            <a:off x="8248650" y="4038600"/>
            <a:ext cx="285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050" b="1" i="0">
                <a:solidFill>
                  <a:srgbClr val="FFF4BA"/>
                </a:solidFill>
              </a:defRPr>
            </a:pPr>
            <a:r>
              <a:rPr sz="1050" b="1" i="0">
                <a:solidFill>
                  <a:srgbClr val="FFF4BA"/>
                </a:solidFill>
              </a:rPr>
              <a:t>3  CHECK</a:t>
            </a:r>
          </a:p>
        </p:txBody>
      </p:sp>
      <p:sp>
        <p:nvSpPr>
          <p:cNvPr id="20" name="">
            <a:extLst xmlns:a="http://schemas.openxmlformats.org/drawingml/2006/main">
              <a:ext uri="{FF2B5EF4-FFF2-40B4-BE49-F238E27FC236}">
                <a16:creationId xmlns:a16="http://schemas.microsoft.com/office/drawing/2014/main" id="{A26C2ACD-08AB-4A0E-BD4A-CCD49CBA1666}"/>
              </a:ext>
            </a:extLst>
          </p:cNvPr>
          <p:cNvSpPr>
            <a:spLocks xmlns:a="http://schemas.openxmlformats.org/drawingml/2006/main" noGrp="1"/>
          </p:cNvSpPr>
          <p:nvPr/>
        </p:nvSpPr>
        <p:spPr>
          <a:xfrm xmlns:a="http://schemas.openxmlformats.org/drawingml/2006/main">
            <a:off x="8248650" y="4381500"/>
            <a:ext cx="29146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0" i="0">
                <a:solidFill>
                  <a:srgbClr val="FFFFFF"/>
                </a:solidFill>
              </a:defRPr>
            </a:pPr>
            <a:r>
              <a:rPr sz="1350" b="0" i="0">
                <a:solidFill>
                  <a:srgbClr val="FFFFFF"/>
                </a:solidFill>
              </a:rPr>
              <a:t>Answer every part, state limits honestly and remove unsupported local claims.</a:t>
            </a:r>
          </a:p>
        </p:txBody>
      </p:sp>
      <p:sp>
        <p:nvSpPr>
          <p:cNvPr id="21" name="">
            <a:extLst xmlns:a="http://schemas.openxmlformats.org/drawingml/2006/main">
              <a:ext uri="{FF2B5EF4-FFF2-40B4-BE49-F238E27FC236}">
                <a16:creationId xmlns:a16="http://schemas.microsoft.com/office/drawing/2014/main" id="{5CEC4129-3BB5-4C0F-A199-83CB5198F52D}"/>
              </a:ext>
            </a:extLst>
          </p:cNvPr>
          <p:cNvSpPr>
            <a:spLocks xmlns:a="http://schemas.openxmlformats.org/drawingml/2006/main" noGrp="1"/>
          </p:cNvSpPr>
          <p:nvPr/>
        </p:nvSpPr>
        <p:spPr>
          <a:xfrm xmlns:a="http://schemas.openxmlformats.org/drawingml/2006/main">
            <a:off x="590550" y="5619750"/>
            <a:ext cx="10953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1" i="0">
                <a:solidFill>
                  <a:srgbClr val="B6402D"/>
                </a:solidFill>
              </a:defRPr>
            </a:pPr>
            <a:r>
              <a:rPr sz="1350" b="1" i="0">
                <a:solidFill>
                  <a:srgbClr val="B6402D"/>
                </a:solidFill>
              </a:rPr>
              <a:t>Sentence starter: The initiative currently contributes by …, but the system map reveals …</a:t>
            </a:r>
          </a:p>
        </p:txBody>
      </p:sp>
    </p:spTree>
    <p:extLst>
      <p:ext uri="{BB962C8B-B14F-4D97-AF65-F5344CB8AC3E}">
        <p14:creationId xmlns:p14="http://schemas.microsoft.com/office/powerpoint/2010/main" val="161328134"/>
      </p:ext>
    </p:extLst>
  </p:cSld>
</p:sld>
</file>

<file path=ppt/slides/slide8.xml><?xml version="1.0" encoding="utf-8"?>
<p:sld xmlns:p="http://schemas.openxmlformats.org/presentationml/2006/main">
  <p:cSld>
    <p:bg>
      <p:bgPr>
        <a:solidFill xmlns:a="http://schemas.openxmlformats.org/drawingml/2006/main">
          <a:srgbClr val="B6402D"/>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3BE71447-9A30-4E1D-B1BB-B07F85177BC9}"/>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E1A72C"/>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890F612-3C51-4678-8594-2A218338BE80}"/>
              </a:ext>
            </a:extLst>
          </p:cNvPr>
          <p:cNvSpPr>
            <a:spLocks xmlns:a="http://schemas.openxmlformats.org/drawingml/2006/main" noGrp="1"/>
          </p:cNvSpPr>
          <p:nvPr/>
        </p:nvSpPr>
        <p:spPr>
          <a:xfrm xmlns:a="http://schemas.openxmlformats.org/drawingml/2006/main">
            <a:off x="590550" y="285750"/>
            <a:ext cx="619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050" b="1" i="0">
                <a:solidFill>
                  <a:srgbClr val="B6402D"/>
                </a:solidFill>
              </a:defRPr>
            </a:pPr>
            <a:r>
              <a:rPr sz="1050" b="1" i="0">
                <a:solidFill>
                  <a:srgbClr val="B6402D"/>
                </a:solidFill>
              </a:rPr>
              <a:t>EXIT TICKET</a:t>
            </a:r>
          </a:p>
        </p:txBody>
      </p:sp>
      <p:sp>
        <p:nvSpPr>
          <p:cNvPr id="3" name="">
            <a:extLst xmlns:a="http://schemas.openxmlformats.org/drawingml/2006/main">
              <a:ext uri="{FF2B5EF4-FFF2-40B4-BE49-F238E27FC236}">
                <a16:creationId xmlns:a16="http://schemas.microsoft.com/office/drawing/2014/main" id="{64FB2331-7FEE-4360-B611-CB12DADFBFB4}"/>
              </a:ext>
            </a:extLst>
          </p:cNvPr>
          <p:cNvSpPr>
            <a:spLocks xmlns:a="http://schemas.openxmlformats.org/drawingml/2006/main" noGrp="1"/>
          </p:cNvSpPr>
          <p:nvPr/>
        </p:nvSpPr>
        <p:spPr>
          <a:xfrm xmlns:a="http://schemas.openxmlformats.org/drawingml/2006/main">
            <a:off x="590550" y="6334125"/>
            <a:ext cx="904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75" b="1" i="0">
                <a:solidFill>
                  <a:srgbClr val="5F685F"/>
                </a:solidFill>
              </a:defRPr>
            </a:pPr>
            <a:r>
              <a:rPr sz="975" b="1" i="0">
                <a:solidFill>
                  <a:srgbClr val="5F685F"/>
                </a:solidFill>
              </a:rPr>
              <a:t>MODULE 9  •  GROW, MEASURE AND IMPROVE</a:t>
            </a:r>
          </a:p>
        </p:txBody>
      </p:sp>
      <p:sp>
        <p:nvSpPr>
          <p:cNvPr id="4" name="">
            <a:extLst xmlns:a="http://schemas.openxmlformats.org/drawingml/2006/main">
              <a:ext uri="{FF2B5EF4-FFF2-40B4-BE49-F238E27FC236}">
                <a16:creationId xmlns:a16="http://schemas.microsoft.com/office/drawing/2014/main" id="{77D70C66-51E7-45D9-8AC1-FF369208FDA8}"/>
              </a:ext>
            </a:extLst>
          </p:cNvPr>
          <p:cNvSpPr>
            <a:spLocks xmlns:a="http://schemas.openxmlformats.org/drawingml/2006/main" noGrp="1"/>
          </p:cNvSpPr>
          <p:nvPr/>
        </p:nvSpPr>
        <p:spPr>
          <a:xfrm xmlns:a="http://schemas.openxmlformats.org/drawingml/2006/main">
            <a:off x="11049000" y="6334125"/>
            <a:ext cx="523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975" b="1" i="0">
                <a:solidFill>
                  <a:srgbClr val="B6402D"/>
                </a:solidFill>
              </a:defRPr>
            </a:pPr>
            <a:r>
              <a:rPr sz="975" b="1" i="0">
                <a:solidFill>
                  <a:srgbClr val="B6402D"/>
                </a:solidFill>
              </a:rPr>
              <a:t>08</a:t>
            </a:r>
          </a:p>
        </p:txBody>
      </p:sp>
      <p:sp>
        <p:nvSpPr>
          <p:cNvPr id="5" name="">
            <a:extLst xmlns:a="http://schemas.openxmlformats.org/drawingml/2006/main">
              <a:ext uri="{FF2B5EF4-FFF2-40B4-BE49-F238E27FC236}">
                <a16:creationId xmlns:a16="http://schemas.microsoft.com/office/drawing/2014/main" id="{65219ADD-505B-4D42-A565-B06D68A4A6C9}"/>
              </a:ext>
            </a:extLst>
          </p:cNvPr>
          <p:cNvSpPr>
            <a:spLocks xmlns:a="http://schemas.openxmlformats.org/drawingml/2006/main" noGrp="1"/>
          </p:cNvSpPr>
          <p:nvPr/>
        </p:nvSpPr>
        <p:spPr>
          <a:xfrm xmlns:a="http://schemas.openxmlformats.org/drawingml/2006/main">
            <a:off x="590550" y="838200"/>
            <a:ext cx="685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3150" b="1" i="0">
                <a:solidFill>
                  <a:srgbClr val="FFFFFF"/>
                </a:solidFill>
              </a:defRPr>
            </a:pPr>
            <a:r>
              <a:rPr sz="3150" b="1" i="0">
                <a:solidFill>
                  <a:srgbClr val="FFFFFF"/>
                </a:solidFill>
              </a:rPr>
              <a:t>Before you pack up…</a:t>
            </a:r>
          </a:p>
        </p:txBody>
      </p:sp>
      <p:sp>
        <p:nvSpPr>
          <p:cNvPr id="6" name="">
            <a:extLst xmlns:a="http://schemas.openxmlformats.org/drawingml/2006/main">
              <a:ext uri="{FF2B5EF4-FFF2-40B4-BE49-F238E27FC236}">
                <a16:creationId xmlns:a16="http://schemas.microsoft.com/office/drawing/2014/main" id="{85D5FFC0-C331-45A4-B1D9-220B252DF856}"/>
              </a:ext>
            </a:extLst>
          </p:cNvPr>
          <p:cNvSpPr>
            <a:spLocks xmlns:a="http://schemas.openxmlformats.org/drawingml/2006/main" noGrp="1"/>
          </p:cNvSpPr>
          <p:nvPr/>
        </p:nvSpPr>
        <p:spPr>
          <a:xfrm xmlns:a="http://schemas.openxmlformats.org/drawingml/2006/main">
            <a:off x="590550" y="1952625"/>
            <a:ext cx="8572500" cy="838200"/>
          </a:xfrm>
          <a:prstGeom xmlns:a="http://schemas.openxmlformats.org/drawingml/2006/main" prst="roundRect">
            <a:avLst>
              <a:gd name="adj" fmla="val 13636"/>
            </a:avLst>
          </a:prstGeom>
          <a:solidFill xmlns:a="http://schemas.openxmlformats.org/drawingml/2006/main">
            <a:srgbClr val="FFFFF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74ECBF76-3253-4238-B72C-8606A45B04B7}"/>
              </a:ext>
            </a:extLst>
          </p:cNvPr>
          <p:cNvSpPr>
            <a:spLocks xmlns:a="http://schemas.openxmlformats.org/drawingml/2006/main" noGrp="1"/>
          </p:cNvSpPr>
          <p:nvPr/>
        </p:nvSpPr>
        <p:spPr>
          <a:xfrm xmlns:a="http://schemas.openxmlformats.org/drawingml/2006/main">
            <a:off x="857250" y="2085975"/>
            <a:ext cx="8001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83B23"/>
                </a:solidFill>
              </a:defRPr>
            </a:pPr>
            <a:r>
              <a:rPr sz="1875" b="1" i="0">
                <a:solidFill>
                  <a:srgbClr val="183B23"/>
                </a:solidFill>
              </a:rPr>
              <a:t>1. One idea I can now explain is…</a:t>
            </a:r>
          </a:p>
        </p:txBody>
      </p:sp>
      <p:sp>
        <p:nvSpPr>
          <p:cNvPr id="8" name="">
            <a:extLst xmlns:a="http://schemas.openxmlformats.org/drawingml/2006/main">
              <a:ext uri="{FF2B5EF4-FFF2-40B4-BE49-F238E27FC236}">
                <a16:creationId xmlns:a16="http://schemas.microsoft.com/office/drawing/2014/main" id="{B470F7CB-CCA4-46A2-91D9-7FC061D747F9}"/>
              </a:ext>
            </a:extLst>
          </p:cNvPr>
          <p:cNvSpPr>
            <a:spLocks xmlns:a="http://schemas.openxmlformats.org/drawingml/2006/main" noGrp="1"/>
          </p:cNvSpPr>
          <p:nvPr/>
        </p:nvSpPr>
        <p:spPr>
          <a:xfrm xmlns:a="http://schemas.openxmlformats.org/drawingml/2006/main">
            <a:off x="590550" y="3095625"/>
            <a:ext cx="8572500" cy="838200"/>
          </a:xfrm>
          <a:prstGeom xmlns:a="http://schemas.openxmlformats.org/drawingml/2006/main" prst="roundRect">
            <a:avLst>
              <a:gd name="adj" fmla="val 13636"/>
            </a:avLst>
          </a:prstGeom>
          <a:solidFill xmlns:a="http://schemas.openxmlformats.org/drawingml/2006/main">
            <a:srgbClr val="FFFFF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B9E15AD1-C456-44DF-AA7F-F2FF0C480808}"/>
              </a:ext>
            </a:extLst>
          </p:cNvPr>
          <p:cNvSpPr>
            <a:spLocks xmlns:a="http://schemas.openxmlformats.org/drawingml/2006/main" noGrp="1"/>
          </p:cNvSpPr>
          <p:nvPr/>
        </p:nvSpPr>
        <p:spPr>
          <a:xfrm xmlns:a="http://schemas.openxmlformats.org/drawingml/2006/main">
            <a:off x="857250" y="3228975"/>
            <a:ext cx="8001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83B23"/>
                </a:solidFill>
              </a:defRPr>
            </a:pPr>
            <a:r>
              <a:rPr sz="1875" b="1" i="0">
                <a:solidFill>
                  <a:srgbClr val="183B23"/>
                </a:solidFill>
              </a:rPr>
              <a:t>2. One decision or practical action this changes is…</a:t>
            </a:r>
          </a:p>
        </p:txBody>
      </p:sp>
      <p:sp>
        <p:nvSpPr>
          <p:cNvPr id="10" name="">
            <a:extLst xmlns:a="http://schemas.openxmlformats.org/drawingml/2006/main">
              <a:ext uri="{FF2B5EF4-FFF2-40B4-BE49-F238E27FC236}">
                <a16:creationId xmlns:a16="http://schemas.microsoft.com/office/drawing/2014/main" id="{6C2B3316-5CD4-4432-AB5F-3D5DDC41F36A}"/>
              </a:ext>
            </a:extLst>
          </p:cNvPr>
          <p:cNvSpPr>
            <a:spLocks xmlns:a="http://schemas.openxmlformats.org/drawingml/2006/main" noGrp="1"/>
          </p:cNvSpPr>
          <p:nvPr/>
        </p:nvSpPr>
        <p:spPr>
          <a:xfrm xmlns:a="http://schemas.openxmlformats.org/drawingml/2006/main">
            <a:off x="590550" y="4238625"/>
            <a:ext cx="8572500" cy="838200"/>
          </a:xfrm>
          <a:prstGeom xmlns:a="http://schemas.openxmlformats.org/drawingml/2006/main" prst="roundRect">
            <a:avLst>
              <a:gd name="adj" fmla="val 13636"/>
            </a:avLst>
          </a:prstGeom>
          <a:solidFill xmlns:a="http://schemas.openxmlformats.org/drawingml/2006/main">
            <a:srgbClr val="FFFFFF"/>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647C5E39-77D5-4C8C-B981-0B977F4BC51A}"/>
              </a:ext>
            </a:extLst>
          </p:cNvPr>
          <p:cNvSpPr>
            <a:spLocks xmlns:a="http://schemas.openxmlformats.org/drawingml/2006/main" noGrp="1"/>
          </p:cNvSpPr>
          <p:nvPr/>
        </p:nvSpPr>
        <p:spPr>
          <a:xfrm xmlns:a="http://schemas.openxmlformats.org/drawingml/2006/main">
            <a:off x="857250" y="4371975"/>
            <a:ext cx="8001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83B23"/>
                </a:solidFill>
              </a:defRPr>
            </a:pPr>
            <a:r>
              <a:rPr sz="1875" b="1" i="0">
                <a:solidFill>
                  <a:srgbClr val="183B23"/>
                </a:solidFill>
              </a:rPr>
              <a:t>3. One local detail my teacher still needs to confirm is…</a:t>
            </a:r>
          </a:p>
        </p:txBody>
      </p:sp>
      <p:sp>
        <p:nvSpPr>
          <p:cNvPr id="12" name="">
            <a:extLst xmlns:a="http://schemas.openxmlformats.org/drawingml/2006/main">
              <a:ext uri="{FF2B5EF4-FFF2-40B4-BE49-F238E27FC236}">
                <a16:creationId xmlns:a16="http://schemas.microsoft.com/office/drawing/2014/main" id="{AAD09E1A-60E5-4A7E-B9DB-2BCFE8715B48}"/>
              </a:ext>
            </a:extLst>
          </p:cNvPr>
          <p:cNvSpPr>
            <a:spLocks xmlns:a="http://schemas.openxmlformats.org/drawingml/2006/main" noGrp="1"/>
          </p:cNvSpPr>
          <p:nvPr/>
        </p:nvSpPr>
        <p:spPr>
          <a:xfrm xmlns:a="http://schemas.openxmlformats.org/drawingml/2006/main">
            <a:off x="9715500" y="2476500"/>
            <a:ext cx="1619250" cy="1619250"/>
          </a:xfrm>
          <a:prstGeom xmlns:a="http://schemas.openxmlformats.org/drawingml/2006/main" prst="ellipse">
            <a:avLst/>
          </a:prstGeom>
          <a:solidFill xmlns:a="http://schemas.openxmlformats.org/drawingml/2006/main">
            <a:srgbClr val="E1A72C"/>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F26E430D-1295-4C10-973D-9DDB4091852F}"/>
              </a:ext>
            </a:extLst>
          </p:cNvPr>
          <p:cNvSpPr>
            <a:spLocks xmlns:a="http://schemas.openxmlformats.org/drawingml/2006/main" noGrp="1"/>
          </p:cNvSpPr>
          <p:nvPr/>
        </p:nvSpPr>
        <p:spPr>
          <a:xfrm xmlns:a="http://schemas.openxmlformats.org/drawingml/2006/main">
            <a:off x="9906000" y="2724150"/>
            <a:ext cx="12382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83B23"/>
                </a:solidFill>
              </a:defRPr>
            </a:pPr>
            <a:r>
              <a:rPr sz="1800" b="1" i="0">
                <a:solidFill>
                  <a:srgbClr val="183B23"/>
                </a:solidFill>
              </a:rPr>
              <a:t>SAVE</a:t>
            </a:r>
          </a:p>
          <a:p xmlns:a="http://schemas.openxmlformats.org/drawingml/2006/main">
            <a:pPr algn="ctr">
              <a:buNone/>
              <a:defRPr sz="1800" b="1" i="0">
                <a:solidFill>
                  <a:srgbClr val="183B23"/>
                </a:solidFill>
              </a:defRPr>
            </a:pPr>
            <a:r>
              <a:rPr sz="1800" b="1" i="0">
                <a:solidFill>
                  <a:srgbClr val="183B23"/>
                </a:solidFill>
              </a:rPr>
              <a:t>TO</a:t>
            </a:r>
          </a:p>
          <a:p xmlns:a="http://schemas.openxmlformats.org/drawingml/2006/main">
            <a:pPr algn="ctr">
              <a:buNone/>
              <a:defRPr sz="1800" b="1" i="0">
                <a:solidFill>
                  <a:srgbClr val="183B23"/>
                </a:solidFill>
              </a:defRPr>
            </a:pPr>
            <a:r>
              <a:rPr sz="1800" b="1" i="0">
                <a:solidFill>
                  <a:srgbClr val="183B23"/>
                </a:solidFill>
              </a:rPr>
              <a:t>FOLIO</a:t>
            </a:r>
          </a:p>
        </p:txBody>
      </p:sp>
    </p:spTree>
    <p:extLst>
      <p:ext uri="{BB962C8B-B14F-4D97-AF65-F5344CB8AC3E}">
        <p14:creationId xmlns:p14="http://schemas.microsoft.com/office/powerpoint/2010/main" val="170740250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2026-09-01T23:40:27.0660000Z</dcterms:created>
  <dcterms:modified xsi:type="dcterms:W3CDTF">2026-09-01T23:40:27.0660000Z</dcterms:modified>
</coreProperties>
</file>