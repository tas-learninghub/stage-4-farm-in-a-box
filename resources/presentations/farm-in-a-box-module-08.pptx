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f14a3a64474ef0" /><Relationship Type="http://schemas.openxmlformats.org/officeDocument/2006/relationships/extended-properties" Target="/docProps/app.xml" Id="R310facffab8e44fc" /><Relationship Type="http://schemas.openxmlformats.org/officeDocument/2006/relationships/officeDocument" Target="/ppt/presentation.xml" Id="Rb82701ac81b94f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cf3d32141c4446"/>
  </p:sldMasterIdLst>
  <p:notesMasterIdLst>
    <p:notesMasterId xmlns:r="http://schemas.openxmlformats.org/officeDocument/2006/relationships" r:id="R95a0416d5c6e4d24"/>
  </p:notesMasterIdLst>
  <p:sldIdLst>
    <p:sldId xmlns:r="http://schemas.openxmlformats.org/officeDocument/2006/relationships" id="256" r:id="R2689eb04515346ec"/>
    <p:sldId xmlns:r="http://schemas.openxmlformats.org/officeDocument/2006/relationships" id="257" r:id="Rb1ef794f892a4e05"/>
    <p:sldId xmlns:r="http://schemas.openxmlformats.org/officeDocument/2006/relationships" id="258" r:id="Rc753c557da6444d8"/>
    <p:sldId xmlns:r="http://schemas.openxmlformats.org/officeDocument/2006/relationships" id="259" r:id="R77b980c19b5744b9"/>
    <p:sldId xmlns:r="http://schemas.openxmlformats.org/officeDocument/2006/relationships" id="260" r:id="R5dbe62bdd3fe421a"/>
    <p:sldId xmlns:r="http://schemas.openxmlformats.org/officeDocument/2006/relationships" id="261" r:id="R9cbc4505535f4879"/>
    <p:sldId xmlns:r="http://schemas.openxmlformats.org/officeDocument/2006/relationships" id="262" r:id="R4c12fcb8dceb4ac9"/>
    <p:sldId xmlns:r="http://schemas.openxmlformats.org/officeDocument/2006/relationships" id="263" r:id="R645ee33f112c40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b337be156843c1" /><Relationship Type="http://schemas.openxmlformats.org/officeDocument/2006/relationships/slideMaster" Target="/ppt/slideMasters/slideMaster1.xml" Id="Rf6cf3d32141c4446" /><Relationship Type="http://schemas.openxmlformats.org/officeDocument/2006/relationships/notesMaster" Target="/ppt/notesMasters/notesMaster1.xml" Id="R95a0416d5c6e4d24" /><Relationship Type="http://schemas.openxmlformats.org/officeDocument/2006/relationships/presProps" Target="/ppt/presProps.xml" Id="R49bcab55bfd34f5d" /><Relationship Type="http://schemas.openxmlformats.org/officeDocument/2006/relationships/tableStyles" Target="/ppt/tableStyles.xml" Id="Rdd4bfcc4ef964a42" /><Relationship Type="http://schemas.openxmlformats.org/officeDocument/2006/relationships/slide" Target="/ppt/slides/slide1.xml" Id="R2689eb04515346ec" /><Relationship Type="http://schemas.openxmlformats.org/officeDocument/2006/relationships/slide" Target="/ppt/slides/slide2.xml" Id="Rb1ef794f892a4e05" /><Relationship Type="http://schemas.openxmlformats.org/officeDocument/2006/relationships/slide" Target="/ppt/slides/slide3.xml" Id="Rc753c557da6444d8" /><Relationship Type="http://schemas.openxmlformats.org/officeDocument/2006/relationships/slide" Target="/ppt/slides/slide4.xml" Id="R77b980c19b5744b9" /><Relationship Type="http://schemas.openxmlformats.org/officeDocument/2006/relationships/slide" Target="/ppt/slides/slide5.xml" Id="R5dbe62bdd3fe421a" /><Relationship Type="http://schemas.openxmlformats.org/officeDocument/2006/relationships/slide" Target="/ppt/slides/slide6.xml" Id="R9cbc4505535f4879" /><Relationship Type="http://schemas.openxmlformats.org/officeDocument/2006/relationships/slide" Target="/ppt/slides/slide7.xml" Id="R4c12fcb8dceb4ac9" /><Relationship Type="http://schemas.openxmlformats.org/officeDocument/2006/relationships/slide" Target="/ppt/slides/slide8.xml" Id="R645ee33f112c40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c0d2e5f1e643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f614c69ed746f0" /><Relationship Type="http://schemas.openxmlformats.org/officeDocument/2006/relationships/notesMaster" Target="/ppt/notesMasters/notesMaster1.xml" Id="R84b1def9ab874a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ea966392f840c6" /><Relationship Type="http://schemas.openxmlformats.org/officeDocument/2006/relationships/notesMaster" Target="/ppt/notesMasters/notesMaster1.xml" Id="R6241ef98e8e644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78fa03cf7b487a" /><Relationship Type="http://schemas.openxmlformats.org/officeDocument/2006/relationships/notesMaster" Target="/ppt/notesMasters/notesMaster1.xml" Id="R7cfff816d5614a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4ef514562b4b1f" /><Relationship Type="http://schemas.openxmlformats.org/officeDocument/2006/relationships/notesMaster" Target="/ppt/notesMasters/notesMaster1.xml" Id="Rbc966b50dcd248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44c5aa073e47c6" /><Relationship Type="http://schemas.openxmlformats.org/officeDocument/2006/relationships/notesMaster" Target="/ppt/notesMasters/notesMaster1.xml" Id="R14edd30d43d446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b393046ce84373" /><Relationship Type="http://schemas.openxmlformats.org/officeDocument/2006/relationships/notesMaster" Target="/ppt/notesMasters/notesMaster1.xml" Id="Rdb4e28688a5743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81f83157d44147" /><Relationship Type="http://schemas.openxmlformats.org/officeDocument/2006/relationships/notesMaster" Target="/ppt/notesMasters/notesMaster1.xml" Id="R4a511a47463947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3dcfa3e150445b" /><Relationship Type="http://schemas.openxmlformats.org/officeDocument/2006/relationships/notesMaster" Target="/ppt/notesMasters/notesMaster1.xml" Id="Rd51ef7329c4840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introduce Build and Establish as the next step in the Farm in a Box learning sequence.</a:t>
            </a:r>
          </a:p>
          <a:p xmlns:a="http://schemas.openxmlformats.org/drawingml/2006/main">
            <a:r>
              <a:t>Student outcome for this deck: Follow the approved process, test the system and begin a traceable crop record</a:t>
            </a:r>
          </a:p>
          <a:p xmlns:a="http://schemas.openxmlformats.org/drawingml/2006/main">
            <a:r>
              <a:t>Opening prompt: ask students what evidence in the image makes this an agriculture system rather than a decorative container.</a:t>
            </a:r>
          </a:p>
          <a:p xmlns:a="http://schemas.openxmlformats.org/drawingml/2006/main">
            <a:r>
              <a:t>Boundary: crop, site, materials, tools, method and local safety controls remain Teacher to confirm.</a:t>
            </a:r>
          </a:p>
          <a:p xmlns:a="http://schemas.openxmlformats.org/drawingml/2006/main">
            <a:r>
              <a:t>Transition: preview the three named learning areas without answering the warm-up for students.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Course design brief: resources/core/design-brief-v1.0.json.</a:t>
            </a:r>
          </a:p>
          <a:p xmlns:a="http://schemas.openxmlformats.org/drawingml/2006/main">
            <a:r>
              <a:t>- Generated title visual: assets/m08-s03-establishment-baseline.png — OpenAI image generation, 2026-09-02.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quiet thinking time before taking responses.</a:t>
            </a:r>
          </a:p>
          <a:p xmlns:a="http://schemas.openxmlformats.org/drawingml/2006/main">
            <a:r>
              <a:t>The three named areas are Ready the workspace; Build and test the box; Establish the crop.</a:t>
            </a:r>
          </a:p>
          <a:p xmlns:a="http://schemas.openxmlformats.org/drawingml/2006/main">
            <a:r>
              <a:t>Keep initial answers provisional. The deck is designed to improve them with evidence.</a:t>
            </a:r>
          </a:p>
          <a:p xmlns:a="http://schemas.openxmlformats.org/drawingml/2006/main">
            <a:r>
              <a:t>Do not introduce outcome codes or local practical facts on this student-facing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Course design brief: resources/core/design-brief-v1.0.json.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make Ready the workspace concrete before students apply it to the Farm in a Box.</a:t>
            </a:r>
          </a:p>
          <a:p xmlns:a="http://schemas.openxmlformats.org/drawingml/2006/main">
            <a:r>
              <a:t>Talking point 1: A ready workstation aligns the real task, approved controls, resources, workspace, roles and evidence before production begins.</a:t>
            </a:r>
          </a:p>
          <a:p xmlns:a="http://schemas.openxmlformats.org/drawingml/2006/main">
            <a:r>
              <a:t>Talking point 2: connect the image to the decision or evidence prompt; ask students what feature they notice and why it matters.</a:t>
            </a:r>
          </a:p>
          <a:p xmlns:a="http://schemas.openxmlformats.org/drawingml/2006/main">
            <a:r>
              <a:t>Likely misconception: A tidy bench automatically means the workstation is ready and safe.</a:t>
            </a:r>
          </a:p>
          <a:p xmlns:a="http://schemas.openxmlformats.org/drawingml/2006/main">
            <a:r>
              <a:t>Correction: Readiness also requires an understood task, approved controls and resources, a valid plan, clear roles and a stop pathway.</a:t>
            </a:r>
          </a:p>
          <a:p xmlns:a="http://schemas.openxmlformats.org/drawingml/2006/main">
            <a:r>
              <a:t>Prompt: Students audit a fictional workstation image and plan, identifying what is confirmed, what differs and what must be checked before the work may start.</a:t>
            </a:r>
          </a:p>
          <a:p xmlns:a="http://schemas.openxmlformats.org/drawingml/2006/main">
            <a:r>
              <a:t>Transition: connect this idea to Build and test the box.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Generated teaching visual: assets/m08-s01-ready-workspace.png — OpenAI image generation, 2026-09-02.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make Build and test the box concrete before students apply it to the Farm in a Box.</a:t>
            </a:r>
          </a:p>
          <a:p xmlns:a="http://schemas.openxmlformats.org/drawingml/2006/main">
            <a:r>
              <a:t>Talking point 1: Build through an approved work–check–record cycle. Test required function, control one change, re-test consistently and preserve the decision trail.</a:t>
            </a:r>
          </a:p>
          <a:p xmlns:a="http://schemas.openxmlformats.org/drawingml/2006/main">
            <a:r>
              <a:t>Talking point 2: connect the image to the decision or evidence prompt; ask students what feature they notice and why it matters.</a:t>
            </a:r>
          </a:p>
          <a:p xmlns:a="http://schemas.openxmlformats.org/drawingml/2006/main">
            <a:r>
              <a:t>Likely misconception: Finding and correcting a weakness means the build failed.</a:t>
            </a:r>
          </a:p>
          <a:p xmlns:a="http://schemas.openxmlformats.org/drawingml/2006/main">
            <a:r>
              <a:t>Correction: A recorded correction based on a valid test is evidence of quality control and improvement.</a:t>
            </a:r>
          </a:p>
          <a:p xmlns:a="http://schemas.openxmlformats.org/drawingml/2006/main">
            <a:r>
              <a:t>Prompt: Students interpret before-and-after evidence from a fictional system test and decide whether to continue, correct one feature or stop for teacher direction.</a:t>
            </a:r>
          </a:p>
          <a:p xmlns:a="http://schemas.openxmlformats.org/drawingml/2006/main">
            <a:r>
              <a:t>Transition: connect this idea to Establish the crop.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Generated teaching visual: assets/m08-s02-build-test-cycle.png — OpenAI image generation, 2026-09-02.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make Establish the crop concrete before students apply it to the Farm in a Box.</a:t>
            </a:r>
          </a:p>
          <a:p xmlns:a="http://schemas.openxmlformats.org/drawingml/2006/main">
            <a:r>
              <a:t>Talking point 1: Establishment creates a controlled and traceable starting point. Follow the approved local method, record the actual process and preserve baseline evidence without promising a biological result.</a:t>
            </a:r>
          </a:p>
          <a:p xmlns:a="http://schemas.openxmlformats.org/drawingml/2006/main">
            <a:r>
              <a:t>Talking point 2: connect the image to the decision or evidence prompt; ask students what feature they notice and why it matters.</a:t>
            </a:r>
          </a:p>
          <a:p xmlns:a="http://schemas.openxmlformats.org/drawingml/2006/main">
            <a:r>
              <a:t>Likely misconception: Visible growth immediately proves the establishment method was successful.</a:t>
            </a:r>
          </a:p>
          <a:p xmlns:a="http://schemas.openxmlformats.org/drawingml/2006/main">
            <a:r>
              <a:t>Correction: Success is judged from later evidence against criteria; an early observation is only one point in the production record.</a:t>
            </a:r>
          </a:p>
          <a:p xmlns:a="http://schemas.openxmlformats.org/drawingml/2006/main">
            <a:r>
              <a:t>Prompt: Students create a baseline record from a fictional establishment photograph and supplied method card, then identify what can and cannot yet be concluded.</a:t>
            </a:r>
          </a:p>
          <a:p xmlns:a="http://schemas.openxmlformats.org/drawingml/2006/main">
            <a:r>
              <a:t>Transition: move from explanation 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Generated teaching visual: assets/m08-s03-establishment-baseline.png — OpenAI image generation, 2026-09-02.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think-pair-share: students answer silently, cite one deck idea, then improve their explanation with a partner.</a:t>
            </a:r>
          </a:p>
          <a:p xmlns:a="http://schemas.openxmlformats.org/drawingml/2006/main">
            <a:r>
              <a:t>Question 1 checks Ready the workspace.</a:t>
            </a:r>
          </a:p>
          <a:p xmlns:a="http://schemas.openxmlformats.org/drawingml/2006/main">
            <a:r>
              <a:t>Question 2 checks Build and test the box.</a:t>
            </a:r>
          </a:p>
          <a:p xmlns:a="http://schemas.openxmlformats.org/drawingml/2006/main">
            <a:r>
              <a:t>Question 3 checks Establish the crop.</a:t>
            </a:r>
          </a:p>
          <a:p xmlns:a="http://schemas.openxmlformats.org/drawingml/2006/main">
            <a:r>
              <a:t>Ask for reasoning, not only a short answer. Correct overclaiming and invented local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Course design brief: resources/core/design-brief-v1.0.json.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Response purpose: Explain how an establishment record creates a fair starting point for later crop evaluation.</a:t>
            </a:r>
          </a:p>
          <a:p xmlns:a="http://schemas.openxmlformats.org/drawingml/2006/main">
            <a:r>
              <a:t>Scaffold prompts: Which local method and material details come from teacher approval? | What written and visual baseline evidence should be captured? | What can be concluded immediately and what must wait? | How would a supplied fallback record preserve the learning if the live crop is unavailable?</a:t>
            </a:r>
          </a:p>
          <a:p xmlns:a="http://schemas.openxmlformats.org/drawingml/2006/main">
            <a:r>
              <a:t>Success criteria: Identifies a complete, dated and contextual baseline. | Separates actual observation from premature biological claims. | Explains how the baseline or authorised fallback supports later comparison.</a:t>
            </a:r>
          </a:p>
          <a:p xmlns:a="http://schemas.openxmlformats.org/drawingml/2006/main">
            <a:r>
              <a:t>Appropriate response example for teacher modelling: A fair establishment baseline records the date or stage, approved planting material, its position, its initial observable condition and the process actually completed. An overview photograph shows arrangement and a detail image shows starting condition. The record can state that establishment was completed, but it cannot yet claim successful growth or final quality. If a live crop is unavailable, a teacher-provided image and data set can preserve the same comparison and evaluation task.</a:t>
            </a:r>
          </a:p>
          <a:p xmlns:a="http://schemas.openxmlformats.org/drawingml/2006/main">
            <a:r>
              <a:t>Model how to acknowledge uncertainty without weakening a claim supported by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destination: workstation readiness check; safe-process build record; establishment record and working-system evidence.</a:t>
            </a:r>
          </a:p>
          <a:p xmlns:a="http://schemas.openxmlformats.org/drawingml/2006/main">
            <a:r>
              <a:t>Students save a concise exit response in their local folio or on paper.</a:t>
            </a:r>
          </a:p>
          <a:p xmlns:a="http://schemas.openxmlformats.org/drawingml/2006/main">
            <a:r>
              <a:t>Accept a specific unanswered local-control question; do not pressure students to invent the answer.</a:t>
            </a:r>
          </a:p>
          <a:p xmlns:a="http://schemas.openxmlformats.org/drawingml/2006/main">
            <a:r>
              <a:t>Next step: continue to Module 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7–8 Syllabus (2023) – Food and agricultural practices content — https://curriculum.nsw.edu.au/learning-areas/tas/technology-7-8-2023/content/stage-4/faa6e5f8d5</a:t>
            </a:r>
          </a:p>
          <a:p xmlns:a="http://schemas.openxmlformats.org/drawingml/2006/main">
            <a:r>
              <a:t>- Technology 7–8 (2023): Sample unit (Stage 4) – Micro farm — https://library.curriculum.nsw.edu.au/341419dc-8ec2-0289-7225-6db7f2d751ef/de7fba4f-172d-4d41-b88a-c48ca8b1e40e/technology-7-8-2023-sample-unit-stage-4-micro-farm.DOCX</a:t>
            </a:r>
          </a:p>
          <a:p xmlns:a="http://schemas.openxmlformats.org/drawingml/2006/main">
            <a:r>
              <a:t>- Technology 7–8 – Food and agricultural practices – Grow up! vertical garden adventure — https://education.nsw.gov.au/content/dam/main-education/documents/teaching-and-learning/curriculum/tas/tas-s4-agriculture-10-week-program-grow-up.docx</a:t>
            </a:r>
          </a:p>
          <a:p xmlns:a="http://schemas.openxmlformats.org/drawingml/2006/main">
            <a:r>
              <a:t>- Course design brief: resources/core/design-brief-v1.0.json.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4a81ef00a45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c0d2ad883c4de2" /><Relationship Type="http://schemas.openxmlformats.org/officeDocument/2006/relationships/slideLayout" Target="/ppt/slideLayouts/slideLayout1.xml" Id="R8243eb911e6444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43eb911e6444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f63e6463c4937" /><Relationship Type="http://schemas.openxmlformats.org/officeDocument/2006/relationships/image" Target="/ppt/media/image.png" Id="R8dfaec09e1964692" /><Relationship Type="http://schemas.openxmlformats.org/officeDocument/2006/relationships/notesSlide" Target="/ppt/notesSlides/notesSlide1.xml" Id="Rd8488d4ebf474e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3e4864a094baa" /><Relationship Type="http://schemas.openxmlformats.org/officeDocument/2006/relationships/notesSlide" Target="/ppt/notesSlides/notesSlide2.xml" Id="R8a73752834d24b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7e88aff26467b" /><Relationship Type="http://schemas.openxmlformats.org/officeDocument/2006/relationships/image" Target="/ppt/media/image2.png" Id="R9ad93995d2cc46c2" /><Relationship Type="http://schemas.openxmlformats.org/officeDocument/2006/relationships/notesSlide" Target="/ppt/notesSlides/notesSlide3.xml" Id="R2b0e60bad79148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9fb05ab3d4e2b" /><Relationship Type="http://schemas.openxmlformats.org/officeDocument/2006/relationships/image" Target="/ppt/media/image3.png" Id="Rc1bba028686b4b87" /><Relationship Type="http://schemas.openxmlformats.org/officeDocument/2006/relationships/notesSlide" Target="/ppt/notesSlides/notesSlide4.xml" Id="R47ec7f70612e49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b98efea554f5b" /><Relationship Type="http://schemas.openxmlformats.org/officeDocument/2006/relationships/image" Target="/ppt/media/image4.png" Id="R0601cee3d9554625" /><Relationship Type="http://schemas.openxmlformats.org/officeDocument/2006/relationships/notesSlide" Target="/ppt/notesSlides/notesSlide5.xml" Id="R3b1aff17012c4e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fe91bd79c4c15" /><Relationship Type="http://schemas.openxmlformats.org/officeDocument/2006/relationships/notesSlide" Target="/ppt/notesSlides/notesSlide6.xml" Id="R2f5da09cf09e4b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7a35baa7441c2" /><Relationship Type="http://schemas.openxmlformats.org/officeDocument/2006/relationships/notesSlide" Target="/ppt/notesSlides/notesSlide7.xml" Id="Rd1784b02beae43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822ef549d4c48" /><Relationship Type="http://schemas.openxmlformats.org/officeDocument/2006/relationships/notesSlide" Target="/ppt/notesSlides/notesSlide8.xml" Id="R69a5ec0d5b9c4d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 descr="Students photograph a newly established crop box from overview and close-detail positions while a teacher supervises the baseline record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aec09e1964692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D0D04-4B70-4B00-9B1C-C4F26D05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8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D6E9F-0B46-4BED-B467-C855A8E7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B94F3-9A25-4824-A43A-5CBC4D58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4BA"/>
                </a:solidFill>
              </a:defRPr>
            </a:pPr>
            <a:r>
              <a:rPr sz="1350" b="1" i="0">
                <a:solidFill>
                  <a:srgbClr val="FFF4BA"/>
                </a:solidFill>
              </a:rPr>
              <a:t>MODULE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19B7D-497A-48EE-90CD-1BC32B87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Build and Establish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F44E9-6E3D-4678-ACFE-99EE7464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EAF2E6"/>
                </a:solidFill>
              </a:defRPr>
            </a:pPr>
            <a:r>
              <a:rPr sz="1875" b="0" i="0">
                <a:solidFill>
                  <a:srgbClr val="EAF2E6"/>
                </a:solidFill>
              </a:rPr>
              <a:t>Follow the approved process, test the system and begin a traceable crop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1F704-1270-4BB8-B721-E3C4C051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8D8C6"/>
                </a:solidFill>
              </a:defRPr>
            </a:pPr>
            <a:r>
              <a:rPr sz="1125" b="1" i="0">
                <a:solidFill>
                  <a:srgbClr val="C8D8C6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7447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9AF82F-554E-4FF2-989E-9C80ECE9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AAF5D-475B-4B82-AB6B-48EAA10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TODAY’S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22EDA-0689-4096-8675-92251FA7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8  •  BUILD AND ESTABLISH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3FFED-76FB-408C-9E87-1320851B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71510-395C-4783-9DFD-B8610BE6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Where are we going?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7F163-B7EE-4201-91EE-95F448D5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1FB6A-4447-4FCF-93FF-91AB093E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13247-9B00-46C9-B433-AD9B7896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D4102-9D6F-4053-BD0E-3D73F542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Ready the 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E3001-EE83-459C-B690-69101A2E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711AC-D889-4FE6-9CCE-06991C38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3ED1C-3D24-40D1-A61B-F68E7BD8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F6B5F-23E4-4088-89D0-AE9191EA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908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Build and test the box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EA6D8-0BFF-4AE4-A6B7-DCCE3FD7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09ABF-4224-408E-B8C1-479A9DF9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8E5D6-CB05-48B5-9F30-644067C5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986FF-7294-41CA-B218-E8B929AE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Establish the crop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9A865-8CD8-4EA8-9EDE-25AF0496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19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46629-35FB-4642-AD49-3E78BB8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4BA"/>
                </a:solidFill>
              </a:defRPr>
            </a:pPr>
            <a:r>
              <a:rPr sz="1125" b="1" i="0">
                <a:solidFill>
                  <a:srgbClr val="FFF4BA"/>
                </a:solidFill>
              </a:rPr>
              <a:t>RETRIEVAL WARM-UP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08B4D-7E24-4282-B02E-8BC80FDF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What do you already know?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E920C-B9D6-4214-836F-D1ED3320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1. Define one key word from the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2. Predict one practical or design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3. Name one question you have.</a:t>
            </a:r>
          </a:p>
        </p:txBody>
      </p:sp>
    </p:spTree>
    <p:extLst>
      <p:ext uri="{BB962C8B-B14F-4D97-AF65-F5344CB8AC3E}">
        <p14:creationId xmlns:p14="http://schemas.microsoft.com/office/powerpoint/2010/main" val="1646874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048E6-E39C-4CB3-95D0-F463AA03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E4D63-EC4B-4F08-836D-DE745DDC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8.1 READY THE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72977-453C-4F7A-A97D-E4963BE5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8  •  BUILD AND ESTABLISH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5B65F-0AE5-40FC-B8EB-C46474D1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EB981-A305-4949-B21E-B6F3D847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Ready the workspace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CB9CF-1725-4B95-8C1D-E7D9D58E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FF84A-8615-477A-BFDC-2CC960D8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55DC5-6E19-40DD-99FE-60095D34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A ready workstation aligns the real task, approved controls, resources, workspace, roles and evidence before production begins.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13092-B4FF-4D61-91C9-F052EE00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29CC7-AAFD-4F87-AE4B-1B2A69E5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Readiness also requires an understood task, approved controls and resources, a valid plan, clear roles and a stop pathway.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256FD-21EB-4289-B92D-CF1F0042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04081-3C0C-4B66-88CC-C07FF2B7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A planned check that decides whether work can start, needs correction or must stop.</a:t>
            </a:r>
          </a:p>
        </p:txBody>
      </p:sp>
      <p:pic>
        <p:nvPicPr>
          <p:cNvPr id="30" name="" descr="Two students and a teacher check a project drawing at an organised workstation with a clear work zone and closed resource tub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93995d2cc46c2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F6D46-F186-4174-B7FE-80385BDB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7C296-FEE5-4992-B85D-C95B12E7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How would you correct this idea? “A tidy bench automatically means the workstation is ready and safe.”</a:t>
            </a:r>
          </a:p>
        </p:txBody>
      </p:sp>
    </p:spTree>
    <p:extLst>
      <p:ext uri="{BB962C8B-B14F-4D97-AF65-F5344CB8AC3E}">
        <p14:creationId xmlns:p14="http://schemas.microsoft.com/office/powerpoint/2010/main" val="850684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E1F27-1F1E-4318-B7F6-1C963A0F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8E0A5-F5F6-474C-89C5-C38CB334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8.2 BUILD AND TEST THE 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E5711-A469-4BAB-8BC5-70282164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8  •  BUILD AND ESTABLISH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91D5F-7726-489E-AD37-C326A235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1F8B3-1516-495D-A4C4-45107F2B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Build and test the box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9BF7A-41AB-4807-82DD-04E6B84D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2029A-0D13-4B6B-A559-C4A5647F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EE4C2-7E29-428F-82CF-29DD6AC4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Build through an approved work–check–record cycle.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63A0E-4B4F-4039-908D-1632A9E5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E471E-C009-49C9-9FD0-5D116315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Test required function, control one change, re-test consistently and preserve the decision trail.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5745F-0FFB-433D-AF38-4E38C430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DB362-8D4C-4A26-BC73-AEB0AA1E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A recorded correction based on a valid test is evidence of quality control and improvement.</a:t>
            </a:r>
          </a:p>
        </p:txBody>
      </p:sp>
      <p:pic>
        <p:nvPicPr>
          <p:cNvPr id="30" name="" descr="Students compare a partly built double-container crop box with its drawing while adding clean water to the reservoir and recording a checkpoint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ba028686b4b87"/>
          <a:stretch xmlns:a="http://schemas.openxmlformats.org/drawingml/2006/main"/>
        </p:blipFill>
        <p:spPr>
          <a:xfrm xmlns:a="http://schemas.openxmlformats.org/drawingml/2006/main">
            <a:off x="7667625" y="1949768"/>
            <a:ext cx="3857625" cy="2005965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982BF-258F-459E-B63C-51ABA050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18742-48E7-4C68-AA0D-4076ACF8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How would you correct this idea? “Finding and correcting a weakness means the build failed.”</a:t>
            </a:r>
          </a:p>
        </p:txBody>
      </p:sp>
    </p:spTree>
    <p:extLst>
      <p:ext uri="{BB962C8B-B14F-4D97-AF65-F5344CB8AC3E}">
        <p14:creationId xmlns:p14="http://schemas.microsoft.com/office/powerpoint/2010/main" val="11064154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84DC0-63F9-40CE-88D2-CB379365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548FF-CEDE-4E29-8AC7-9A942E94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8.3 ESTABLISH THE CROP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BBAF7-73BC-4A59-99A3-63813E52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8  •  BUILD AND ESTABLISH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AAC3F-7641-4FCD-A608-0CE5467A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E23AD-096C-4F5B-B1D8-102D2258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Establish the crop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5500F-3350-4B39-BE06-EF70B9C7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D232B-BE66-4B52-AA14-0FCFAFBD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AA697-FA86-4BA2-A27A-105C6C4F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Establishment creates a controlled and traceable starting point.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CFC0C-C4A0-4D61-B394-A5D7F7C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DDD24-06E4-4CF4-811A-A5FB4CA5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Follow the approved local method, record the actual process and preserve baseline evidence without promising a biological result.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0453A-78BC-4964-90C7-8440201D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DFF7E-13AE-441A-A303-A879041E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Success is judged from later evidence against criteria; an early observation is only one point in the production record.</a:t>
            </a:r>
          </a:p>
        </p:txBody>
      </p:sp>
      <p:pic>
        <p:nvPicPr>
          <p:cNvPr id="30" name="" descr="Students photograph a newly established crop box from overview and close-detail positions while a teacher supervises the baseline record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1cee3d9554625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0D86F-DBAD-499D-BF8F-D10F3DAF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DFAF5-A907-49C1-88BC-84194367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How would you correct this idea? “Visible growth immediately proves the establishment method was successful.”</a:t>
            </a:r>
          </a:p>
        </p:txBody>
      </p:sp>
    </p:spTree>
    <p:extLst>
      <p:ext uri="{BB962C8B-B14F-4D97-AF65-F5344CB8AC3E}">
        <p14:creationId xmlns:p14="http://schemas.microsoft.com/office/powerpoint/2010/main" val="17077397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0E20C-DE75-4A96-A665-97A4FB37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91EC8-4C0E-4769-A43C-4240DB42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CHECK FOR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F0FD8-D0E4-4FFC-87B4-F94D3C2F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8  •  BUILD AND ESTABLISH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21CF9-D183-4AE1-8E52-126826B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1C7E8-8C3F-45EF-927D-A6D3831A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5783C-C356-4657-B4A4-FF3558A4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DE9DB"/>
                </a:solidFill>
              </a:defRPr>
            </a:pPr>
            <a:r>
              <a:rPr sz="1500" b="0" i="0">
                <a:solidFill>
                  <a:srgbClr val="DDE9DB"/>
                </a:solidFill>
              </a:rPr>
              <a:t>Answer silently first, then justify with a partner.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EF44A-2A59-4057-8D1A-79826217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14D4F-2EB3-46EF-8C4D-6F6485D0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3AC10-220C-4485-8891-962637D2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Which description best defines workstation readiness?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93E2F-6033-4AFB-B456-5D082A7B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84B30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48EAD-5636-4210-99C4-DB6E9D51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15A8C-DA40-4582-9E54-379ED432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Which sequence best describes controlled production?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5383D-2BCF-4343-9DFD-3D0BEE4D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086BA-5986-4B7F-94F0-EB2BC5DF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E9B78-B9A9-4560-85DB-299E3CE2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What is the main goal of crop establishment?</a:t>
            </a:r>
          </a:p>
        </p:txBody>
      </p:sp>
    </p:spTree>
    <p:extLst>
      <p:ext uri="{BB962C8B-B14F-4D97-AF65-F5344CB8AC3E}">
        <p14:creationId xmlns:p14="http://schemas.microsoft.com/office/powerpoint/2010/main" val="537633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B1F62-E11B-40FB-A509-2F174924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20D97-A5D3-4916-9E83-EB0865CB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MODEL A LONGER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109E5-A500-44C0-873D-CE8E4DFA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8  •  BUILD AND ESTABLISH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FF0F2-BBC5-4D6B-838B-16D72AD1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5990A-3E9D-49E0-A0D7-70471309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Read → Select → Explain →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F3D41-32CF-442C-9A7F-1F125DB2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61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7D964-82D4-48CE-BBC1-B13E6E7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2470F-062D-464C-8E98-B90E6497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095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83B23"/>
                </a:solidFill>
              </a:defRPr>
            </a:pPr>
            <a:r>
              <a:rPr sz="1725" b="1" i="0">
                <a:solidFill>
                  <a:srgbClr val="183B23"/>
                </a:solidFill>
              </a:rPr>
              <a:t>Explain how an establishment record creates a fair starting point for later crop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D5489-6300-4BBB-8FE4-E5A14668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50101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2657F-1AB2-4D7D-B538-8CE745E1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WHAT IS THIS ASKING?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6D2A4-AF20-4302-AA24-40D0EF35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14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243024"/>
                </a:solidFill>
              </a:defRPr>
            </a:pPr>
            <a:r>
              <a:rPr sz="1575" b="0" i="0">
                <a:solidFill>
                  <a:srgbClr val="243024"/>
                </a:solidFill>
              </a:rPr>
              <a:t>Identifies a complete, dated and contextual baseline. Separates actual observation from premature biological claims.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53D42-5CC5-4C55-BF42-8F16858A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4E605-B0BB-4C5E-A604-D4474711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1  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85487-DF75-4374-9170-FD80C4DE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Select the exact theory, observation or record that answers the question.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469CC-D3C8-488D-8456-5D7A5428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ACABE-5036-4E92-B92F-39A84518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3B23"/>
                </a:solidFill>
              </a:defRPr>
            </a:pPr>
            <a:r>
              <a:rPr sz="1050" b="1" i="0">
                <a:solidFill>
                  <a:srgbClr val="183B23"/>
                </a:solidFill>
              </a:rPr>
              <a:t>2  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B4A9D-A2C0-4D80-866B-C95B791E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3B23"/>
                </a:solidFill>
              </a:defRPr>
            </a:pPr>
            <a:r>
              <a:rPr sz="1350" b="0" i="0">
                <a:solidFill>
                  <a:srgbClr val="183B23"/>
                </a:solidFill>
              </a:rPr>
              <a:t>Use subject vocabulary and show the because, so or therefore connection.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1FB95-B172-4889-B65D-066D6344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4C554-8CDF-4C09-8E51-BC35A99E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3 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17308-9D73-41C1-9D62-55B80ABB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Answer every part, state limits honestly and remove unsupported local claims.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A69D5E-799C-49EF-8FDC-8E3C6A28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402D"/>
                </a:solidFill>
              </a:defRPr>
            </a:pPr>
            <a:r>
              <a:rPr sz="1350" b="1" i="0">
                <a:solidFill>
                  <a:srgbClr val="B6402D"/>
                </a:solidFill>
              </a:rPr>
              <a:t>Sentence starter: A fair establishment baseline records … so that later observations can be compared …</a:t>
            </a:r>
          </a:p>
        </p:txBody>
      </p:sp>
    </p:spTree>
    <p:extLst>
      <p:ext uri="{BB962C8B-B14F-4D97-AF65-F5344CB8AC3E}">
        <p14:creationId xmlns:p14="http://schemas.microsoft.com/office/powerpoint/2010/main" val="87617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640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0227D-9E63-412A-97A5-2724A1A6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2BBBF-0D7B-4C48-94CC-D175302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AD873-8A06-4B3D-A191-55921F35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8  •  BUILD AND ESTABLISH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000E3-B06D-41E1-BE88-C7F13DB1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BAE22-A0FD-466A-A653-4B6E717F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20828-8DD7-4B08-9C3B-CFB955EF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F9F70-D20D-4658-B191-988A1F2B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1. One idea I can now explain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EEFC7-19FE-4EDB-9455-09DB0EDC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98251-4C4E-4ADA-A8CB-4ECF29E9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2. One decision or practical action this changes is…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AAD9D-7A95-4507-B1ED-42E76415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A56FE-81F1-4128-906F-84080F9A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3. One local detail my teacher still needs to confirm is…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F7BB5-C2A9-4121-B11B-BD31B94F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D2ADB-D6BE-4809-9FD4-4D7C96EB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SAVE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TO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FOLIO</a:t>
            </a:r>
          </a:p>
        </p:txBody>
      </p:sp>
    </p:spTree>
    <p:extLst>
      <p:ext uri="{BB962C8B-B14F-4D97-AF65-F5344CB8AC3E}">
        <p14:creationId xmlns:p14="http://schemas.microsoft.com/office/powerpoint/2010/main" val="2077971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2026-09-01T23:40:23.6940000Z</dcterms:created>
  <dcterms:modified xsi:type="dcterms:W3CDTF">2026-09-01T23:40:23.6940000Z</dcterms:modified>
</coreProperties>
</file>