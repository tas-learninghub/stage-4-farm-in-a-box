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c6d82ab70a042bf" /><Relationship Type="http://schemas.openxmlformats.org/officeDocument/2006/relationships/extended-properties" Target="/docProps/app.xml" Id="Rf4d2d4c3549e42d8" /><Relationship Type="http://schemas.openxmlformats.org/officeDocument/2006/relationships/officeDocument" Target="/ppt/presentation.xml" Id="Ra7ba7186f81e4836" /></Relationships>
</file>

<file path=ppt/presentation.xml><?xml version="1.0" encoding="utf-8"?>
<p:presentation xmlns:p="http://schemas.openxmlformats.org/presentationml/2006/main">
  <p:sldMasterIdLst>
    <p:sldMasterId xmlns:r="http://schemas.openxmlformats.org/officeDocument/2006/relationships" id="2147483648" r:id="R3c07107b4833444e"/>
  </p:sldMasterIdLst>
  <p:notesMasterIdLst>
    <p:notesMasterId xmlns:r="http://schemas.openxmlformats.org/officeDocument/2006/relationships" r:id="R2fc11eb2f9db4336"/>
  </p:notesMasterIdLst>
  <p:sldIdLst>
    <p:sldId xmlns:r="http://schemas.openxmlformats.org/officeDocument/2006/relationships" id="256" r:id="R6445e80cc718425e"/>
    <p:sldId xmlns:r="http://schemas.openxmlformats.org/officeDocument/2006/relationships" id="257" r:id="R8a4d4fd4f75c4bc6"/>
    <p:sldId xmlns:r="http://schemas.openxmlformats.org/officeDocument/2006/relationships" id="258" r:id="Re392eab7c77b4eae"/>
    <p:sldId xmlns:r="http://schemas.openxmlformats.org/officeDocument/2006/relationships" id="259" r:id="R95ed5a6b35fd4811"/>
    <p:sldId xmlns:r="http://schemas.openxmlformats.org/officeDocument/2006/relationships" id="260" r:id="R1f26bafcedef4254"/>
    <p:sldId xmlns:r="http://schemas.openxmlformats.org/officeDocument/2006/relationships" id="261" r:id="Rc9bf133826404b4a"/>
    <p:sldId xmlns:r="http://schemas.openxmlformats.org/officeDocument/2006/relationships" id="262" r:id="R72abaf757c384378"/>
    <p:sldId xmlns:r="http://schemas.openxmlformats.org/officeDocument/2006/relationships" id="263" r:id="Rc9210dc6b6c3495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a94d848c793449c" /><Relationship Type="http://schemas.openxmlformats.org/officeDocument/2006/relationships/slideMaster" Target="/ppt/slideMasters/slideMaster1.xml" Id="R3c07107b4833444e" /><Relationship Type="http://schemas.openxmlformats.org/officeDocument/2006/relationships/notesMaster" Target="/ppt/notesMasters/notesMaster1.xml" Id="R2fc11eb2f9db4336" /><Relationship Type="http://schemas.openxmlformats.org/officeDocument/2006/relationships/presProps" Target="/ppt/presProps.xml" Id="Re5937750aeb64cb8" /><Relationship Type="http://schemas.openxmlformats.org/officeDocument/2006/relationships/tableStyles" Target="/ppt/tableStyles.xml" Id="Reac7501c52f04582" /><Relationship Type="http://schemas.openxmlformats.org/officeDocument/2006/relationships/slide" Target="/ppt/slides/slide1.xml" Id="R6445e80cc718425e" /><Relationship Type="http://schemas.openxmlformats.org/officeDocument/2006/relationships/slide" Target="/ppt/slides/slide2.xml" Id="R8a4d4fd4f75c4bc6" /><Relationship Type="http://schemas.openxmlformats.org/officeDocument/2006/relationships/slide" Target="/ppt/slides/slide3.xml" Id="Re392eab7c77b4eae" /><Relationship Type="http://schemas.openxmlformats.org/officeDocument/2006/relationships/slide" Target="/ppt/slides/slide4.xml" Id="R95ed5a6b35fd4811" /><Relationship Type="http://schemas.openxmlformats.org/officeDocument/2006/relationships/slide" Target="/ppt/slides/slide5.xml" Id="R1f26bafcedef4254" /><Relationship Type="http://schemas.openxmlformats.org/officeDocument/2006/relationships/slide" Target="/ppt/slides/slide6.xml" Id="Rc9bf133826404b4a" /><Relationship Type="http://schemas.openxmlformats.org/officeDocument/2006/relationships/slide" Target="/ppt/slides/slide7.xml" Id="R72abaf757c384378" /><Relationship Type="http://schemas.openxmlformats.org/officeDocument/2006/relationships/slide" Target="/ppt/slides/slide8.xml" Id="Rc9210dc6b6c3495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5b29668c4af41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d64d251ca0f44ca" /><Relationship Type="http://schemas.openxmlformats.org/officeDocument/2006/relationships/notesMaster" Target="/ppt/notesMasters/notesMaster1.xml" Id="Raa4422407f024991" /></Relationships>
</file>

<file path=ppt/notesSlides/_rels/notesSlide2.xml.rels>&#65279;<?xml version="1.0" encoding="utf-8"?><Relationships xmlns="http://schemas.openxmlformats.org/package/2006/relationships"><Relationship Type="http://schemas.openxmlformats.org/officeDocument/2006/relationships/slide" Target="/ppt/slides/slide2.xml" Id="R16a7ccd220214fa0" /><Relationship Type="http://schemas.openxmlformats.org/officeDocument/2006/relationships/notesMaster" Target="/ppt/notesMasters/notesMaster1.xml" Id="R835db245e56445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2bf0589394645dc" /><Relationship Type="http://schemas.openxmlformats.org/officeDocument/2006/relationships/notesMaster" Target="/ppt/notesMasters/notesMaster1.xml" Id="Rd892d1a86b394dbb" /></Relationships>
</file>

<file path=ppt/notesSlides/_rels/notesSlide4.xml.rels>&#65279;<?xml version="1.0" encoding="utf-8"?><Relationships xmlns="http://schemas.openxmlformats.org/package/2006/relationships"><Relationship Type="http://schemas.openxmlformats.org/officeDocument/2006/relationships/slide" Target="/ppt/slides/slide4.xml" Id="R04167927a2c24fb5" /><Relationship Type="http://schemas.openxmlformats.org/officeDocument/2006/relationships/notesMaster" Target="/ppt/notesMasters/notesMaster1.xml" Id="R7ecfe84c82bf4cf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ab63f8c36c54e8f" /><Relationship Type="http://schemas.openxmlformats.org/officeDocument/2006/relationships/notesMaster" Target="/ppt/notesMasters/notesMaster1.xml" Id="R4a56713d33b446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070821af67c54e87" /><Relationship Type="http://schemas.openxmlformats.org/officeDocument/2006/relationships/notesMaster" Target="/ppt/notesMasters/notesMaster1.xml" Id="Rd6a9a47b598d48e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6f626abafb147d9" /><Relationship Type="http://schemas.openxmlformats.org/officeDocument/2006/relationships/notesMaster" Target="/ppt/notesMasters/notesMaster1.xml" Id="Ra8a7f0c23d31407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e25e926349c4ff2" /><Relationship Type="http://schemas.openxmlformats.org/officeDocument/2006/relationships/notesMaster" Target="/ppt/notesMasters/notesMaster1.xml" Id="Rec00e0e0f9074f5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Purpose: introduce Farm Under Pressure as the next step in the Farm in a Box learning sequence.</a:t>
            </a:r>
          </a:p>
          <a:p xmlns:a="http://schemas.openxmlformats.org/drawingml/2006/main">
            <a:r>
              <a:t>Student outcome for this deck: Read conditions, diagnose stress and respond responsibly</a:t>
            </a:r>
          </a:p>
          <a:p xmlns:a="http://schemas.openxmlformats.org/drawingml/2006/main">
            <a:r>
              <a:t>Opening prompt: ask students what evidence in the image makes this an agriculture system rather than a decorative container.</a:t>
            </a:r>
          </a:p>
          <a:p xmlns:a="http://schemas.openxmlformats.org/drawingml/2006/main">
            <a:r>
              <a:t>Boundary: crop, site, materials, tools, method and local safety controls remain Teacher to confirm.</a:t>
            </a:r>
          </a:p>
          <a:p xmlns:a="http://schemas.openxmlformats.org/drawingml/2006/main">
            <a:r>
              <a:t>Transition: preview the three named learning areas without answering the warm-up for students.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a:p xmlns:a="http://schemas.openxmlformats.org/drawingml/2006/main">
            <a:r>
              <a:t>- Generated title visual: assets/m06-s03-biosecurity-response.png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quiet thinking time before taking responses.</a:t>
            </a:r>
          </a:p>
          <a:p xmlns:a="http://schemas.openxmlformats.org/drawingml/2006/main">
            <a:r>
              <a:t>The three named areas are Read the microclimate; Diagnose crop stress; Biosecurity and responsible choices.</a:t>
            </a:r>
          </a:p>
          <a:p xmlns:a="http://schemas.openxmlformats.org/drawingml/2006/main">
            <a:r>
              <a:t>Keep initial answers provisional. The deck is designed to improve them with evidence.</a:t>
            </a:r>
          </a:p>
          <a:p xmlns:a="http://schemas.openxmlformats.org/drawingml/2006/main">
            <a:r>
              <a:t>Do not introduce outcome codes or local practical facts on this student-facing slide.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Read the microclimate concrete before students apply it to the Farm in a Box.</a:t>
            </a:r>
          </a:p>
          <a:p xmlns:a="http://schemas.openxmlformats.org/drawingml/2006/main">
            <a:r>
              <a:t>Talking point 1: A microclimate is the local pattern of light, temperature, moisture, airflow and exposure around a growing site. Repeated, comparable observations turn that pattern into design evidence.</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A single reading tells us what the growing site is always like.</a:t>
            </a:r>
          </a:p>
          <a:p xmlns:a="http://schemas.openxmlformats.org/drawingml/2006/main">
            <a:r>
              <a:t>Correction: A single reading is one snapshot. Repeated observations at stated times are needed before claiming a site pattern.</a:t>
            </a:r>
          </a:p>
          <a:p xmlns:a="http://schemas.openxmlformats.org/drawingml/2006/main">
            <a:r>
              <a:t>Prompt: Students interpret a fictional week of site observations and recommend what should be investigated next, without assuming a particular local crop, container or watering rate.</a:t>
            </a:r>
          </a:p>
          <a:p xmlns:a="http://schemas.openxmlformats.org/drawingml/2006/main">
            <a:r>
              <a:t>Transition: connect this idea to Diagnose crop stress.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assets/m06-s01-microclimate-site.png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Diagnose crop stress concrete before students apply it to the Farm in a Box.</a:t>
            </a:r>
          </a:p>
          <a:p xmlns:a="http://schemas.openxmlformats.org/drawingml/2006/main">
            <a:r>
              <a:t>Talking point 1: Crop stress symptoms are clues. Diagnosis means describing the pattern, checking records, comparing evidence, ranking explanations and testing only one approved factor at a time.</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One visible symptom proves one particular cause.</a:t>
            </a:r>
          </a:p>
          <a:p xmlns:a="http://schemas.openxmlformats.org/drawingml/2006/main">
            <a:r>
              <a:t>Correction: A symptom is a clue shared by several possible causes; the pattern, history and comparison evidence must be checked.</a:t>
            </a:r>
          </a:p>
          <a:p xmlns:a="http://schemas.openxmlformats.org/drawingml/2006/main">
            <a:r>
              <a:t>Prompt: Students use a fictional crop record showing uneven drooping to build a diagnosis flowchart and choose the next evidence-gathering step, not a chemical or local treatment.</a:t>
            </a:r>
          </a:p>
          <a:p xmlns:a="http://schemas.openxmlformats.org/drawingml/2006/main">
            <a:r>
              <a:t>Transition: connect this idea to Biosecurity and responsible choices.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assets/m06-s02-crop-stress-evidence.png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make Biosecurity and responsible choices concrete before students apply it to the Farm in a Box.</a:t>
            </a:r>
          </a:p>
          <a:p xmlns:a="http://schemas.openxmlformats.org/drawingml/2006/main">
            <a:r>
              <a:t>Talking point 1: Biosecurity is shared care that limits unwanted movement. Students respond responsibly by observing, recording, avoiding spread and reporting instead of guessing a treatment.</a:t>
            </a:r>
          </a:p>
          <a:p xmlns:a="http://schemas.openxmlformats.org/drawingml/2006/main">
            <a:r>
              <a:t>Talking point 2: connect the image to the decision or evidence prompt; ask students what feature they notice and why it matters.</a:t>
            </a:r>
          </a:p>
          <a:p xmlns:a="http://schemas.openxmlformats.org/drawingml/2006/main">
            <a:r>
              <a:t>Likely misconception: Biosecurity means students should identify and treat every unfamiliar organism themselves.</a:t>
            </a:r>
          </a:p>
          <a:p xmlns:a="http://schemas.openxmlformats.org/drawingml/2006/main">
            <a:r>
              <a:t>Correction: Students should avoid spread, record the evidence and report it; identification and treatment follow authorised local controls.</a:t>
            </a:r>
          </a:p>
          <a:p xmlns:a="http://schemas.openxmlformats.org/drawingml/2006/main">
            <a:r>
              <a:t>Prompt: Students respond to an illustrated unknown-organism scenario by selecting a no-spread evidence pathway and explaining its social and ethical consequences.</a:t>
            </a:r>
          </a:p>
          <a:p xmlns:a="http://schemas.openxmlformats.org/drawingml/2006/main">
            <a:r>
              <a:t>Transition: move from explanation to retrieval across all three ideas.</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Generated teaching visual: assets/m06-s03-biosecurity-response.png — OpenAI image generation, 2026-09-02.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think-pair-share: students answer silently, cite one deck idea, then improve their explanation with a partner.</a:t>
            </a:r>
          </a:p>
          <a:p xmlns:a="http://schemas.openxmlformats.org/drawingml/2006/main">
            <a:r>
              <a:t>Question 1 checks Read the microclimate.</a:t>
            </a:r>
          </a:p>
          <a:p xmlns:a="http://schemas.openxmlformats.org/drawingml/2006/main">
            <a:r>
              <a:t>Question 2 checks Diagnose crop stress.</a:t>
            </a:r>
          </a:p>
          <a:p xmlns:a="http://schemas.openxmlformats.org/drawingml/2006/main">
            <a:r>
              <a:t>Question 3 checks Biosecurity and responsible choices.</a:t>
            </a:r>
          </a:p>
          <a:p xmlns:a="http://schemas.openxmlformats.org/drawingml/2006/main">
            <a:r>
              <a:t>Ask for reasoning, not only a short answer. Correct overclaiming and invented local detail.</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Response purpose: Justify a responsible response to an unfamiliar organism found in a school crop-production system.</a:t>
            </a:r>
          </a:p>
          <a:p xmlns:a="http://schemas.openxmlformats.org/drawingml/2006/main">
            <a:r>
              <a:t>Scaffold prompts: What should the student do immediately and what should they avoid? | What evidence should be recorded and reported? | Who or what could be affected if the unknown is moved? | How do social, ethical or authorised-rule considerations support your decision?</a:t>
            </a:r>
          </a:p>
          <a:p xmlns:a="http://schemas.openxmlformats.org/drawingml/2006/main">
            <a:r>
              <a:t>Success criteria: Proposes a clear stop–record–avoid spread–report pathway. | Justifies the pathway using at least two wider consequences. | Keeps identification, treatment and local rules within authorised control.</a:t>
            </a:r>
          </a:p>
          <a:p xmlns:a="http://schemas.openxmlformats.org/drawingml/2006/main">
            <a:r>
              <a:t>Appropriate response example for teacher modelling: The most responsible first response is to leave the crop box in place, avoid handling the unfamiliar organism, record its location and appearance, and report it to the teacher. Carrying it to another area could spread a problem and reduce trust in the production record. This choice protects nearby crops and preserves evidence for an authorised decision. I would not name a species, select a treatment or invent a rule because those steps require reliable identification and local authority.</a:t>
            </a:r>
          </a:p>
          <a:p xmlns:a="http://schemas.openxmlformats.org/drawingml/2006/main">
            <a:r>
              <a:t>Model how to acknowledge uncertainty without weakening a claim supported by evidence.</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destination: microclimate site audit; crop-stress diagnosis flowchart; biosecurity and responsible-response decision.</a:t>
            </a:r>
          </a:p>
          <a:p xmlns:a="http://schemas.openxmlformats.org/drawingml/2006/main">
            <a:r>
              <a:t>Students save a concise exit response in their local folio or on paper.</a:t>
            </a:r>
          </a:p>
          <a:p xmlns:a="http://schemas.openxmlformats.org/drawingml/2006/main">
            <a:r>
              <a:t>Accept a specific unanswered local-control question; do not pressure students to invent the answer.</a:t>
            </a:r>
          </a:p>
          <a:p xmlns:a="http://schemas.openxmlformats.org/drawingml/2006/main">
            <a:r>
              <a:t>Next step: continue to Module 7.</a:t>
            </a:r>
          </a:p>
          <a:p xmlns:a="http://schemas.openxmlformats.org/drawingml/2006/main">
            <a:r>
              <a:t/>
            </a:r>
          </a:p>
          <a:p xmlns:a="http://schemas.openxmlformats.org/drawingml/2006/main">
            <a:r>
              <a:t>[Sources]</a:t>
            </a:r>
          </a:p>
          <a:p xmlns:a="http://schemas.openxmlformats.org/drawingml/2006/main">
            <a:r>
              <a:t>- Technology 7–8 Syllabus (2023) – Food and agricultural practices content — https://curriculum.nsw.edu.au/learning-areas/tas/technology-7-8-2023/content/stage-4/faa6e5f8d5</a:t>
            </a:r>
          </a:p>
          <a:p xmlns:a="http://schemas.openxmlformats.org/drawingml/2006/main">
            <a:r>
              <a:t>- Technology 7–8 (2023): Sample unit (Stage 4) – Micro farm — https://library.curriculum.nsw.edu.au/341419dc-8ec2-0289-7225-6db7f2d751ef/de7fba4f-172d-4d41-b88a-c48ca8b1e40e/technology-7-8-2023-sample-unit-stage-4-micro-farm.DOCX</a:t>
            </a:r>
          </a:p>
          <a:p xmlns:a="http://schemas.openxmlformats.org/drawingml/2006/main">
            <a:r>
              <a:t>- Technology 7–8 – Food and agricultural practices – Grow up! vertical garden adventure — https://education.nsw.gov.au/content/dam/main-education/documents/teaching-and-learning/curriculum/tas/tas-s4-agriculture-10-week-program-grow-up.docx</a:t>
            </a:r>
          </a:p>
          <a:p xmlns:a="http://schemas.openxmlformats.org/drawingml/2006/main">
            <a:r>
              <a:t>- Course design brief: resources/core/design-brief-v1.0.json.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f13a167088044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0675e6db3774914" /><Relationship Type="http://schemas.openxmlformats.org/officeDocument/2006/relationships/slideLayout" Target="/ppt/slideLayouts/slideLayout1.xml" Id="R62089d0e7a8b4a7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2089d0e7a8b4a7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c00cb0094714ffb" /><Relationship Type="http://schemas.openxmlformats.org/officeDocument/2006/relationships/image" Target="/ppt/media/image.png" Id="R5304fbb518cf4f97" /><Relationship Type="http://schemas.openxmlformats.org/officeDocument/2006/relationships/notesSlide" Target="/ppt/notesSlides/notesSlide1.xml" Id="R583915351b8640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715172b88704858" /><Relationship Type="http://schemas.openxmlformats.org/officeDocument/2006/relationships/notesSlide" Target="/ppt/notesSlides/notesSlide2.xml" Id="R689b1c3d09df46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75ca1e0cf20643a2" /><Relationship Type="http://schemas.openxmlformats.org/officeDocument/2006/relationships/image" Target="/ppt/media/image2.png" Id="R777baa5f803d4041" /><Relationship Type="http://schemas.openxmlformats.org/officeDocument/2006/relationships/notesSlide" Target="/ppt/notesSlides/notesSlide3.xml" Id="Rd06ac4d9b745498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bc6e976b0bf433c" /><Relationship Type="http://schemas.openxmlformats.org/officeDocument/2006/relationships/image" Target="/ppt/media/image3.png" Id="R37549e69b43a43e9" /><Relationship Type="http://schemas.openxmlformats.org/officeDocument/2006/relationships/notesSlide" Target="/ppt/notesSlides/notesSlide4.xml" Id="R3e3c04a95e6d4e0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ce70d9ce53b4e96" /><Relationship Type="http://schemas.openxmlformats.org/officeDocument/2006/relationships/image" Target="/ppt/media/image4.png" Id="R0f5c73463bec44a7" /><Relationship Type="http://schemas.openxmlformats.org/officeDocument/2006/relationships/notesSlide" Target="/ppt/notesSlides/notesSlide5.xml" Id="R7db6e3a0388d403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6e3ba0b0ff646b0" /><Relationship Type="http://schemas.openxmlformats.org/officeDocument/2006/relationships/notesSlide" Target="/ppt/notesSlides/notesSlide6.xml" Id="R7cee7e31fde7418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491a087db284a0e" /><Relationship Type="http://schemas.openxmlformats.org/officeDocument/2006/relationships/notesSlide" Target="/ppt/notesSlides/notesSlide7.xml" Id="R6a6fbe81f84143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e5b11bd69814272" /><Relationship Type="http://schemas.openxmlformats.org/officeDocument/2006/relationships/notesSlide" Target="/ppt/notesSlides/notesSlide8.xml" Id="R94a094ca39124638" /></Relationships>
</file>

<file path=ppt/slides/slide1.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pic>
        <p:nvPicPr>
          <p:cNvPr id="9" name="" descr="A student stands back to photograph an unfamiliar leaf mark while a teacher approaches the crop box."/>
          <p:cNvPicPr>
            <a:picLocks xmlns:a="http://schemas.openxmlformats.org/drawingml/2006/main" noChangeAspect="1"/>
          </p:cNvPicPr>
          <p:nvPr/>
        </p:nvPicPr>
        <p:blipFill>
          <a:blip xmlns:r="http://schemas.openxmlformats.org/officeDocument/2006/relationships" xmlns:a="http://schemas.openxmlformats.org/drawingml/2006/main" r:embed="R5304fbb518cf4f97"/>
          <a:srcRect xmlns:a="http://schemas.openxmlformats.org/drawingml/2006/main" l="24074" t="0" r="24074"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oundRect">
            <a:avLst/>
          </a:prstGeom>
        </p:spPr>
      </p:pic>
      <p:sp>
        <p:nvSpPr>
          <p:cNvPr id="2" name="">
            <a:extLst xmlns:a="http://schemas.openxmlformats.org/drawingml/2006/main">
              <a:ext uri="{FF2B5EF4-FFF2-40B4-BE49-F238E27FC236}">
                <a16:creationId xmlns:a16="http://schemas.microsoft.com/office/drawing/2014/main" id="{5DDC6767-FBED-4B8C-87DB-E5C45208740C}"/>
              </a:ext>
            </a:extLst>
          </p:cNvPr>
          <p:cNvSpPr>
            <a:spLocks xmlns:a="http://schemas.openxmlformats.org/drawingml/2006/main" noGrp="1"/>
          </p:cNvSpPr>
          <p:nvPr/>
        </p:nvSpPr>
        <p:spPr>
          <a:xfrm xmlns:a="http://schemas.openxmlformats.org/drawingml/2006/main">
            <a:off x="0" y="0"/>
            <a:ext cx="7381875" cy="6858000"/>
          </a:xfrm>
          <a:prstGeom xmlns:a="http://schemas.openxmlformats.org/drawingml/2006/main" prst="rect">
            <a:avLst/>
          </a:prstGeom>
          <a:solidFill xmlns:a="http://schemas.openxmlformats.org/drawingml/2006/main">
            <a:srgbClr val="183B23"/>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A99C420-5171-4EC7-A8BF-3C1B5CDFF14E}"/>
              </a:ext>
            </a:extLst>
          </p:cNvPr>
          <p:cNvSpPr>
            <a:spLocks xmlns:a="http://schemas.openxmlformats.org/drawingml/2006/main" noGrp="1"/>
          </p:cNvSpPr>
          <p:nvPr/>
        </p:nvSpPr>
        <p:spPr>
          <a:xfrm xmlns:a="http://schemas.openxmlformats.org/drawingml/2006/main">
            <a:off x="609600" y="781050"/>
            <a:ext cx="914400" cy="952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67A7E03A-6CA1-4F04-A15E-5AD9A1E49696}"/>
              </a:ext>
            </a:extLst>
          </p:cNvPr>
          <p:cNvSpPr>
            <a:spLocks xmlns:a="http://schemas.openxmlformats.org/drawingml/2006/main" noGrp="1"/>
          </p:cNvSpPr>
          <p:nvPr/>
        </p:nvSpPr>
        <p:spPr>
          <a:xfrm xmlns:a="http://schemas.openxmlformats.org/drawingml/2006/main">
            <a:off x="609600" y="1123950"/>
            <a:ext cx="342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FFF4BA"/>
                </a:solidFill>
              </a:defRPr>
            </a:pPr>
            <a:r>
              <a:rPr sz="1350" b="1" i="0">
                <a:solidFill>
                  <a:srgbClr val="FFF4BA"/>
                </a:solidFill>
              </a:rPr>
              <a:t>MODULE 6</a:t>
            </a:r>
          </a:p>
        </p:txBody>
      </p:sp>
      <p:sp>
        <p:nvSpPr>
          <p:cNvPr id="5" name="">
            <a:extLst xmlns:a="http://schemas.openxmlformats.org/drawingml/2006/main">
              <a:ext uri="{FF2B5EF4-FFF2-40B4-BE49-F238E27FC236}">
                <a16:creationId xmlns:a16="http://schemas.microsoft.com/office/drawing/2014/main" id="{A717F306-E48A-4321-97FF-62189FBE141A}"/>
              </a:ext>
            </a:extLst>
          </p:cNvPr>
          <p:cNvSpPr>
            <a:spLocks xmlns:a="http://schemas.openxmlformats.org/drawingml/2006/main" noGrp="1"/>
          </p:cNvSpPr>
          <p:nvPr/>
        </p:nvSpPr>
        <p:spPr>
          <a:xfrm xmlns:a="http://schemas.openxmlformats.org/drawingml/2006/main">
            <a:off x="609600" y="1695450"/>
            <a:ext cx="5715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050" b="1" i="0">
                <a:solidFill>
                  <a:srgbClr val="FFFFFF"/>
                </a:solidFill>
              </a:defRPr>
            </a:pPr>
            <a:r>
              <a:rPr sz="4050" b="1" i="0">
                <a:solidFill>
                  <a:srgbClr val="FFFFFF"/>
                </a:solidFill>
              </a:rPr>
              <a:t>Farm Under Pressure</a:t>
            </a:r>
          </a:p>
        </p:txBody>
      </p:sp>
      <p:sp>
        <p:nvSpPr>
          <p:cNvPr id="6" name="">
            <a:extLst xmlns:a="http://schemas.openxmlformats.org/drawingml/2006/main">
              <a:ext uri="{FF2B5EF4-FFF2-40B4-BE49-F238E27FC236}">
                <a16:creationId xmlns:a16="http://schemas.microsoft.com/office/drawing/2014/main" id="{A56DB3DE-EB5D-48BA-9023-C4B1C1DBE1FA}"/>
              </a:ext>
            </a:extLst>
          </p:cNvPr>
          <p:cNvSpPr>
            <a:spLocks xmlns:a="http://schemas.openxmlformats.org/drawingml/2006/main" noGrp="1"/>
          </p:cNvSpPr>
          <p:nvPr/>
        </p:nvSpPr>
        <p:spPr>
          <a:xfrm xmlns:a="http://schemas.openxmlformats.org/drawingml/2006/main">
            <a:off x="609600" y="3486150"/>
            <a:ext cx="54292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EAF2E6"/>
                </a:solidFill>
              </a:defRPr>
            </a:pPr>
            <a:r>
              <a:rPr sz="1875" b="0" i="0">
                <a:solidFill>
                  <a:srgbClr val="EAF2E6"/>
                </a:solidFill>
              </a:rPr>
              <a:t>Read conditions, diagnose stress and respond responsibly</a:t>
            </a:r>
          </a:p>
        </p:txBody>
      </p:sp>
      <p:sp>
        <p:nvSpPr>
          <p:cNvPr id="7" name="">
            <a:extLst xmlns:a="http://schemas.openxmlformats.org/drawingml/2006/main">
              <a:ext uri="{FF2B5EF4-FFF2-40B4-BE49-F238E27FC236}">
                <a16:creationId xmlns:a16="http://schemas.microsoft.com/office/drawing/2014/main" id="{FB6FC807-182F-4E00-8DA0-65F2F19E56FD}"/>
              </a:ext>
            </a:extLst>
          </p:cNvPr>
          <p:cNvSpPr>
            <a:spLocks xmlns:a="http://schemas.openxmlformats.org/drawingml/2006/main" noGrp="1"/>
          </p:cNvSpPr>
          <p:nvPr/>
        </p:nvSpPr>
        <p:spPr>
          <a:xfrm xmlns:a="http://schemas.openxmlformats.org/drawingml/2006/main">
            <a:off x="609600" y="5810250"/>
            <a:ext cx="495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C8D8C6"/>
                </a:solidFill>
              </a:defRPr>
            </a:pPr>
            <a:r>
              <a:rPr sz="1125" b="1" i="0">
                <a:solidFill>
                  <a:srgbClr val="C8D8C6"/>
                </a:solidFill>
              </a:rPr>
              <a:t>Teacher-led classroom presentation</a:t>
            </a:r>
          </a:p>
        </p:txBody>
      </p:sp>
    </p:spTree>
    <p:extLst>
      <p:ext uri="{BB962C8B-B14F-4D97-AF65-F5344CB8AC3E}">
        <p14:creationId xmlns:p14="http://schemas.microsoft.com/office/powerpoint/2010/main" val="270010721"/>
      </p:ext>
    </p:extLst>
  </p:cSld>
</p:sld>
</file>

<file path=ppt/slides/slide2.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DBDBF2C-310D-4A64-96FF-94E5F17719E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B2CA8B1-7554-4700-BD2A-5F0DF567BB77}"/>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TODAY’S LEARNING PATH</a:t>
            </a:r>
          </a:p>
        </p:txBody>
      </p:sp>
      <p:sp>
        <p:nvSpPr>
          <p:cNvPr id="3" name="">
            <a:extLst xmlns:a="http://schemas.openxmlformats.org/drawingml/2006/main">
              <a:ext uri="{FF2B5EF4-FFF2-40B4-BE49-F238E27FC236}">
                <a16:creationId xmlns:a16="http://schemas.microsoft.com/office/drawing/2014/main" id="{F7DD0752-BF01-4DA7-827C-5A23A399647D}"/>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681CD538-5CFF-4BCB-9460-442EA0C5F8E1}"/>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02</a:t>
            </a:r>
          </a:p>
        </p:txBody>
      </p:sp>
      <p:sp>
        <p:nvSpPr>
          <p:cNvPr id="5" name="">
            <a:extLst xmlns:a="http://schemas.openxmlformats.org/drawingml/2006/main">
              <a:ext uri="{FF2B5EF4-FFF2-40B4-BE49-F238E27FC236}">
                <a16:creationId xmlns:a16="http://schemas.microsoft.com/office/drawing/2014/main" id="{787A486F-791E-43B5-8E7A-CD905741ED1E}"/>
              </a:ext>
            </a:extLst>
          </p:cNvPr>
          <p:cNvSpPr>
            <a:spLocks xmlns:a="http://schemas.openxmlformats.org/drawingml/2006/main" noGrp="1"/>
          </p:cNvSpPr>
          <p:nvPr/>
        </p:nvSpPr>
        <p:spPr>
          <a:xfrm xmlns:a="http://schemas.openxmlformats.org/drawingml/2006/main">
            <a:off x="590550" y="800100"/>
            <a:ext cx="6381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Where are we going?</a:t>
            </a:r>
          </a:p>
        </p:txBody>
      </p:sp>
      <p:sp>
        <p:nvSpPr>
          <p:cNvPr id="6" name="">
            <a:extLst xmlns:a="http://schemas.openxmlformats.org/drawingml/2006/main">
              <a:ext uri="{FF2B5EF4-FFF2-40B4-BE49-F238E27FC236}">
                <a16:creationId xmlns:a16="http://schemas.microsoft.com/office/drawing/2014/main" id="{E75664AC-FB08-425C-8AA7-315EDA39ADC7}"/>
              </a:ext>
            </a:extLst>
          </p:cNvPr>
          <p:cNvSpPr>
            <a:spLocks xmlns:a="http://schemas.openxmlformats.org/drawingml/2006/main" noGrp="1"/>
          </p:cNvSpPr>
          <p:nvPr/>
        </p:nvSpPr>
        <p:spPr>
          <a:xfrm xmlns:a="http://schemas.openxmlformats.org/drawingml/2006/main">
            <a:off x="590550" y="18097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B3105BA8-A929-4638-9F0D-FA15A0461C8D}"/>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B440AE38-316B-41A3-BD42-CF536212CDB4}"/>
              </a:ext>
            </a:extLst>
          </p:cNvPr>
          <p:cNvSpPr>
            <a:spLocks xmlns:a="http://schemas.openxmlformats.org/drawingml/2006/main" noGrp="1"/>
          </p:cNvSpPr>
          <p:nvPr/>
        </p:nvSpPr>
        <p:spPr>
          <a:xfrm xmlns:a="http://schemas.openxmlformats.org/drawingml/2006/main">
            <a:off x="781050" y="20193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9" name="">
            <a:extLst xmlns:a="http://schemas.openxmlformats.org/drawingml/2006/main">
              <a:ext uri="{FF2B5EF4-FFF2-40B4-BE49-F238E27FC236}">
                <a16:creationId xmlns:a16="http://schemas.microsoft.com/office/drawing/2014/main" id="{D2636371-F009-4793-8A9D-5DA7D4A5B65D}"/>
              </a:ext>
            </a:extLst>
          </p:cNvPr>
          <p:cNvSpPr>
            <a:spLocks xmlns:a="http://schemas.openxmlformats.org/drawingml/2006/main" noGrp="1"/>
          </p:cNvSpPr>
          <p:nvPr/>
        </p:nvSpPr>
        <p:spPr>
          <a:xfrm xmlns:a="http://schemas.openxmlformats.org/drawingml/2006/main">
            <a:off x="1466850" y="19716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Read the microclimate</a:t>
            </a:r>
          </a:p>
        </p:txBody>
      </p:sp>
      <p:sp>
        <p:nvSpPr>
          <p:cNvPr id="10" name="">
            <a:extLst xmlns:a="http://schemas.openxmlformats.org/drawingml/2006/main">
              <a:ext uri="{FF2B5EF4-FFF2-40B4-BE49-F238E27FC236}">
                <a16:creationId xmlns:a16="http://schemas.microsoft.com/office/drawing/2014/main" id="{4F7BA53B-606F-4304-882D-F4D1ADE02C2C}"/>
              </a:ext>
            </a:extLst>
          </p:cNvPr>
          <p:cNvSpPr>
            <a:spLocks xmlns:a="http://schemas.openxmlformats.org/drawingml/2006/main" noGrp="1"/>
          </p:cNvSpPr>
          <p:nvPr/>
        </p:nvSpPr>
        <p:spPr>
          <a:xfrm xmlns:a="http://schemas.openxmlformats.org/drawingml/2006/main">
            <a:off x="590550" y="30289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1" name="">
            <a:extLst xmlns:a="http://schemas.openxmlformats.org/drawingml/2006/main">
              <a:ext uri="{FF2B5EF4-FFF2-40B4-BE49-F238E27FC236}">
                <a16:creationId xmlns:a16="http://schemas.microsoft.com/office/drawing/2014/main" id="{0043916A-5BBF-4A16-BDCD-9BE5EC91EEAC}"/>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2C72C7C-9375-4AA3-AE31-F0B477E8D755}"/>
              </a:ext>
            </a:extLst>
          </p:cNvPr>
          <p:cNvSpPr>
            <a:spLocks xmlns:a="http://schemas.openxmlformats.org/drawingml/2006/main" noGrp="1"/>
          </p:cNvSpPr>
          <p:nvPr/>
        </p:nvSpPr>
        <p:spPr>
          <a:xfrm xmlns:a="http://schemas.openxmlformats.org/drawingml/2006/main">
            <a:off x="781050" y="32385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2</a:t>
            </a:r>
          </a:p>
        </p:txBody>
      </p:sp>
      <p:sp>
        <p:nvSpPr>
          <p:cNvPr id="13" name="">
            <a:extLst xmlns:a="http://schemas.openxmlformats.org/drawingml/2006/main">
              <a:ext uri="{FF2B5EF4-FFF2-40B4-BE49-F238E27FC236}">
                <a16:creationId xmlns:a16="http://schemas.microsoft.com/office/drawing/2014/main" id="{90C1D0B6-2361-4CE6-B503-3C9132120241}"/>
              </a:ext>
            </a:extLst>
          </p:cNvPr>
          <p:cNvSpPr>
            <a:spLocks xmlns:a="http://schemas.openxmlformats.org/drawingml/2006/main" noGrp="1"/>
          </p:cNvSpPr>
          <p:nvPr/>
        </p:nvSpPr>
        <p:spPr>
          <a:xfrm xmlns:a="http://schemas.openxmlformats.org/drawingml/2006/main">
            <a:off x="1466850" y="31908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Diagnose crop stress</a:t>
            </a:r>
          </a:p>
        </p:txBody>
      </p:sp>
      <p:sp>
        <p:nvSpPr>
          <p:cNvPr id="14" name="">
            <a:extLst xmlns:a="http://schemas.openxmlformats.org/drawingml/2006/main">
              <a:ext uri="{FF2B5EF4-FFF2-40B4-BE49-F238E27FC236}">
                <a16:creationId xmlns:a16="http://schemas.microsoft.com/office/drawing/2014/main" id="{F5F91D46-CF52-4203-8D42-D67D710B6DA9}"/>
              </a:ext>
            </a:extLst>
          </p:cNvPr>
          <p:cNvSpPr>
            <a:spLocks xmlns:a="http://schemas.openxmlformats.org/drawingml/2006/main" noGrp="1"/>
          </p:cNvSpPr>
          <p:nvPr/>
        </p:nvSpPr>
        <p:spPr>
          <a:xfrm xmlns:a="http://schemas.openxmlformats.org/drawingml/2006/main">
            <a:off x="590550" y="4248150"/>
            <a:ext cx="6858000" cy="895350"/>
          </a:xfrm>
          <a:prstGeom xmlns:a="http://schemas.openxmlformats.org/drawingml/2006/main" prst="roundRect">
            <a:avLst>
              <a:gd name="adj" fmla="val 12766"/>
            </a:avLst>
          </a:prstGeom>
          <a:solidFill xmlns:a="http://schemas.openxmlformats.org/drawingml/2006/main">
            <a:srgbClr val="FFFFFF"/>
          </a:solidFill>
          <a:ln xmlns:a="http://schemas.openxmlformats.org/drawingml/2006/main" w="9525">
            <a:solidFill>
              <a:srgbClr val="D9DDCF"/>
            </a:solidFill>
            <a:prstDash val="solid"/>
          </a:ln>
        </p:spPr>
      </p:sp>
      <p:sp>
        <p:nvSpPr>
          <p:cNvPr id="15" name="">
            <a:extLst xmlns:a="http://schemas.openxmlformats.org/drawingml/2006/main">
              <a:ext uri="{FF2B5EF4-FFF2-40B4-BE49-F238E27FC236}">
                <a16:creationId xmlns:a16="http://schemas.microsoft.com/office/drawing/2014/main" id="{E1DABAA6-79B0-4550-96A5-C036FE18F9AF}"/>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8C063E-692F-4341-8C6B-F669E627A8C0}"/>
              </a:ext>
            </a:extLst>
          </p:cNvPr>
          <p:cNvSpPr>
            <a:spLocks xmlns:a="http://schemas.openxmlformats.org/drawingml/2006/main" noGrp="1"/>
          </p:cNvSpPr>
          <p:nvPr/>
        </p:nvSpPr>
        <p:spPr>
          <a:xfrm xmlns:a="http://schemas.openxmlformats.org/drawingml/2006/main">
            <a:off x="781050" y="4457700"/>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183B23"/>
                </a:solidFill>
              </a:defRPr>
            </a:pPr>
            <a:r>
              <a:rPr sz="1500" b="1" i="0">
                <a:solidFill>
                  <a:srgbClr val="183B23"/>
                </a:solidFill>
              </a:rPr>
              <a:t>3</a:t>
            </a:r>
          </a:p>
        </p:txBody>
      </p:sp>
      <p:sp>
        <p:nvSpPr>
          <p:cNvPr id="17" name="">
            <a:extLst xmlns:a="http://schemas.openxmlformats.org/drawingml/2006/main">
              <a:ext uri="{FF2B5EF4-FFF2-40B4-BE49-F238E27FC236}">
                <a16:creationId xmlns:a16="http://schemas.microsoft.com/office/drawing/2014/main" id="{FF8C2518-A249-477C-9BE0-0EC98D63165B}"/>
              </a:ext>
            </a:extLst>
          </p:cNvPr>
          <p:cNvSpPr>
            <a:spLocks xmlns:a="http://schemas.openxmlformats.org/drawingml/2006/main" noGrp="1"/>
          </p:cNvSpPr>
          <p:nvPr/>
        </p:nvSpPr>
        <p:spPr>
          <a:xfrm xmlns:a="http://schemas.openxmlformats.org/drawingml/2006/main">
            <a:off x="1466850" y="4410075"/>
            <a:ext cx="5524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Biosecurity and responsible choices</a:t>
            </a:r>
          </a:p>
        </p:txBody>
      </p:sp>
      <p:sp>
        <p:nvSpPr>
          <p:cNvPr id="18" name="">
            <a:extLst xmlns:a="http://schemas.openxmlformats.org/drawingml/2006/main">
              <a:ext uri="{FF2B5EF4-FFF2-40B4-BE49-F238E27FC236}">
                <a16:creationId xmlns:a16="http://schemas.microsoft.com/office/drawing/2014/main" id="{ACC4D474-B7D2-4D37-BBFA-8E7BDBCB7CBC}"/>
              </a:ext>
            </a:extLst>
          </p:cNvPr>
          <p:cNvSpPr>
            <a:spLocks xmlns:a="http://schemas.openxmlformats.org/drawingml/2006/main" noGrp="1"/>
          </p:cNvSpPr>
          <p:nvPr/>
        </p:nvSpPr>
        <p:spPr>
          <a:xfrm xmlns:a="http://schemas.openxmlformats.org/drawingml/2006/main">
            <a:off x="7905750" y="1809750"/>
            <a:ext cx="3619500" cy="3333750"/>
          </a:xfrm>
          <a:prstGeom xmlns:a="http://schemas.openxmlformats.org/drawingml/2006/main" prst="roundRect">
            <a:avLst>
              <a:gd name="adj" fmla="val 3429"/>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86465220-8E16-40F5-B314-B9DC75BC6DCE}"/>
              </a:ext>
            </a:extLst>
          </p:cNvPr>
          <p:cNvSpPr>
            <a:spLocks xmlns:a="http://schemas.openxmlformats.org/drawingml/2006/main" noGrp="1"/>
          </p:cNvSpPr>
          <p:nvPr/>
        </p:nvSpPr>
        <p:spPr>
          <a:xfrm xmlns:a="http://schemas.openxmlformats.org/drawingml/2006/main">
            <a:off x="8239125" y="21336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125" b="1" i="0">
                <a:solidFill>
                  <a:srgbClr val="FFF4BA"/>
                </a:solidFill>
              </a:defRPr>
            </a:pPr>
            <a:r>
              <a:rPr sz="1125" b="1" i="0">
                <a:solidFill>
                  <a:srgbClr val="FFF4BA"/>
                </a:solidFill>
              </a:rPr>
              <a:t>RETRIEVAL WARM-UP</a:t>
            </a:r>
          </a:p>
        </p:txBody>
      </p:sp>
      <p:sp>
        <p:nvSpPr>
          <p:cNvPr id="20" name="">
            <a:extLst xmlns:a="http://schemas.openxmlformats.org/drawingml/2006/main">
              <a:ext uri="{FF2B5EF4-FFF2-40B4-BE49-F238E27FC236}">
                <a16:creationId xmlns:a16="http://schemas.microsoft.com/office/drawing/2014/main" id="{DF63D2C9-641C-4015-9B88-6E535827C157}"/>
              </a:ext>
            </a:extLst>
          </p:cNvPr>
          <p:cNvSpPr>
            <a:spLocks xmlns:a="http://schemas.openxmlformats.org/drawingml/2006/main" noGrp="1"/>
          </p:cNvSpPr>
          <p:nvPr/>
        </p:nvSpPr>
        <p:spPr>
          <a:xfrm xmlns:a="http://schemas.openxmlformats.org/drawingml/2006/main">
            <a:off x="8239125" y="2619375"/>
            <a:ext cx="285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i="0">
                <a:solidFill>
                  <a:srgbClr val="FFFFFF"/>
                </a:solidFill>
              </a:defRPr>
            </a:pPr>
            <a:r>
              <a:rPr sz="2100" b="1" i="0">
                <a:solidFill>
                  <a:srgbClr val="FFFFFF"/>
                </a:solidFill>
              </a:rPr>
              <a:t>What do you already know?</a:t>
            </a:r>
          </a:p>
        </p:txBody>
      </p:sp>
      <p:sp>
        <p:nvSpPr>
          <p:cNvPr id="21" name="">
            <a:extLst xmlns:a="http://schemas.openxmlformats.org/drawingml/2006/main">
              <a:ext uri="{FF2B5EF4-FFF2-40B4-BE49-F238E27FC236}">
                <a16:creationId xmlns:a16="http://schemas.microsoft.com/office/drawing/2014/main" id="{178CD01D-1F8C-473E-AC69-E8077BE1AF46}"/>
              </a:ext>
            </a:extLst>
          </p:cNvPr>
          <p:cNvSpPr>
            <a:spLocks xmlns:a="http://schemas.openxmlformats.org/drawingml/2006/main" noGrp="1"/>
          </p:cNvSpPr>
          <p:nvPr/>
        </p:nvSpPr>
        <p:spPr>
          <a:xfrm xmlns:a="http://schemas.openxmlformats.org/drawingml/2006/main">
            <a:off x="8239125" y="342900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EAF2E6"/>
                </a:solidFill>
              </a:defRPr>
            </a:pPr>
            <a:r>
              <a:rPr sz="1500" b="0" i="0">
                <a:solidFill>
                  <a:srgbClr val="EAF2E6"/>
                </a:solidFill>
              </a:rPr>
              <a:t>1. Define one key word from the module.</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2. Predict one practical or design decision.</a:t>
            </a:r>
          </a:p>
          <a:p xmlns:a="http://schemas.openxmlformats.org/drawingml/2006/main">
            <a:r>
              <a:t/>
            </a:r>
          </a:p>
          <a:p xmlns:a="http://schemas.openxmlformats.org/drawingml/2006/main">
            <a:pPr algn="l">
              <a:buNone/>
              <a:defRPr sz="1500" b="0" i="0">
                <a:solidFill>
                  <a:srgbClr val="EAF2E6"/>
                </a:solidFill>
              </a:defRPr>
            </a:pPr>
            <a:r>
              <a:rPr sz="1500" b="0" i="0">
                <a:solidFill>
                  <a:srgbClr val="EAF2E6"/>
                </a:solidFill>
              </a:rPr>
              <a:t>3. Name one question you have.</a:t>
            </a:r>
          </a:p>
        </p:txBody>
      </p:sp>
    </p:spTree>
    <p:extLst>
      <p:ext uri="{BB962C8B-B14F-4D97-AF65-F5344CB8AC3E}">
        <p14:creationId xmlns:p14="http://schemas.microsoft.com/office/powerpoint/2010/main" val="1569159212"/>
      </p:ext>
    </p:extLst>
  </p:cSld>
</p:sld>
</file>

<file path=ppt/slides/slide3.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26DDF7D-4D63-4314-BD28-3A95707B6C3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2F5A157-0B94-4A30-827C-778C26D841CB}"/>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6.1 READ THE MICROCLIMATE</a:t>
            </a:r>
          </a:p>
        </p:txBody>
      </p:sp>
      <p:sp>
        <p:nvSpPr>
          <p:cNvPr id="3" name="">
            <a:extLst xmlns:a="http://schemas.openxmlformats.org/drawingml/2006/main">
              <a:ext uri="{FF2B5EF4-FFF2-40B4-BE49-F238E27FC236}">
                <a16:creationId xmlns:a16="http://schemas.microsoft.com/office/drawing/2014/main" id="{7E640CE4-1C48-41B9-85DA-A0E1ED475E3C}"/>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16259075-B831-4F3B-A88B-EBDD21016BAB}"/>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03</a:t>
            </a:r>
          </a:p>
        </p:txBody>
      </p:sp>
      <p:sp>
        <p:nvSpPr>
          <p:cNvPr id="5" name="">
            <a:extLst xmlns:a="http://schemas.openxmlformats.org/drawingml/2006/main">
              <a:ext uri="{FF2B5EF4-FFF2-40B4-BE49-F238E27FC236}">
                <a16:creationId xmlns:a16="http://schemas.microsoft.com/office/drawing/2014/main" id="{9E35B22D-C1CE-4790-9B78-D4A7B6ECE701}"/>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the microclimate</a:t>
            </a:r>
          </a:p>
        </p:txBody>
      </p:sp>
      <p:sp>
        <p:nvSpPr>
          <p:cNvPr id="6" name="">
            <a:extLst xmlns:a="http://schemas.openxmlformats.org/drawingml/2006/main">
              <a:ext uri="{FF2B5EF4-FFF2-40B4-BE49-F238E27FC236}">
                <a16:creationId xmlns:a16="http://schemas.microsoft.com/office/drawing/2014/main" id="{9370544F-B467-4B6F-93EB-4278804428F1}"/>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D44CB26E-593A-4091-B06C-20A76CCC3025}"/>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02915E3-19EA-4C04-8740-95C3D07C7BD7}"/>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microclimate is the local pattern of light, temperature, moisture, airflow and exposure around a growing site.</a:t>
            </a:r>
          </a:p>
        </p:txBody>
      </p:sp>
      <p:sp>
        <p:nvSpPr>
          <p:cNvPr id="9" name="">
            <a:extLst xmlns:a="http://schemas.openxmlformats.org/drawingml/2006/main">
              <a:ext uri="{FF2B5EF4-FFF2-40B4-BE49-F238E27FC236}">
                <a16:creationId xmlns:a16="http://schemas.microsoft.com/office/drawing/2014/main" id="{0D7AA41B-04F2-4845-9286-8BE4589FF7DE}"/>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6D5AC9A-5101-4010-899D-FE016A009164}"/>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Repeated, comparable observations turn that pattern into design evidence.</a:t>
            </a:r>
          </a:p>
        </p:txBody>
      </p:sp>
      <p:sp>
        <p:nvSpPr>
          <p:cNvPr id="11" name="">
            <a:extLst xmlns:a="http://schemas.openxmlformats.org/drawingml/2006/main">
              <a:ext uri="{FF2B5EF4-FFF2-40B4-BE49-F238E27FC236}">
                <a16:creationId xmlns:a16="http://schemas.microsoft.com/office/drawing/2014/main" id="{1519EB42-3BAB-4245-BA8C-89FA055B9A5D}"/>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006B4FF-4D09-4114-900E-50F0D6E87FDC}"/>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single reading is one snapshot. Repeated observations at stated times are needed before claiming a site pattern.</a:t>
            </a:r>
          </a:p>
        </p:txBody>
      </p:sp>
      <p:pic>
        <p:nvPicPr>
          <p:cNvPr id="30" name="" descr="Three identical portable crop boxes stand in nearby courtyard positions: open sun, beside a sunlit brick wall and beneath a shaded shelter."/>
          <p:cNvPicPr>
            <a:picLocks xmlns:a="http://schemas.openxmlformats.org/drawingml/2006/main" noChangeAspect="1"/>
          </p:cNvPicPr>
          <p:nvPr/>
        </p:nvPicPr>
        <p:blipFill>
          <a:blip xmlns:r="http://schemas.openxmlformats.org/officeDocument/2006/relationships" xmlns:a="http://schemas.openxmlformats.org/drawingml/2006/main" r:embed="R777baa5f803d4041"/>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0CC2FDDF-5EFF-47DA-BE47-EE6F4254BC53}"/>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CB7C1F6-D627-48C1-9DD6-367DE79A53C0}"/>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“A single reading tells us what the growing site is always like.”</a:t>
            </a:r>
          </a:p>
        </p:txBody>
      </p:sp>
    </p:spTree>
    <p:extLst>
      <p:ext uri="{BB962C8B-B14F-4D97-AF65-F5344CB8AC3E}">
        <p14:creationId xmlns:p14="http://schemas.microsoft.com/office/powerpoint/2010/main" val="1162685457"/>
      </p:ext>
    </p:extLst>
  </p:cSld>
</p:sld>
</file>

<file path=ppt/slides/slide4.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B73A383-F295-4D68-92E5-99DF74B617CA}"/>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E46135E6-0D98-41F6-8FA8-08CB9A49B801}"/>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6.2 DIAGNOSE CROP STRESS</a:t>
            </a:r>
          </a:p>
        </p:txBody>
      </p:sp>
      <p:sp>
        <p:nvSpPr>
          <p:cNvPr id="3" name="">
            <a:extLst xmlns:a="http://schemas.openxmlformats.org/drawingml/2006/main">
              <a:ext uri="{FF2B5EF4-FFF2-40B4-BE49-F238E27FC236}">
                <a16:creationId xmlns:a16="http://schemas.microsoft.com/office/drawing/2014/main" id="{981D6B8A-E1E2-4108-AD1E-FC3C5D7E6AF3}"/>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FB14A80A-2158-4EC0-BB1B-126E92CF5ADC}"/>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04</a:t>
            </a:r>
          </a:p>
        </p:txBody>
      </p:sp>
      <p:sp>
        <p:nvSpPr>
          <p:cNvPr id="5" name="">
            <a:extLst xmlns:a="http://schemas.openxmlformats.org/drawingml/2006/main">
              <a:ext uri="{FF2B5EF4-FFF2-40B4-BE49-F238E27FC236}">
                <a16:creationId xmlns:a16="http://schemas.microsoft.com/office/drawing/2014/main" id="{8FFA64F8-5CD5-47B7-9877-E351C0964B30}"/>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Diagnose crop stress</a:t>
            </a:r>
          </a:p>
        </p:txBody>
      </p:sp>
      <p:sp>
        <p:nvSpPr>
          <p:cNvPr id="6" name="">
            <a:extLst xmlns:a="http://schemas.openxmlformats.org/drawingml/2006/main">
              <a:ext uri="{FF2B5EF4-FFF2-40B4-BE49-F238E27FC236}">
                <a16:creationId xmlns:a16="http://schemas.microsoft.com/office/drawing/2014/main" id="{895B1CFB-9511-496C-BECA-6B4CF96D0637}"/>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3CD8E4FB-3684-4B28-986B-E1711D5C7F65}"/>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840DA2E4-9067-4DCA-AA86-E816F161A574}"/>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Diagnosis means describing the pattern, checking records, comparing evidence, ranking explanations and testing only one approved factor at a time.</a:t>
            </a:r>
          </a:p>
        </p:txBody>
      </p:sp>
      <p:sp>
        <p:nvSpPr>
          <p:cNvPr id="9" name="">
            <a:extLst xmlns:a="http://schemas.openxmlformats.org/drawingml/2006/main">
              <a:ext uri="{FF2B5EF4-FFF2-40B4-BE49-F238E27FC236}">
                <a16:creationId xmlns:a16="http://schemas.microsoft.com/office/drawing/2014/main" id="{441FBEE3-66BF-4FF6-825D-3BCECAE2B96E}"/>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FAB51150-24BD-4093-98C0-9FD51E73F865}"/>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 symptom is a clue shared by several possible causes; the pattern, history and comparison evidence must be checked.</a:t>
            </a:r>
          </a:p>
        </p:txBody>
      </p:sp>
      <p:sp>
        <p:nvSpPr>
          <p:cNvPr id="11" name="">
            <a:extLst xmlns:a="http://schemas.openxmlformats.org/drawingml/2006/main">
              <a:ext uri="{FF2B5EF4-FFF2-40B4-BE49-F238E27FC236}">
                <a16:creationId xmlns:a16="http://schemas.microsoft.com/office/drawing/2014/main" id="{C4F273D1-25A5-450C-98FF-E1BF82FE0BEA}"/>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33ECE27-09AE-4ED7-B216-BF54D390BD03}"/>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An observable sign that something about the plant or system has changed.</a:t>
            </a:r>
          </a:p>
        </p:txBody>
      </p:sp>
      <p:pic>
        <p:nvPicPr>
          <p:cNvPr id="30" name="" descr="Students compare a localised patch of drooping leaves with a sequence of crop photographs and a blank observation grid."/>
          <p:cNvPicPr>
            <a:picLocks xmlns:a="http://schemas.openxmlformats.org/drawingml/2006/main" noChangeAspect="1"/>
          </p:cNvPicPr>
          <p:nvPr/>
        </p:nvPicPr>
        <p:blipFill>
          <a:blip xmlns:r="http://schemas.openxmlformats.org/officeDocument/2006/relationships" xmlns:a="http://schemas.openxmlformats.org/drawingml/2006/main" r:embed="R37549e69b43a43e9"/>
          <a:stretch xmlns:a="http://schemas.openxmlformats.org/drawingml/2006/main"/>
        </p:blipFill>
        <p:spPr>
          <a:xfrm xmlns:a="http://schemas.openxmlformats.org/drawingml/2006/main">
            <a:off x="7667625" y="1752600"/>
            <a:ext cx="3857625" cy="24003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C5E0AC91-82ED-4FB5-8E8F-D800292B07D0}"/>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79646793-2473-4AF7-9DF2-174FB2FC2621}"/>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“One visible symptom proves one particular cause.”</a:t>
            </a:r>
          </a:p>
        </p:txBody>
      </p:sp>
    </p:spTree>
    <p:extLst>
      <p:ext uri="{BB962C8B-B14F-4D97-AF65-F5344CB8AC3E}">
        <p14:creationId xmlns:p14="http://schemas.microsoft.com/office/powerpoint/2010/main" val="375917085"/>
      </p:ext>
    </p:extLst>
  </p:cSld>
</p:sld>
</file>

<file path=ppt/slides/slide5.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57E7D32-DD16-449C-9DFA-89149AC85046}"/>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E7713D7-58B6-4371-AB23-20853D8C3DBA}"/>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6.3 BIOSECURITY AND RESPONSIBLE CHOICES</a:t>
            </a:r>
          </a:p>
        </p:txBody>
      </p:sp>
      <p:sp>
        <p:nvSpPr>
          <p:cNvPr id="3" name="">
            <a:extLst xmlns:a="http://schemas.openxmlformats.org/drawingml/2006/main">
              <a:ext uri="{FF2B5EF4-FFF2-40B4-BE49-F238E27FC236}">
                <a16:creationId xmlns:a16="http://schemas.microsoft.com/office/drawing/2014/main" id="{0E873D8F-1095-45C5-9F5E-44287BBCBB69}"/>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DC0A31A3-7DC4-492A-9D4C-BB62603F2153}"/>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05</a:t>
            </a:r>
          </a:p>
        </p:txBody>
      </p:sp>
      <p:sp>
        <p:nvSpPr>
          <p:cNvPr id="5" name="">
            <a:extLst xmlns:a="http://schemas.openxmlformats.org/drawingml/2006/main">
              <a:ext uri="{FF2B5EF4-FFF2-40B4-BE49-F238E27FC236}">
                <a16:creationId xmlns:a16="http://schemas.microsoft.com/office/drawing/2014/main" id="{EA3D0518-6C34-40CE-A774-6B927848D597}"/>
              </a:ext>
            </a:extLst>
          </p:cNvPr>
          <p:cNvSpPr>
            <a:spLocks xmlns:a="http://schemas.openxmlformats.org/drawingml/2006/main" noGrp="1"/>
          </p:cNvSpPr>
          <p:nvPr/>
        </p:nvSpPr>
        <p:spPr>
          <a:xfrm xmlns:a="http://schemas.openxmlformats.org/drawingml/2006/main">
            <a:off x="590550" y="800100"/>
            <a:ext cx="657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Biosecurity and responsible choices</a:t>
            </a:r>
          </a:p>
        </p:txBody>
      </p:sp>
      <p:sp>
        <p:nvSpPr>
          <p:cNvPr id="6" name="">
            <a:extLst xmlns:a="http://schemas.openxmlformats.org/drawingml/2006/main">
              <a:ext uri="{FF2B5EF4-FFF2-40B4-BE49-F238E27FC236}">
                <a16:creationId xmlns:a16="http://schemas.microsoft.com/office/drawing/2014/main" id="{06273880-D91F-444F-BD74-1A0F71C5DFFA}"/>
              </a:ext>
            </a:extLst>
          </p:cNvPr>
          <p:cNvSpPr>
            <a:spLocks xmlns:a="http://schemas.openxmlformats.org/drawingml/2006/main" noGrp="1"/>
          </p:cNvSpPr>
          <p:nvPr/>
        </p:nvSpPr>
        <p:spPr>
          <a:xfrm xmlns:a="http://schemas.openxmlformats.org/drawingml/2006/main">
            <a:off x="590550" y="1524000"/>
            <a:ext cx="590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THREE IDEAS TO PUT ON THE BOARD</a:t>
            </a:r>
          </a:p>
        </p:txBody>
      </p:sp>
      <p:sp>
        <p:nvSpPr>
          <p:cNvPr id="7" name="">
            <a:extLst xmlns:a="http://schemas.openxmlformats.org/drawingml/2006/main">
              <a:ext uri="{FF2B5EF4-FFF2-40B4-BE49-F238E27FC236}">
                <a16:creationId xmlns:a16="http://schemas.microsoft.com/office/drawing/2014/main" id="{094CBFB3-08A0-4DCD-882B-74185A0E95A2}"/>
              </a:ext>
            </a:extLst>
          </p:cNvPr>
          <p:cNvSpPr>
            <a:spLocks xmlns:a="http://schemas.openxmlformats.org/drawingml/2006/main" noGrp="1"/>
          </p:cNvSpPr>
          <p:nvPr/>
        </p:nvSpPr>
        <p:spPr>
          <a:xfrm xmlns:a="http://schemas.openxmlformats.org/drawingml/2006/main">
            <a:off x="647700" y="2181225"/>
            <a:ext cx="209550" cy="209550"/>
          </a:xfrm>
          <a:prstGeom xmlns:a="http://schemas.openxmlformats.org/drawingml/2006/main" prst="ellipse">
            <a:avLst/>
          </a:prstGeom>
          <a:solidFill xmlns:a="http://schemas.openxmlformats.org/drawingml/2006/main">
            <a:srgbClr val="B6402D"/>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E7F050-FE1A-419E-AF0A-0AD1FB61D866}"/>
              </a:ext>
            </a:extLst>
          </p:cNvPr>
          <p:cNvSpPr>
            <a:spLocks xmlns:a="http://schemas.openxmlformats.org/drawingml/2006/main" noGrp="1"/>
          </p:cNvSpPr>
          <p:nvPr/>
        </p:nvSpPr>
        <p:spPr>
          <a:xfrm xmlns:a="http://schemas.openxmlformats.org/drawingml/2006/main">
            <a:off x="1009650" y="20955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Biosecurity is shared care that limits unwanted movement.</a:t>
            </a:r>
          </a:p>
        </p:txBody>
      </p:sp>
      <p:sp>
        <p:nvSpPr>
          <p:cNvPr id="9" name="">
            <a:extLst xmlns:a="http://schemas.openxmlformats.org/drawingml/2006/main">
              <a:ext uri="{FF2B5EF4-FFF2-40B4-BE49-F238E27FC236}">
                <a16:creationId xmlns:a16="http://schemas.microsoft.com/office/drawing/2014/main" id="{DF1ADEC5-66D9-4928-91FC-1CC19346E140}"/>
              </a:ext>
            </a:extLst>
          </p:cNvPr>
          <p:cNvSpPr>
            <a:spLocks xmlns:a="http://schemas.openxmlformats.org/drawingml/2006/main" noGrp="1"/>
          </p:cNvSpPr>
          <p:nvPr/>
        </p:nvSpPr>
        <p:spPr>
          <a:xfrm xmlns:a="http://schemas.openxmlformats.org/drawingml/2006/main">
            <a:off x="647700" y="29813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D7DB9AE-AA61-44FE-B350-851B4006F147}"/>
              </a:ext>
            </a:extLst>
          </p:cNvPr>
          <p:cNvSpPr>
            <a:spLocks xmlns:a="http://schemas.openxmlformats.org/drawingml/2006/main" noGrp="1"/>
          </p:cNvSpPr>
          <p:nvPr/>
        </p:nvSpPr>
        <p:spPr>
          <a:xfrm xmlns:a="http://schemas.openxmlformats.org/drawingml/2006/main">
            <a:off x="1009650" y="28956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Students respond responsibly by observing, recording, avoiding spread and reporting instead of guessing a treatment.</a:t>
            </a:r>
          </a:p>
        </p:txBody>
      </p:sp>
      <p:sp>
        <p:nvSpPr>
          <p:cNvPr id="11" name="">
            <a:extLst xmlns:a="http://schemas.openxmlformats.org/drawingml/2006/main">
              <a:ext uri="{FF2B5EF4-FFF2-40B4-BE49-F238E27FC236}">
                <a16:creationId xmlns:a16="http://schemas.microsoft.com/office/drawing/2014/main" id="{5AE8619B-F2CA-4DBC-9A04-B3C25E45BA99}"/>
              </a:ext>
            </a:extLst>
          </p:cNvPr>
          <p:cNvSpPr>
            <a:spLocks xmlns:a="http://schemas.openxmlformats.org/drawingml/2006/main" noGrp="1"/>
          </p:cNvSpPr>
          <p:nvPr/>
        </p:nvSpPr>
        <p:spPr>
          <a:xfrm xmlns:a="http://schemas.openxmlformats.org/drawingml/2006/main">
            <a:off x="647700" y="3781425"/>
            <a:ext cx="209550" cy="2095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B0DC37-931D-43F6-B480-4C6FEE4126CE}"/>
              </a:ext>
            </a:extLst>
          </p:cNvPr>
          <p:cNvSpPr>
            <a:spLocks xmlns:a="http://schemas.openxmlformats.org/drawingml/2006/main" noGrp="1"/>
          </p:cNvSpPr>
          <p:nvPr/>
        </p:nvSpPr>
        <p:spPr>
          <a:xfrm xmlns:a="http://schemas.openxmlformats.org/drawingml/2006/main">
            <a:off x="1009650" y="3695700"/>
            <a:ext cx="6019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0" i="0">
                <a:solidFill>
                  <a:srgbClr val="243024"/>
                </a:solidFill>
              </a:defRPr>
            </a:pPr>
            <a:r>
              <a:rPr sz="1725" b="0" i="0">
                <a:solidFill>
                  <a:srgbClr val="243024"/>
                </a:solidFill>
              </a:rPr>
              <a:t>Students should avoid spread, record the evidence and report it; identification and treatment follow authorised local controls.</a:t>
            </a:r>
          </a:p>
        </p:txBody>
      </p:sp>
      <p:pic>
        <p:nvPicPr>
          <p:cNvPr id="30" name="" descr="A student stands back to photograph an unfamiliar leaf mark while a teacher approaches the crop box."/>
          <p:cNvPicPr>
            <a:picLocks xmlns:a="http://schemas.openxmlformats.org/drawingml/2006/main" noChangeAspect="1"/>
          </p:cNvPicPr>
          <p:nvPr/>
        </p:nvPicPr>
        <p:blipFill>
          <a:blip xmlns:r="http://schemas.openxmlformats.org/officeDocument/2006/relationships" xmlns:a="http://schemas.openxmlformats.org/drawingml/2006/main" r:embed="R0f5c73463bec44a7"/>
          <a:srcRect xmlns:a="http://schemas.openxmlformats.org/drawingml/2006/main" l="12500" t="0" r="12500" b="0"/>
          <a:stretch xmlns:a="http://schemas.openxmlformats.org/drawingml/2006/main">
            <a:fillRect l="0" t="0" r="0" b="0"/>
          </a:stretch>
        </p:blipFill>
        <p:spPr>
          <a:xfrm xmlns:a="http://schemas.openxmlformats.org/drawingml/2006/main">
            <a:off x="7667625" y="1238250"/>
            <a:ext cx="3857625" cy="3429000"/>
          </a:xfrm>
          <a:prstGeom xmlns:a="http://schemas.openxmlformats.org/drawingml/2006/main" prst="roundRect">
            <a:avLst/>
          </a:prstGeom>
        </p:spPr>
      </p:pic>
      <p:sp>
        <p:nvSpPr>
          <p:cNvPr id="14" name="">
            <a:extLst xmlns:a="http://schemas.openxmlformats.org/drawingml/2006/main">
              <a:ext uri="{FF2B5EF4-FFF2-40B4-BE49-F238E27FC236}">
                <a16:creationId xmlns:a16="http://schemas.microsoft.com/office/drawing/2014/main" id="{C61A97D4-C88E-4659-BD6C-266A7D92A548}"/>
              </a:ext>
            </a:extLst>
          </p:cNvPr>
          <p:cNvSpPr>
            <a:spLocks xmlns:a="http://schemas.openxmlformats.org/drawingml/2006/main" noGrp="1"/>
          </p:cNvSpPr>
          <p:nvPr/>
        </p:nvSpPr>
        <p:spPr>
          <a:xfrm xmlns:a="http://schemas.openxmlformats.org/drawingml/2006/main">
            <a:off x="7667625" y="4905375"/>
            <a:ext cx="3857625" cy="1000125"/>
          </a:xfrm>
          <a:prstGeom xmlns:a="http://schemas.openxmlformats.org/drawingml/2006/main" prst="roundRect">
            <a:avLst>
              <a:gd name="adj" fmla="val 11429"/>
            </a:avLst>
          </a:prstGeom>
          <a:solidFill xmlns:a="http://schemas.openxmlformats.org/drawingml/2006/main">
            <a:srgbClr val="E8EFE4"/>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77C3DD4-678D-4D0F-B964-37AE4C4B2A32}"/>
              </a:ext>
            </a:extLst>
          </p:cNvPr>
          <p:cNvSpPr>
            <a:spLocks xmlns:a="http://schemas.openxmlformats.org/drawingml/2006/main" noGrp="1"/>
          </p:cNvSpPr>
          <p:nvPr/>
        </p:nvSpPr>
        <p:spPr>
          <a:xfrm xmlns:a="http://schemas.openxmlformats.org/drawingml/2006/main">
            <a:off x="7905750" y="5048250"/>
            <a:ext cx="33813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183B23"/>
                </a:solidFill>
              </a:defRPr>
            </a:pPr>
            <a:r>
              <a:rPr sz="1350" b="1" i="0">
                <a:solidFill>
                  <a:srgbClr val="183B23"/>
                </a:solidFill>
              </a:rPr>
              <a:t>ASK THE ROOM</a:t>
            </a:r>
          </a:p>
          <a:p xmlns:a="http://schemas.openxmlformats.org/drawingml/2006/main">
            <a:pPr algn="l">
              <a:buNone/>
              <a:defRPr sz="1350" b="1" i="0">
                <a:solidFill>
                  <a:srgbClr val="183B23"/>
                </a:solidFill>
              </a:defRPr>
            </a:pPr>
            <a:r>
              <a:rPr sz="1350" b="1" i="0">
                <a:solidFill>
                  <a:srgbClr val="183B23"/>
                </a:solidFill>
              </a:rPr>
              <a:t>How would you correct this idea? “Biosecurity means students should identify and treat every unfamiliar organism themselves.”</a:t>
            </a:r>
          </a:p>
        </p:txBody>
      </p:sp>
    </p:spTree>
    <p:extLst>
      <p:ext uri="{BB962C8B-B14F-4D97-AF65-F5344CB8AC3E}">
        <p14:creationId xmlns:p14="http://schemas.microsoft.com/office/powerpoint/2010/main" val="680641015"/>
      </p:ext>
    </p:extLst>
  </p:cSld>
</p:sld>
</file>

<file path=ppt/slides/slide6.xml><?xml version="1.0" encoding="utf-8"?>
<p:sld xmlns:p="http://schemas.openxmlformats.org/presentationml/2006/main">
  <p:cSld>
    <p:bg>
      <p:bgPr>
        <a:solidFill xmlns:a="http://schemas.openxmlformats.org/drawingml/2006/main">
          <a:srgbClr val="183B23"/>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62D5A95F-EA1D-4B65-9724-24C1AE4142D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7A35C2C-A43A-438D-8CEC-FF100E7CC0F1}"/>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CHECK FOR UNDERSTANDING</a:t>
            </a:r>
          </a:p>
        </p:txBody>
      </p:sp>
      <p:sp>
        <p:nvSpPr>
          <p:cNvPr id="3" name="">
            <a:extLst xmlns:a="http://schemas.openxmlformats.org/drawingml/2006/main">
              <a:ext uri="{FF2B5EF4-FFF2-40B4-BE49-F238E27FC236}">
                <a16:creationId xmlns:a16="http://schemas.microsoft.com/office/drawing/2014/main" id="{0245664A-7C11-424F-B2E4-769EBEE8785D}"/>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A49035D3-13A1-43C7-97FF-766859F0765E}"/>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06</a:t>
            </a:r>
          </a:p>
        </p:txBody>
      </p:sp>
      <p:sp>
        <p:nvSpPr>
          <p:cNvPr id="5" name="">
            <a:extLst xmlns:a="http://schemas.openxmlformats.org/drawingml/2006/main">
              <a:ext uri="{FF2B5EF4-FFF2-40B4-BE49-F238E27FC236}">
                <a16:creationId xmlns:a16="http://schemas.microsoft.com/office/drawing/2014/main" id="{8045265C-D505-404F-9F67-57381A480184}"/>
              </a:ext>
            </a:extLst>
          </p:cNvPr>
          <p:cNvSpPr>
            <a:spLocks xmlns:a="http://schemas.openxmlformats.org/drawingml/2006/main" noGrp="1"/>
          </p:cNvSpPr>
          <p:nvPr/>
        </p:nvSpPr>
        <p:spPr>
          <a:xfrm xmlns:a="http://schemas.openxmlformats.org/drawingml/2006/main">
            <a:off x="590550" y="781050"/>
            <a:ext cx="685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000" b="1" i="0">
                <a:solidFill>
                  <a:srgbClr val="FFFFFF"/>
                </a:solidFill>
              </a:defRPr>
            </a:pPr>
            <a:r>
              <a:rPr sz="3000" b="1" i="0">
                <a:solidFill>
                  <a:srgbClr val="FFFFFF"/>
                </a:solidFill>
              </a:rPr>
              <a:t>Stop. Think. Explain.</a:t>
            </a:r>
          </a:p>
        </p:txBody>
      </p:sp>
      <p:sp>
        <p:nvSpPr>
          <p:cNvPr id="6" name="">
            <a:extLst xmlns:a="http://schemas.openxmlformats.org/drawingml/2006/main">
              <a:ext uri="{FF2B5EF4-FFF2-40B4-BE49-F238E27FC236}">
                <a16:creationId xmlns:a16="http://schemas.microsoft.com/office/drawing/2014/main" id="{F9A81181-064A-4F61-B740-E301F5777790}"/>
              </a:ext>
            </a:extLst>
          </p:cNvPr>
          <p:cNvSpPr>
            <a:spLocks xmlns:a="http://schemas.openxmlformats.org/drawingml/2006/main" noGrp="1"/>
          </p:cNvSpPr>
          <p:nvPr/>
        </p:nvSpPr>
        <p:spPr>
          <a:xfrm xmlns:a="http://schemas.openxmlformats.org/drawingml/2006/main">
            <a:off x="590550" y="1466850"/>
            <a:ext cx="7239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DDE9DB"/>
                </a:solidFill>
              </a:defRPr>
            </a:pPr>
            <a:r>
              <a:rPr sz="1500" b="0" i="0">
                <a:solidFill>
                  <a:srgbClr val="DDE9DB"/>
                </a:solidFill>
              </a:rPr>
              <a:t>Answer silently first, then justify with a partner.</a:t>
            </a:r>
          </a:p>
        </p:txBody>
      </p:sp>
      <p:sp>
        <p:nvSpPr>
          <p:cNvPr id="7" name="">
            <a:extLst xmlns:a="http://schemas.openxmlformats.org/drawingml/2006/main">
              <a:ext uri="{FF2B5EF4-FFF2-40B4-BE49-F238E27FC236}">
                <a16:creationId xmlns:a16="http://schemas.microsoft.com/office/drawing/2014/main" id="{AEC2A6E8-C2AE-490D-900F-F5EB32A1E2D8}"/>
              </a:ext>
            </a:extLst>
          </p:cNvPr>
          <p:cNvSpPr>
            <a:spLocks xmlns:a="http://schemas.openxmlformats.org/drawingml/2006/main" noGrp="1"/>
          </p:cNvSpPr>
          <p:nvPr/>
        </p:nvSpPr>
        <p:spPr>
          <a:xfrm xmlns:a="http://schemas.openxmlformats.org/drawingml/2006/main">
            <a:off x="590550" y="21907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8" name="">
            <a:extLst xmlns:a="http://schemas.openxmlformats.org/drawingml/2006/main">
              <a:ext uri="{FF2B5EF4-FFF2-40B4-BE49-F238E27FC236}">
                <a16:creationId xmlns:a16="http://schemas.microsoft.com/office/drawing/2014/main" id="{0EC64121-3811-4803-AB7F-5F2AF830C87A}"/>
              </a:ext>
            </a:extLst>
          </p:cNvPr>
          <p:cNvSpPr>
            <a:spLocks xmlns:a="http://schemas.openxmlformats.org/drawingml/2006/main" noGrp="1"/>
          </p:cNvSpPr>
          <p:nvPr/>
        </p:nvSpPr>
        <p:spPr>
          <a:xfrm xmlns:a="http://schemas.openxmlformats.org/drawingml/2006/main">
            <a:off x="819150" y="24098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1</a:t>
            </a:r>
          </a:p>
        </p:txBody>
      </p:sp>
      <p:sp>
        <p:nvSpPr>
          <p:cNvPr id="9" name="">
            <a:extLst xmlns:a="http://schemas.openxmlformats.org/drawingml/2006/main">
              <a:ext uri="{FF2B5EF4-FFF2-40B4-BE49-F238E27FC236}">
                <a16:creationId xmlns:a16="http://schemas.microsoft.com/office/drawing/2014/main" id="{55F1918F-344B-4309-B6E2-7AA86BD37490}"/>
              </a:ext>
            </a:extLst>
          </p:cNvPr>
          <p:cNvSpPr>
            <a:spLocks xmlns:a="http://schemas.openxmlformats.org/drawingml/2006/main" noGrp="1"/>
          </p:cNvSpPr>
          <p:nvPr/>
        </p:nvSpPr>
        <p:spPr>
          <a:xfrm xmlns:a="http://schemas.openxmlformats.org/drawingml/2006/main">
            <a:off x="1428750" y="23241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Which statement best defines a microclimate?</a:t>
            </a:r>
          </a:p>
        </p:txBody>
      </p:sp>
      <p:sp>
        <p:nvSpPr>
          <p:cNvPr id="10" name="">
            <a:extLst xmlns:a="http://schemas.openxmlformats.org/drawingml/2006/main">
              <a:ext uri="{FF2B5EF4-FFF2-40B4-BE49-F238E27FC236}">
                <a16:creationId xmlns:a16="http://schemas.microsoft.com/office/drawing/2014/main" id="{908A523D-5E22-4D08-A666-2571A0D10102}"/>
              </a:ext>
            </a:extLst>
          </p:cNvPr>
          <p:cNvSpPr>
            <a:spLocks xmlns:a="http://schemas.openxmlformats.org/drawingml/2006/main" noGrp="1"/>
          </p:cNvSpPr>
          <p:nvPr/>
        </p:nvSpPr>
        <p:spPr>
          <a:xfrm xmlns:a="http://schemas.openxmlformats.org/drawingml/2006/main">
            <a:off x="590550" y="3429000"/>
            <a:ext cx="10953750" cy="952500"/>
          </a:xfrm>
          <a:prstGeom xmlns:a="http://schemas.openxmlformats.org/drawingml/2006/main" prst="roundRect">
            <a:avLst>
              <a:gd name="adj" fmla="val 12000"/>
            </a:avLst>
          </a:prstGeom>
          <a:solidFill xmlns:a="http://schemas.openxmlformats.org/drawingml/2006/main">
            <a:srgbClr val="284B30"/>
          </a:solidFill>
          <a:ln xmlns:a="http://schemas.openxmlformats.org/drawingml/2006/main" w="9525">
            <a:solidFill>
              <a:srgbClr val="4D7254"/>
            </a:solidFill>
            <a:prstDash val="solid"/>
          </a:ln>
        </p:spPr>
      </p:sp>
      <p:sp>
        <p:nvSpPr>
          <p:cNvPr id="11" name="">
            <a:extLst xmlns:a="http://schemas.openxmlformats.org/drawingml/2006/main">
              <a:ext uri="{FF2B5EF4-FFF2-40B4-BE49-F238E27FC236}">
                <a16:creationId xmlns:a16="http://schemas.microsoft.com/office/drawing/2014/main" id="{B2E8086D-4F3C-4426-964D-0E4F678035B8}"/>
              </a:ext>
            </a:extLst>
          </p:cNvPr>
          <p:cNvSpPr>
            <a:spLocks xmlns:a="http://schemas.openxmlformats.org/drawingml/2006/main" noGrp="1"/>
          </p:cNvSpPr>
          <p:nvPr/>
        </p:nvSpPr>
        <p:spPr>
          <a:xfrm xmlns:a="http://schemas.openxmlformats.org/drawingml/2006/main">
            <a:off x="819150" y="3648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2</a:t>
            </a:r>
          </a:p>
        </p:txBody>
      </p:sp>
      <p:sp>
        <p:nvSpPr>
          <p:cNvPr id="12" name="">
            <a:extLst xmlns:a="http://schemas.openxmlformats.org/drawingml/2006/main">
              <a:ext uri="{FF2B5EF4-FFF2-40B4-BE49-F238E27FC236}">
                <a16:creationId xmlns:a16="http://schemas.microsoft.com/office/drawing/2014/main" id="{2BE67418-5C1D-4639-A8C0-0C28996CDC4B}"/>
              </a:ext>
            </a:extLst>
          </p:cNvPr>
          <p:cNvSpPr>
            <a:spLocks xmlns:a="http://schemas.openxmlformats.org/drawingml/2006/main" noGrp="1"/>
          </p:cNvSpPr>
          <p:nvPr/>
        </p:nvSpPr>
        <p:spPr>
          <a:xfrm xmlns:a="http://schemas.openxmlformats.org/drawingml/2006/main">
            <a:off x="1428750" y="356235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Why is a drooping leaf a symptom rather than a diagnosis?</a:t>
            </a:r>
          </a:p>
        </p:txBody>
      </p:sp>
      <p:sp>
        <p:nvSpPr>
          <p:cNvPr id="13" name="">
            <a:extLst xmlns:a="http://schemas.openxmlformats.org/drawingml/2006/main">
              <a:ext uri="{FF2B5EF4-FFF2-40B4-BE49-F238E27FC236}">
                <a16:creationId xmlns:a16="http://schemas.microsoft.com/office/drawing/2014/main" id="{3E33077A-1123-4152-8406-E04F2271F4A5}"/>
              </a:ext>
            </a:extLst>
          </p:cNvPr>
          <p:cNvSpPr>
            <a:spLocks xmlns:a="http://schemas.openxmlformats.org/drawingml/2006/main" noGrp="1"/>
          </p:cNvSpPr>
          <p:nvPr/>
        </p:nvSpPr>
        <p:spPr>
          <a:xfrm xmlns:a="http://schemas.openxmlformats.org/drawingml/2006/main">
            <a:off x="590550" y="4667250"/>
            <a:ext cx="10953750" cy="952500"/>
          </a:xfrm>
          <a:prstGeom xmlns:a="http://schemas.openxmlformats.org/drawingml/2006/main" prst="roundRect">
            <a:avLst>
              <a:gd name="adj" fmla="val 12000"/>
            </a:avLst>
          </a:prstGeom>
          <a:solidFill xmlns:a="http://schemas.openxmlformats.org/drawingml/2006/main">
            <a:srgbClr val="234128"/>
          </a:solidFill>
          <a:ln xmlns:a="http://schemas.openxmlformats.org/drawingml/2006/main" w="9525">
            <a:solidFill>
              <a:srgbClr val="4D7254"/>
            </a:solidFill>
            <a:prstDash val="solid"/>
          </a:ln>
        </p:spPr>
      </p:sp>
      <p:sp>
        <p:nvSpPr>
          <p:cNvPr id="14" name="">
            <a:extLst xmlns:a="http://schemas.openxmlformats.org/drawingml/2006/main">
              <a:ext uri="{FF2B5EF4-FFF2-40B4-BE49-F238E27FC236}">
                <a16:creationId xmlns:a16="http://schemas.microsoft.com/office/drawing/2014/main" id="{3918FE80-F93C-4E71-AD4A-EF85B3B6FBB8}"/>
              </a:ext>
            </a:extLst>
          </p:cNvPr>
          <p:cNvSpPr>
            <a:spLocks xmlns:a="http://schemas.openxmlformats.org/drawingml/2006/main" noGrp="1"/>
          </p:cNvSpPr>
          <p:nvPr/>
        </p:nvSpPr>
        <p:spPr>
          <a:xfrm xmlns:a="http://schemas.openxmlformats.org/drawingml/2006/main">
            <a:off x="819150" y="48863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FFF4BA"/>
                </a:solidFill>
              </a:defRPr>
            </a:pPr>
            <a:r>
              <a:rPr sz="1800" b="1" i="0">
                <a:solidFill>
                  <a:srgbClr val="FFF4BA"/>
                </a:solidFill>
              </a:rPr>
              <a:t>3</a:t>
            </a:r>
          </a:p>
        </p:txBody>
      </p:sp>
      <p:sp>
        <p:nvSpPr>
          <p:cNvPr id="15" name="">
            <a:extLst xmlns:a="http://schemas.openxmlformats.org/drawingml/2006/main">
              <a:ext uri="{FF2B5EF4-FFF2-40B4-BE49-F238E27FC236}">
                <a16:creationId xmlns:a16="http://schemas.microsoft.com/office/drawing/2014/main" id="{9A7C8743-AD01-4985-808E-279E2FDD23F4}"/>
              </a:ext>
            </a:extLst>
          </p:cNvPr>
          <p:cNvSpPr>
            <a:spLocks xmlns:a="http://schemas.openxmlformats.org/drawingml/2006/main" noGrp="1"/>
          </p:cNvSpPr>
          <p:nvPr/>
        </p:nvSpPr>
        <p:spPr>
          <a:xfrm xmlns:a="http://schemas.openxmlformats.org/drawingml/2006/main">
            <a:off x="1428750" y="4800600"/>
            <a:ext cx="962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FFFFFF"/>
                </a:solidFill>
              </a:defRPr>
            </a:pPr>
            <a:r>
              <a:rPr sz="1725" b="1" i="0">
                <a:solidFill>
                  <a:srgbClr val="FFFFFF"/>
                </a:solidFill>
              </a:rPr>
              <a:t>What is the main purpose of biosecurity?</a:t>
            </a:r>
          </a:p>
        </p:txBody>
      </p:sp>
    </p:spTree>
    <p:extLst>
      <p:ext uri="{BB962C8B-B14F-4D97-AF65-F5344CB8AC3E}">
        <p14:creationId xmlns:p14="http://schemas.microsoft.com/office/powerpoint/2010/main" val="1877530529"/>
      </p:ext>
    </p:extLst>
  </p:cSld>
</p:sld>
</file>

<file path=ppt/slides/slide7.xml><?xml version="1.0" encoding="utf-8"?>
<p:sld xmlns:p="http://schemas.openxmlformats.org/presentationml/2006/main">
  <p:cSld>
    <p:bg>
      <p:bgPr>
        <a:solidFill xmlns:a="http://schemas.openxmlformats.org/drawingml/2006/main">
          <a:srgbClr val="FFFA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C7BFC6C-FF45-4FE3-985B-622B32836DD2}"/>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321F00-E354-4436-9CD0-4A6EDC627F93}"/>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MODEL A LONGER RESPONSE</a:t>
            </a:r>
          </a:p>
        </p:txBody>
      </p:sp>
      <p:sp>
        <p:nvSpPr>
          <p:cNvPr id="3" name="">
            <a:extLst xmlns:a="http://schemas.openxmlformats.org/drawingml/2006/main">
              <a:ext uri="{FF2B5EF4-FFF2-40B4-BE49-F238E27FC236}">
                <a16:creationId xmlns:a16="http://schemas.microsoft.com/office/drawing/2014/main" id="{43E16AE6-A0D8-4963-9B5C-8051957365E0}"/>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CA5BE6BD-0F76-430C-9840-E2B0D864F79A}"/>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07</a:t>
            </a:r>
          </a:p>
        </p:txBody>
      </p:sp>
      <p:sp>
        <p:nvSpPr>
          <p:cNvPr id="5" name="">
            <a:extLst xmlns:a="http://schemas.openxmlformats.org/drawingml/2006/main">
              <a:ext uri="{FF2B5EF4-FFF2-40B4-BE49-F238E27FC236}">
                <a16:creationId xmlns:a16="http://schemas.microsoft.com/office/drawing/2014/main" id="{5A2D9206-75C7-4E89-83E5-129E28F89BAA}"/>
              </a:ext>
            </a:extLst>
          </p:cNvPr>
          <p:cNvSpPr>
            <a:spLocks xmlns:a="http://schemas.openxmlformats.org/drawingml/2006/main" noGrp="1"/>
          </p:cNvSpPr>
          <p:nvPr/>
        </p:nvSpPr>
        <p:spPr>
          <a:xfrm xmlns:a="http://schemas.openxmlformats.org/drawingml/2006/main">
            <a:off x="590550" y="781050"/>
            <a:ext cx="7524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183B23"/>
                </a:solidFill>
              </a:defRPr>
            </a:pPr>
            <a:r>
              <a:rPr sz="2850" b="1" i="0">
                <a:solidFill>
                  <a:srgbClr val="183B23"/>
                </a:solidFill>
              </a:rPr>
              <a:t>Read → Select → Explain → Check</a:t>
            </a:r>
          </a:p>
        </p:txBody>
      </p:sp>
      <p:sp>
        <p:nvSpPr>
          <p:cNvPr id="6" name="">
            <a:extLst xmlns:a="http://schemas.openxmlformats.org/drawingml/2006/main">
              <a:ext uri="{FF2B5EF4-FFF2-40B4-BE49-F238E27FC236}">
                <a16:creationId xmlns:a16="http://schemas.microsoft.com/office/drawing/2014/main" id="{937538A8-CBE9-44FF-8C02-0F90EF21B151}"/>
              </a:ext>
            </a:extLst>
          </p:cNvPr>
          <p:cNvSpPr>
            <a:spLocks xmlns:a="http://schemas.openxmlformats.org/drawingml/2006/main" noGrp="1"/>
          </p:cNvSpPr>
          <p:nvPr/>
        </p:nvSpPr>
        <p:spPr>
          <a:xfrm xmlns:a="http://schemas.openxmlformats.org/drawingml/2006/main">
            <a:off x="590550" y="1676400"/>
            <a:ext cx="5619750" cy="1762125"/>
          </a:xfrm>
          <a:prstGeom xmlns:a="http://schemas.openxmlformats.org/drawingml/2006/main" prst="roundRect">
            <a:avLst>
              <a:gd name="adj" fmla="val 6486"/>
            </a:avLst>
          </a:prstGeom>
          <a:solidFill xmlns:a="http://schemas.openxmlformats.org/drawingml/2006/main">
            <a:srgbClr val="FFFFFF"/>
          </a:solidFill>
          <a:ln xmlns:a="http://schemas.openxmlformats.org/drawingml/2006/main" w="9525">
            <a:solidFill>
              <a:srgbClr val="D9DDCF"/>
            </a:solidFill>
            <a:prstDash val="solid"/>
          </a:ln>
        </p:spPr>
      </p:sp>
      <p:sp>
        <p:nvSpPr>
          <p:cNvPr id="7" name="">
            <a:extLst xmlns:a="http://schemas.openxmlformats.org/drawingml/2006/main">
              <a:ext uri="{FF2B5EF4-FFF2-40B4-BE49-F238E27FC236}">
                <a16:creationId xmlns:a16="http://schemas.microsoft.com/office/drawing/2014/main" id="{2A282523-7D13-4F53-8B23-679C53201C0D}"/>
              </a:ext>
            </a:extLst>
          </p:cNvPr>
          <p:cNvSpPr>
            <a:spLocks xmlns:a="http://schemas.openxmlformats.org/drawingml/2006/main" noGrp="1"/>
          </p:cNvSpPr>
          <p:nvPr/>
        </p:nvSpPr>
        <p:spPr>
          <a:xfrm xmlns:a="http://schemas.openxmlformats.org/drawingml/2006/main">
            <a:off x="838200" y="18859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THE QUESTION</a:t>
            </a:r>
          </a:p>
        </p:txBody>
      </p:sp>
      <p:sp>
        <p:nvSpPr>
          <p:cNvPr id="8" name="">
            <a:extLst xmlns:a="http://schemas.openxmlformats.org/drawingml/2006/main">
              <a:ext uri="{FF2B5EF4-FFF2-40B4-BE49-F238E27FC236}">
                <a16:creationId xmlns:a16="http://schemas.microsoft.com/office/drawing/2014/main" id="{1B51D7B5-A774-4F63-BB1C-8813D12B47C4}"/>
              </a:ext>
            </a:extLst>
          </p:cNvPr>
          <p:cNvSpPr>
            <a:spLocks xmlns:a="http://schemas.openxmlformats.org/drawingml/2006/main" noGrp="1"/>
          </p:cNvSpPr>
          <p:nvPr/>
        </p:nvSpPr>
        <p:spPr>
          <a:xfrm xmlns:a="http://schemas.openxmlformats.org/drawingml/2006/main">
            <a:off x="838200" y="2266950"/>
            <a:ext cx="5095875"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725" b="1" i="0">
                <a:solidFill>
                  <a:srgbClr val="183B23"/>
                </a:solidFill>
              </a:defRPr>
            </a:pPr>
            <a:r>
              <a:rPr sz="1725" b="1" i="0">
                <a:solidFill>
                  <a:srgbClr val="183B23"/>
                </a:solidFill>
              </a:rPr>
              <a:t>Justify a responsible response to an unfamiliar organism found in a school crop-production system.</a:t>
            </a:r>
          </a:p>
        </p:txBody>
      </p:sp>
      <p:sp>
        <p:nvSpPr>
          <p:cNvPr id="9" name="">
            <a:extLst xmlns:a="http://schemas.openxmlformats.org/drawingml/2006/main">
              <a:ext uri="{FF2B5EF4-FFF2-40B4-BE49-F238E27FC236}">
                <a16:creationId xmlns:a16="http://schemas.microsoft.com/office/drawing/2014/main" id="{B0D58E44-6C1E-46DD-8C54-D0E5CA0C1F35}"/>
              </a:ext>
            </a:extLst>
          </p:cNvPr>
          <p:cNvSpPr>
            <a:spLocks xmlns:a="http://schemas.openxmlformats.org/drawingml/2006/main" noGrp="1"/>
          </p:cNvSpPr>
          <p:nvPr/>
        </p:nvSpPr>
        <p:spPr>
          <a:xfrm xmlns:a="http://schemas.openxmlformats.org/drawingml/2006/main">
            <a:off x="6534150" y="1676400"/>
            <a:ext cx="5010150" cy="1762125"/>
          </a:xfrm>
          <a:prstGeom xmlns:a="http://schemas.openxmlformats.org/drawingml/2006/main" prst="roundRect">
            <a:avLst>
              <a:gd name="adj" fmla="val 6486"/>
            </a:avLst>
          </a:prstGeom>
          <a:solidFill xmlns:a="http://schemas.openxmlformats.org/drawingml/2006/main">
            <a:srgbClr val="E8EFE4"/>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31DB9990-5D62-48B7-A167-1AAFAC855560}"/>
              </a:ext>
            </a:extLst>
          </p:cNvPr>
          <p:cNvSpPr>
            <a:spLocks xmlns:a="http://schemas.openxmlformats.org/drawingml/2006/main" noGrp="1"/>
          </p:cNvSpPr>
          <p:nvPr/>
        </p:nvSpPr>
        <p:spPr>
          <a:xfrm xmlns:a="http://schemas.openxmlformats.org/drawingml/2006/main">
            <a:off x="67818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WHAT IS THIS ASKING?</a:t>
            </a:r>
          </a:p>
        </p:txBody>
      </p:sp>
      <p:sp>
        <p:nvSpPr>
          <p:cNvPr id="11" name="">
            <a:extLst xmlns:a="http://schemas.openxmlformats.org/drawingml/2006/main">
              <a:ext uri="{FF2B5EF4-FFF2-40B4-BE49-F238E27FC236}">
                <a16:creationId xmlns:a16="http://schemas.microsoft.com/office/drawing/2014/main" id="{E5205C8E-27DF-4F4A-9A9E-684882E86F2F}"/>
              </a:ext>
            </a:extLst>
          </p:cNvPr>
          <p:cNvSpPr>
            <a:spLocks xmlns:a="http://schemas.openxmlformats.org/drawingml/2006/main" noGrp="1"/>
          </p:cNvSpPr>
          <p:nvPr/>
        </p:nvSpPr>
        <p:spPr>
          <a:xfrm xmlns:a="http://schemas.openxmlformats.org/drawingml/2006/main">
            <a:off x="6781800" y="2266950"/>
            <a:ext cx="45148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75" b="0" i="0">
                <a:solidFill>
                  <a:srgbClr val="243024"/>
                </a:solidFill>
              </a:defRPr>
            </a:pPr>
            <a:r>
              <a:rPr sz="1575" b="0" i="0">
                <a:solidFill>
                  <a:srgbClr val="243024"/>
                </a:solidFill>
              </a:rPr>
              <a:t>Proposes a clear stop–record–avoid spread–report pathway. Justifies the pathway using at least two wider consequences.</a:t>
            </a:r>
          </a:p>
        </p:txBody>
      </p:sp>
      <p:sp>
        <p:nvSpPr>
          <p:cNvPr id="12" name="">
            <a:extLst xmlns:a="http://schemas.openxmlformats.org/drawingml/2006/main">
              <a:ext uri="{FF2B5EF4-FFF2-40B4-BE49-F238E27FC236}">
                <a16:creationId xmlns:a16="http://schemas.microsoft.com/office/drawing/2014/main" id="{40526E37-B2C7-4E9D-829D-F20AF498B38B}"/>
              </a:ext>
            </a:extLst>
          </p:cNvPr>
          <p:cNvSpPr>
            <a:spLocks xmlns:a="http://schemas.openxmlformats.org/drawingml/2006/main" noGrp="1"/>
          </p:cNvSpPr>
          <p:nvPr/>
        </p:nvSpPr>
        <p:spPr>
          <a:xfrm xmlns:a="http://schemas.openxmlformats.org/drawingml/2006/main">
            <a:off x="5905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BADF2B-C676-4F4B-B010-8CD5AB42C011}"/>
              </a:ext>
            </a:extLst>
          </p:cNvPr>
          <p:cNvSpPr>
            <a:spLocks xmlns:a="http://schemas.openxmlformats.org/drawingml/2006/main" noGrp="1"/>
          </p:cNvSpPr>
          <p:nvPr/>
        </p:nvSpPr>
        <p:spPr>
          <a:xfrm xmlns:a="http://schemas.openxmlformats.org/drawingml/2006/main">
            <a:off x="8191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1  SELECT</a:t>
            </a:r>
          </a:p>
        </p:txBody>
      </p:sp>
      <p:sp>
        <p:nvSpPr>
          <p:cNvPr id="14" name="">
            <a:extLst xmlns:a="http://schemas.openxmlformats.org/drawingml/2006/main">
              <a:ext uri="{FF2B5EF4-FFF2-40B4-BE49-F238E27FC236}">
                <a16:creationId xmlns:a16="http://schemas.microsoft.com/office/drawing/2014/main" id="{EB83560A-C6BD-4FF4-9325-02DDD97F9399}"/>
              </a:ext>
            </a:extLst>
          </p:cNvPr>
          <p:cNvSpPr>
            <a:spLocks xmlns:a="http://schemas.openxmlformats.org/drawingml/2006/main" noGrp="1"/>
          </p:cNvSpPr>
          <p:nvPr/>
        </p:nvSpPr>
        <p:spPr>
          <a:xfrm xmlns:a="http://schemas.openxmlformats.org/drawingml/2006/main">
            <a:off x="8191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Select the exact theory, observation or record that answers the question.</a:t>
            </a:r>
          </a:p>
        </p:txBody>
      </p:sp>
      <p:sp>
        <p:nvSpPr>
          <p:cNvPr id="15" name="">
            <a:extLst xmlns:a="http://schemas.openxmlformats.org/drawingml/2006/main">
              <a:ext uri="{FF2B5EF4-FFF2-40B4-BE49-F238E27FC236}">
                <a16:creationId xmlns:a16="http://schemas.microsoft.com/office/drawing/2014/main" id="{067DD4CB-E4E8-467B-98F3-FA61C8E1239C}"/>
              </a:ext>
            </a:extLst>
          </p:cNvPr>
          <p:cNvSpPr>
            <a:spLocks xmlns:a="http://schemas.openxmlformats.org/drawingml/2006/main" noGrp="1"/>
          </p:cNvSpPr>
          <p:nvPr/>
        </p:nvSpPr>
        <p:spPr>
          <a:xfrm xmlns:a="http://schemas.openxmlformats.org/drawingml/2006/main">
            <a:off x="4305300" y="3876675"/>
            <a:ext cx="3371850" cy="1428750"/>
          </a:xfrm>
          <a:prstGeom xmlns:a="http://schemas.openxmlformats.org/drawingml/2006/main" prst="roundRect">
            <a:avLst>
              <a:gd name="adj" fmla="val 8000"/>
            </a:avLst>
          </a:prstGeom>
          <a:solidFill xmlns:a="http://schemas.openxmlformats.org/drawingml/2006/main">
            <a:srgbClr val="E1A72C"/>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8784BFA2-527E-4CA7-9C24-7E160130F76B}"/>
              </a:ext>
            </a:extLst>
          </p:cNvPr>
          <p:cNvSpPr>
            <a:spLocks xmlns:a="http://schemas.openxmlformats.org/drawingml/2006/main" noGrp="1"/>
          </p:cNvSpPr>
          <p:nvPr/>
        </p:nvSpPr>
        <p:spPr>
          <a:xfrm xmlns:a="http://schemas.openxmlformats.org/drawingml/2006/main">
            <a:off x="453390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183B23"/>
                </a:solidFill>
              </a:defRPr>
            </a:pPr>
            <a:r>
              <a:rPr sz="1050" b="1" i="0">
                <a:solidFill>
                  <a:srgbClr val="183B23"/>
                </a:solidFill>
              </a:rPr>
              <a:t>2  EXPLAIN</a:t>
            </a:r>
          </a:p>
        </p:txBody>
      </p:sp>
      <p:sp>
        <p:nvSpPr>
          <p:cNvPr id="17" name="">
            <a:extLst xmlns:a="http://schemas.openxmlformats.org/drawingml/2006/main">
              <a:ext uri="{FF2B5EF4-FFF2-40B4-BE49-F238E27FC236}">
                <a16:creationId xmlns:a16="http://schemas.microsoft.com/office/drawing/2014/main" id="{5317882B-7DAC-4B69-A753-47FA3F362B80}"/>
              </a:ext>
            </a:extLst>
          </p:cNvPr>
          <p:cNvSpPr>
            <a:spLocks xmlns:a="http://schemas.openxmlformats.org/drawingml/2006/main" noGrp="1"/>
          </p:cNvSpPr>
          <p:nvPr/>
        </p:nvSpPr>
        <p:spPr>
          <a:xfrm xmlns:a="http://schemas.openxmlformats.org/drawingml/2006/main">
            <a:off x="453390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183B23"/>
                </a:solidFill>
              </a:defRPr>
            </a:pPr>
            <a:r>
              <a:rPr sz="1350" b="0" i="0">
                <a:solidFill>
                  <a:srgbClr val="183B23"/>
                </a:solidFill>
              </a:rPr>
              <a:t>Use subject vocabulary and show the because, so or therefore connection.</a:t>
            </a:r>
          </a:p>
        </p:txBody>
      </p:sp>
      <p:sp>
        <p:nvSpPr>
          <p:cNvPr id="18" name="">
            <a:extLst xmlns:a="http://schemas.openxmlformats.org/drawingml/2006/main">
              <a:ext uri="{FF2B5EF4-FFF2-40B4-BE49-F238E27FC236}">
                <a16:creationId xmlns:a16="http://schemas.microsoft.com/office/drawing/2014/main" id="{5E3D7727-DB48-4BDD-9EA5-4E0F2BCF8D2B}"/>
              </a:ext>
            </a:extLst>
          </p:cNvPr>
          <p:cNvSpPr>
            <a:spLocks xmlns:a="http://schemas.openxmlformats.org/drawingml/2006/main" noGrp="1"/>
          </p:cNvSpPr>
          <p:nvPr/>
        </p:nvSpPr>
        <p:spPr>
          <a:xfrm xmlns:a="http://schemas.openxmlformats.org/drawingml/2006/main">
            <a:off x="8020050" y="3876675"/>
            <a:ext cx="3371850" cy="1428750"/>
          </a:xfrm>
          <a:prstGeom xmlns:a="http://schemas.openxmlformats.org/drawingml/2006/main" prst="roundRect">
            <a:avLst>
              <a:gd name="adj" fmla="val 8000"/>
            </a:avLst>
          </a:prstGeom>
          <a:solidFill xmlns:a="http://schemas.openxmlformats.org/drawingml/2006/main">
            <a:srgbClr val="183B23"/>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E25AE5F-EA75-417F-9BC8-A283EC29EDD5}"/>
              </a:ext>
            </a:extLst>
          </p:cNvPr>
          <p:cNvSpPr>
            <a:spLocks xmlns:a="http://schemas.openxmlformats.org/drawingml/2006/main" noGrp="1"/>
          </p:cNvSpPr>
          <p:nvPr/>
        </p:nvSpPr>
        <p:spPr>
          <a:xfrm xmlns:a="http://schemas.openxmlformats.org/drawingml/2006/main">
            <a:off x="8248650" y="403860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FFF4BA"/>
                </a:solidFill>
              </a:defRPr>
            </a:pPr>
            <a:r>
              <a:rPr sz="1050" b="1" i="0">
                <a:solidFill>
                  <a:srgbClr val="FFF4BA"/>
                </a:solidFill>
              </a:rPr>
              <a:t>3  CHECK</a:t>
            </a:r>
          </a:p>
        </p:txBody>
      </p:sp>
      <p:sp>
        <p:nvSpPr>
          <p:cNvPr id="20" name="">
            <a:extLst xmlns:a="http://schemas.openxmlformats.org/drawingml/2006/main">
              <a:ext uri="{FF2B5EF4-FFF2-40B4-BE49-F238E27FC236}">
                <a16:creationId xmlns:a16="http://schemas.microsoft.com/office/drawing/2014/main" id="{43739417-7FBB-4527-B921-C55AC095814E}"/>
              </a:ext>
            </a:extLst>
          </p:cNvPr>
          <p:cNvSpPr>
            <a:spLocks xmlns:a="http://schemas.openxmlformats.org/drawingml/2006/main" noGrp="1"/>
          </p:cNvSpPr>
          <p:nvPr/>
        </p:nvSpPr>
        <p:spPr>
          <a:xfrm xmlns:a="http://schemas.openxmlformats.org/drawingml/2006/main">
            <a:off x="8248650" y="4381500"/>
            <a:ext cx="29146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0" i="0">
                <a:solidFill>
                  <a:srgbClr val="FFFFFF"/>
                </a:solidFill>
              </a:defRPr>
            </a:pPr>
            <a:r>
              <a:rPr sz="1350" b="0" i="0">
                <a:solidFill>
                  <a:srgbClr val="FFFFFF"/>
                </a:solidFill>
              </a:rPr>
              <a:t>Answer every part, state limits honestly and remove unsupported local claims.</a:t>
            </a:r>
          </a:p>
        </p:txBody>
      </p:sp>
      <p:sp>
        <p:nvSpPr>
          <p:cNvPr id="21" name="">
            <a:extLst xmlns:a="http://schemas.openxmlformats.org/drawingml/2006/main">
              <a:ext uri="{FF2B5EF4-FFF2-40B4-BE49-F238E27FC236}">
                <a16:creationId xmlns:a16="http://schemas.microsoft.com/office/drawing/2014/main" id="{51F4BF74-3FC3-496D-B604-8ED93321E2F9}"/>
              </a:ext>
            </a:extLst>
          </p:cNvPr>
          <p:cNvSpPr>
            <a:spLocks xmlns:a="http://schemas.openxmlformats.org/drawingml/2006/main" noGrp="1"/>
          </p:cNvSpPr>
          <p:nvPr/>
        </p:nvSpPr>
        <p:spPr>
          <a:xfrm xmlns:a="http://schemas.openxmlformats.org/drawingml/2006/main">
            <a:off x="590550" y="5619750"/>
            <a:ext cx="10953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i="0">
                <a:solidFill>
                  <a:srgbClr val="B6402D"/>
                </a:solidFill>
              </a:defRPr>
            </a:pPr>
            <a:r>
              <a:rPr sz="1350" b="1" i="0">
                <a:solidFill>
                  <a:srgbClr val="B6402D"/>
                </a:solidFill>
              </a:rPr>
              <a:t>Sentence starter: The most responsible first response is … because …</a:t>
            </a:r>
          </a:p>
        </p:txBody>
      </p:sp>
    </p:spTree>
    <p:extLst>
      <p:ext uri="{BB962C8B-B14F-4D97-AF65-F5344CB8AC3E}">
        <p14:creationId xmlns:p14="http://schemas.microsoft.com/office/powerpoint/2010/main" val="672071390"/>
      </p:ext>
    </p:extLst>
  </p:cSld>
</p:sld>
</file>

<file path=ppt/slides/slide8.xml><?xml version="1.0" encoding="utf-8"?>
<p:sld xmlns:p="http://schemas.openxmlformats.org/presentationml/2006/main">
  <p:cSld>
    <p:bg>
      <p:bgPr>
        <a:solidFill xmlns:a="http://schemas.openxmlformats.org/drawingml/2006/main">
          <a:srgbClr val="B6402D"/>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5767944B-B07B-421B-AE18-3B9D069DE20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E1A72C"/>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4D8DC68-D5B7-4E41-95CA-4CDD7D7878DC}"/>
              </a:ext>
            </a:extLst>
          </p:cNvPr>
          <p:cNvSpPr>
            <a:spLocks xmlns:a="http://schemas.openxmlformats.org/drawingml/2006/main" noGrp="1"/>
          </p:cNvSpPr>
          <p:nvPr/>
        </p:nvSpPr>
        <p:spPr>
          <a:xfrm xmlns:a="http://schemas.openxmlformats.org/drawingml/2006/main">
            <a:off x="590550" y="285750"/>
            <a:ext cx="619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050" b="1" i="0">
                <a:solidFill>
                  <a:srgbClr val="B6402D"/>
                </a:solidFill>
              </a:defRPr>
            </a:pPr>
            <a:r>
              <a:rPr sz="1050" b="1" i="0">
                <a:solidFill>
                  <a:srgbClr val="B6402D"/>
                </a:solidFill>
              </a:rPr>
              <a:t>EXIT TICKET</a:t>
            </a:r>
          </a:p>
        </p:txBody>
      </p:sp>
      <p:sp>
        <p:nvSpPr>
          <p:cNvPr id="3" name="">
            <a:extLst xmlns:a="http://schemas.openxmlformats.org/drawingml/2006/main">
              <a:ext uri="{FF2B5EF4-FFF2-40B4-BE49-F238E27FC236}">
                <a16:creationId xmlns:a16="http://schemas.microsoft.com/office/drawing/2014/main" id="{C45883B5-E1A9-489A-A6ED-15BC6E392ABE}"/>
              </a:ext>
            </a:extLst>
          </p:cNvPr>
          <p:cNvSpPr>
            <a:spLocks xmlns:a="http://schemas.openxmlformats.org/drawingml/2006/main" noGrp="1"/>
          </p:cNvSpPr>
          <p:nvPr/>
        </p:nvSpPr>
        <p:spPr>
          <a:xfrm xmlns:a="http://schemas.openxmlformats.org/drawingml/2006/main">
            <a:off x="590550" y="6334125"/>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975" b="1" i="0">
                <a:solidFill>
                  <a:srgbClr val="5F685F"/>
                </a:solidFill>
              </a:defRPr>
            </a:pPr>
            <a:r>
              <a:rPr sz="975" b="1" i="0">
                <a:solidFill>
                  <a:srgbClr val="5F685F"/>
                </a:solidFill>
              </a:rPr>
              <a:t>MODULE 6  •  FARM UNDER PRESSURE</a:t>
            </a:r>
          </a:p>
        </p:txBody>
      </p:sp>
      <p:sp>
        <p:nvSpPr>
          <p:cNvPr id="4" name="">
            <a:extLst xmlns:a="http://schemas.openxmlformats.org/drawingml/2006/main">
              <a:ext uri="{FF2B5EF4-FFF2-40B4-BE49-F238E27FC236}">
                <a16:creationId xmlns:a16="http://schemas.microsoft.com/office/drawing/2014/main" id="{3F42A2C7-D525-4B9C-9582-D368C8DEDC80}"/>
              </a:ext>
            </a:extLst>
          </p:cNvPr>
          <p:cNvSpPr>
            <a:spLocks xmlns:a="http://schemas.openxmlformats.org/drawingml/2006/main" noGrp="1"/>
          </p:cNvSpPr>
          <p:nvPr/>
        </p:nvSpPr>
        <p:spPr>
          <a:xfrm xmlns:a="http://schemas.openxmlformats.org/drawingml/2006/main">
            <a:off x="11049000" y="6334125"/>
            <a:ext cx="523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975" b="1" i="0">
                <a:solidFill>
                  <a:srgbClr val="B6402D"/>
                </a:solidFill>
              </a:defRPr>
            </a:pPr>
            <a:r>
              <a:rPr sz="975" b="1" i="0">
                <a:solidFill>
                  <a:srgbClr val="B6402D"/>
                </a:solidFill>
              </a:rPr>
              <a:t>08</a:t>
            </a:r>
          </a:p>
        </p:txBody>
      </p:sp>
      <p:sp>
        <p:nvSpPr>
          <p:cNvPr id="5" name="">
            <a:extLst xmlns:a="http://schemas.openxmlformats.org/drawingml/2006/main">
              <a:ext uri="{FF2B5EF4-FFF2-40B4-BE49-F238E27FC236}">
                <a16:creationId xmlns:a16="http://schemas.microsoft.com/office/drawing/2014/main" id="{B0B2C1BD-D679-4424-B88E-B4A7E73B8A67}"/>
              </a:ext>
            </a:extLst>
          </p:cNvPr>
          <p:cNvSpPr>
            <a:spLocks xmlns:a="http://schemas.openxmlformats.org/drawingml/2006/main" noGrp="1"/>
          </p:cNvSpPr>
          <p:nvPr/>
        </p:nvSpPr>
        <p:spPr>
          <a:xfrm xmlns:a="http://schemas.openxmlformats.org/drawingml/2006/main">
            <a:off x="590550" y="83820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3150" b="1" i="0">
                <a:solidFill>
                  <a:srgbClr val="FFFFFF"/>
                </a:solidFill>
              </a:defRPr>
            </a:pPr>
            <a:r>
              <a:rPr sz="3150" b="1" i="0">
                <a:solidFill>
                  <a:srgbClr val="FFFFFF"/>
                </a:solidFill>
              </a:rPr>
              <a:t>Before you pack up…</a:t>
            </a:r>
          </a:p>
        </p:txBody>
      </p:sp>
      <p:sp>
        <p:nvSpPr>
          <p:cNvPr id="6" name="">
            <a:extLst xmlns:a="http://schemas.openxmlformats.org/drawingml/2006/main">
              <a:ext uri="{FF2B5EF4-FFF2-40B4-BE49-F238E27FC236}">
                <a16:creationId xmlns:a16="http://schemas.microsoft.com/office/drawing/2014/main" id="{14D1AC20-EE70-4BCC-9B22-3B3334DFA852}"/>
              </a:ext>
            </a:extLst>
          </p:cNvPr>
          <p:cNvSpPr>
            <a:spLocks xmlns:a="http://schemas.openxmlformats.org/drawingml/2006/main" noGrp="1"/>
          </p:cNvSpPr>
          <p:nvPr/>
        </p:nvSpPr>
        <p:spPr>
          <a:xfrm xmlns:a="http://schemas.openxmlformats.org/drawingml/2006/main">
            <a:off x="590550" y="1952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9C40751-B4FA-46EC-B80F-FE8B56D82B30}"/>
              </a:ext>
            </a:extLst>
          </p:cNvPr>
          <p:cNvSpPr>
            <a:spLocks xmlns:a="http://schemas.openxmlformats.org/drawingml/2006/main" noGrp="1"/>
          </p:cNvSpPr>
          <p:nvPr/>
        </p:nvSpPr>
        <p:spPr>
          <a:xfrm xmlns:a="http://schemas.openxmlformats.org/drawingml/2006/main">
            <a:off x="857250" y="2085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1. One idea I can now explain is…</a:t>
            </a:r>
          </a:p>
        </p:txBody>
      </p:sp>
      <p:sp>
        <p:nvSpPr>
          <p:cNvPr id="8" name="">
            <a:extLst xmlns:a="http://schemas.openxmlformats.org/drawingml/2006/main">
              <a:ext uri="{FF2B5EF4-FFF2-40B4-BE49-F238E27FC236}">
                <a16:creationId xmlns:a16="http://schemas.microsoft.com/office/drawing/2014/main" id="{074B98BE-923F-428B-8ADA-9292C7B5F55A}"/>
              </a:ext>
            </a:extLst>
          </p:cNvPr>
          <p:cNvSpPr>
            <a:spLocks xmlns:a="http://schemas.openxmlformats.org/drawingml/2006/main" noGrp="1"/>
          </p:cNvSpPr>
          <p:nvPr/>
        </p:nvSpPr>
        <p:spPr>
          <a:xfrm xmlns:a="http://schemas.openxmlformats.org/drawingml/2006/main">
            <a:off x="590550" y="3095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96DAA1D-BE65-469F-9DB4-7CAD8D00BB9F}"/>
              </a:ext>
            </a:extLst>
          </p:cNvPr>
          <p:cNvSpPr>
            <a:spLocks xmlns:a="http://schemas.openxmlformats.org/drawingml/2006/main" noGrp="1"/>
          </p:cNvSpPr>
          <p:nvPr/>
        </p:nvSpPr>
        <p:spPr>
          <a:xfrm xmlns:a="http://schemas.openxmlformats.org/drawingml/2006/main">
            <a:off x="857250" y="3228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2. One decision or practical action this changes is…</a:t>
            </a:r>
          </a:p>
        </p:txBody>
      </p:sp>
      <p:sp>
        <p:nvSpPr>
          <p:cNvPr id="10" name="">
            <a:extLst xmlns:a="http://schemas.openxmlformats.org/drawingml/2006/main">
              <a:ext uri="{FF2B5EF4-FFF2-40B4-BE49-F238E27FC236}">
                <a16:creationId xmlns:a16="http://schemas.microsoft.com/office/drawing/2014/main" id="{04B90A62-1FFC-4AC5-B8E5-AB83189B0ACC}"/>
              </a:ext>
            </a:extLst>
          </p:cNvPr>
          <p:cNvSpPr>
            <a:spLocks xmlns:a="http://schemas.openxmlformats.org/drawingml/2006/main" noGrp="1"/>
          </p:cNvSpPr>
          <p:nvPr/>
        </p:nvSpPr>
        <p:spPr>
          <a:xfrm xmlns:a="http://schemas.openxmlformats.org/drawingml/2006/main">
            <a:off x="590550" y="4238625"/>
            <a:ext cx="8572500" cy="8382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A2F072F-3297-445E-AA1B-B2A021E7E665}"/>
              </a:ext>
            </a:extLst>
          </p:cNvPr>
          <p:cNvSpPr>
            <a:spLocks xmlns:a="http://schemas.openxmlformats.org/drawingml/2006/main" noGrp="1"/>
          </p:cNvSpPr>
          <p:nvPr/>
        </p:nvSpPr>
        <p:spPr>
          <a:xfrm xmlns:a="http://schemas.openxmlformats.org/drawingml/2006/main">
            <a:off x="857250" y="4371975"/>
            <a:ext cx="8001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83B23"/>
                </a:solidFill>
              </a:defRPr>
            </a:pPr>
            <a:r>
              <a:rPr sz="1875" b="1" i="0">
                <a:solidFill>
                  <a:srgbClr val="183B23"/>
                </a:solidFill>
              </a:rPr>
              <a:t>3. One local detail my teacher still needs to confirm is…</a:t>
            </a:r>
          </a:p>
        </p:txBody>
      </p:sp>
      <p:sp>
        <p:nvSpPr>
          <p:cNvPr id="12" name="">
            <a:extLst xmlns:a="http://schemas.openxmlformats.org/drawingml/2006/main">
              <a:ext uri="{FF2B5EF4-FFF2-40B4-BE49-F238E27FC236}">
                <a16:creationId xmlns:a16="http://schemas.microsoft.com/office/drawing/2014/main" id="{E768520B-A183-4436-A272-FA6F35116A07}"/>
              </a:ext>
            </a:extLst>
          </p:cNvPr>
          <p:cNvSpPr>
            <a:spLocks xmlns:a="http://schemas.openxmlformats.org/drawingml/2006/main" noGrp="1"/>
          </p:cNvSpPr>
          <p:nvPr/>
        </p:nvSpPr>
        <p:spPr>
          <a:xfrm xmlns:a="http://schemas.openxmlformats.org/drawingml/2006/main">
            <a:off x="9715500" y="2476500"/>
            <a:ext cx="1619250" cy="1619250"/>
          </a:xfrm>
          <a:prstGeom xmlns:a="http://schemas.openxmlformats.org/drawingml/2006/main" prst="ellipse">
            <a:avLst/>
          </a:prstGeom>
          <a:solidFill xmlns:a="http://schemas.openxmlformats.org/drawingml/2006/main">
            <a:srgbClr val="E1A72C"/>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54970015-7097-4D4A-A94B-15DDF6C634B2}"/>
              </a:ext>
            </a:extLst>
          </p:cNvPr>
          <p:cNvSpPr>
            <a:spLocks xmlns:a="http://schemas.openxmlformats.org/drawingml/2006/main" noGrp="1"/>
          </p:cNvSpPr>
          <p:nvPr/>
        </p:nvSpPr>
        <p:spPr>
          <a:xfrm xmlns:a="http://schemas.openxmlformats.org/drawingml/2006/main">
            <a:off x="9906000" y="2724150"/>
            <a:ext cx="1238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83B23"/>
                </a:solidFill>
              </a:defRPr>
            </a:pPr>
            <a:r>
              <a:rPr sz="1800" b="1" i="0">
                <a:solidFill>
                  <a:srgbClr val="183B23"/>
                </a:solidFill>
              </a:rPr>
              <a:t>SAVE</a:t>
            </a:r>
          </a:p>
          <a:p xmlns:a="http://schemas.openxmlformats.org/drawingml/2006/main">
            <a:pPr algn="ctr">
              <a:buNone/>
              <a:defRPr sz="1800" b="1" i="0">
                <a:solidFill>
                  <a:srgbClr val="183B23"/>
                </a:solidFill>
              </a:defRPr>
            </a:pPr>
            <a:r>
              <a:rPr sz="1800" b="1" i="0">
                <a:solidFill>
                  <a:srgbClr val="183B23"/>
                </a:solidFill>
              </a:rPr>
              <a:t>TO</a:t>
            </a:r>
          </a:p>
          <a:p xmlns:a="http://schemas.openxmlformats.org/drawingml/2006/main">
            <a:pPr algn="ctr">
              <a:buNone/>
              <a:defRPr sz="1800" b="1" i="0">
                <a:solidFill>
                  <a:srgbClr val="183B23"/>
                </a:solidFill>
              </a:defRPr>
            </a:pPr>
            <a:r>
              <a:rPr sz="1800" b="1" i="0">
                <a:solidFill>
                  <a:srgbClr val="183B23"/>
                </a:solidFill>
              </a:rPr>
              <a:t>FOLIO</a:t>
            </a:r>
          </a:p>
        </p:txBody>
      </p:sp>
    </p:spTree>
    <p:extLst>
      <p:ext uri="{BB962C8B-B14F-4D97-AF65-F5344CB8AC3E}">
        <p14:creationId xmlns:p14="http://schemas.microsoft.com/office/powerpoint/2010/main" val="14849219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2026-09-01T23:40:17.0380000Z</dcterms:created>
  <dcterms:modified xsi:type="dcterms:W3CDTF">2026-09-01T23:40:17.0380000Z</dcterms:modified>
</coreProperties>
</file>