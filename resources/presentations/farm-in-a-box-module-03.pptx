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bbb05635d941b2" /><Relationship Type="http://schemas.openxmlformats.org/officeDocument/2006/relationships/extended-properties" Target="/docProps/app.xml" Id="R1085d9c1ca654e76" /><Relationship Type="http://schemas.openxmlformats.org/officeDocument/2006/relationships/officeDocument" Target="/ppt/presentation.xml" Id="R89a86a593d6243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703859c1f34839"/>
  </p:sldMasterIdLst>
  <p:notesMasterIdLst>
    <p:notesMasterId xmlns:r="http://schemas.openxmlformats.org/officeDocument/2006/relationships" r:id="Rfed10107d36542eb"/>
  </p:notesMasterIdLst>
  <p:sldIdLst>
    <p:sldId xmlns:r="http://schemas.openxmlformats.org/officeDocument/2006/relationships" id="256" r:id="Rc785553fcea94674"/>
    <p:sldId xmlns:r="http://schemas.openxmlformats.org/officeDocument/2006/relationships" id="257" r:id="R0e8888b42a594f0e"/>
    <p:sldId xmlns:r="http://schemas.openxmlformats.org/officeDocument/2006/relationships" id="258" r:id="Rf513ea702f264da0"/>
    <p:sldId xmlns:r="http://schemas.openxmlformats.org/officeDocument/2006/relationships" id="259" r:id="R9fb723f6f3d546a1"/>
    <p:sldId xmlns:r="http://schemas.openxmlformats.org/officeDocument/2006/relationships" id="260" r:id="Rf026d54fac6a4554"/>
    <p:sldId xmlns:r="http://schemas.openxmlformats.org/officeDocument/2006/relationships" id="261" r:id="Rb46c18db3f3e47ec"/>
    <p:sldId xmlns:r="http://schemas.openxmlformats.org/officeDocument/2006/relationships" id="262" r:id="R1bf621d738bb43b7"/>
    <p:sldId xmlns:r="http://schemas.openxmlformats.org/officeDocument/2006/relationships" id="263" r:id="R4fbab23eb5ef47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94fca320f44c01" /><Relationship Type="http://schemas.openxmlformats.org/officeDocument/2006/relationships/slideMaster" Target="/ppt/slideMasters/slideMaster1.xml" Id="R0d703859c1f34839" /><Relationship Type="http://schemas.openxmlformats.org/officeDocument/2006/relationships/notesMaster" Target="/ppt/notesMasters/notesMaster1.xml" Id="Rfed10107d36542eb" /><Relationship Type="http://schemas.openxmlformats.org/officeDocument/2006/relationships/presProps" Target="/ppt/presProps.xml" Id="R4272f65ed3b04978" /><Relationship Type="http://schemas.openxmlformats.org/officeDocument/2006/relationships/tableStyles" Target="/ppt/tableStyles.xml" Id="R9d21596d1105480e" /><Relationship Type="http://schemas.openxmlformats.org/officeDocument/2006/relationships/slide" Target="/ppt/slides/slide1.xml" Id="Rc785553fcea94674" /><Relationship Type="http://schemas.openxmlformats.org/officeDocument/2006/relationships/slide" Target="/ppt/slides/slide2.xml" Id="R0e8888b42a594f0e" /><Relationship Type="http://schemas.openxmlformats.org/officeDocument/2006/relationships/slide" Target="/ppt/slides/slide3.xml" Id="Rf513ea702f264da0" /><Relationship Type="http://schemas.openxmlformats.org/officeDocument/2006/relationships/slide" Target="/ppt/slides/slide4.xml" Id="R9fb723f6f3d546a1" /><Relationship Type="http://schemas.openxmlformats.org/officeDocument/2006/relationships/slide" Target="/ppt/slides/slide5.xml" Id="Rf026d54fac6a4554" /><Relationship Type="http://schemas.openxmlformats.org/officeDocument/2006/relationships/slide" Target="/ppt/slides/slide6.xml" Id="Rb46c18db3f3e47ec" /><Relationship Type="http://schemas.openxmlformats.org/officeDocument/2006/relationships/slide" Target="/ppt/slides/slide7.xml" Id="R1bf621d738bb43b7" /><Relationship Type="http://schemas.openxmlformats.org/officeDocument/2006/relationships/slide" Target="/ppt/slides/slide8.xml" Id="R4fbab23eb5ef47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4671adcbf746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a0136085b74e44" /><Relationship Type="http://schemas.openxmlformats.org/officeDocument/2006/relationships/notesMaster" Target="/ppt/notesMasters/notesMaster1.xml" Id="R3c4661f78aa44c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ecb6e01d3f4f66" /><Relationship Type="http://schemas.openxmlformats.org/officeDocument/2006/relationships/notesMaster" Target="/ppt/notesMasters/notesMaster1.xml" Id="R3d137c98706e48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5570dbcb36446c" /><Relationship Type="http://schemas.openxmlformats.org/officeDocument/2006/relationships/notesMaster" Target="/ppt/notesMasters/notesMaster1.xml" Id="Rd8084929126e4d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9afd26ef6c48ee" /><Relationship Type="http://schemas.openxmlformats.org/officeDocument/2006/relationships/notesMaster" Target="/ppt/notesMasters/notesMaster1.xml" Id="R00379843cff143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366b61ac4a4e1c" /><Relationship Type="http://schemas.openxmlformats.org/officeDocument/2006/relationships/notesMaster" Target="/ppt/notesMasters/notesMaster1.xml" Id="R566089c5a1414b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b1cff979de4567" /><Relationship Type="http://schemas.openxmlformats.org/officeDocument/2006/relationships/notesMaster" Target="/ppt/notesMasters/notesMaster1.xml" Id="R819519a145c246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d7d58bdc554cee" /><Relationship Type="http://schemas.openxmlformats.org/officeDocument/2006/relationships/notesMaster" Target="/ppt/notesMasters/notesMaster1.xml" Id="Rbacbe31c4e3e4c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f87c9dae8c4187" /><Relationship Type="http://schemas.openxmlformats.org/officeDocument/2006/relationships/notesMaster" Target="/ppt/notesMasters/notesMaster1.xml" Id="Rb6b9d96f3f3f4c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introduce Start a Living Crop as the next step in the Farm in a Box learning sequence.</a:t>
            </a:r>
          </a:p>
          <a:p xmlns:a="http://schemas.openxmlformats.org/drawingml/2006/main">
            <a:r>
              <a:t>Student outcome for this deck: Connect plant structures with growth needs, choose a defensible crop and establish a traceable starting point.</a:t>
            </a:r>
          </a:p>
          <a:p xmlns:a="http://schemas.openxmlformats.org/drawingml/2006/main">
            <a:r>
              <a:t>Opening prompt: ask students what evidence in the image makes this an agriculture system rather than a decorative container.</a:t>
            </a:r>
          </a:p>
          <a:p xmlns:a="http://schemas.openxmlformats.org/drawingml/2006/main">
            <a:r>
              <a:t>Boundary: crop, site, materials, tools, method and local safety controls remain Teacher to confirm.</a:t>
            </a:r>
          </a:p>
          <a:p xmlns:a="http://schemas.openxmlformats.org/drawingml/2006/main">
            <a:r>
              <a:t>Transition: preview the three named learning areas without answering the warm-up for students.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Technology 7–8 Syllabus (2023) – Food and agricultural practices content — https://curriculum.nsw.edu.au/learning-areas/tas/technology-7-8-2023/content/stage-4/faa6e5f8d5</a:t>
            </a:r>
          </a:p>
          <a:p xmlns:a="http://schemas.openxmlformats.org/drawingml/2006/main">
            <a:r>
              <a:t>- Technology 7–8 (2023): Sample unit (Stage 4) – Micro farm — https://library.curriculum.nsw.edu.au/341419dc-8ec2-0289-7225-6db7f2d751ef/de7fba4f-172d-4d41-b88a-c48ca8b1e40e/technology-7-8-2023-sample-unit-stage-4-micro-farm.DOCX</a:t>
            </a:r>
          </a:p>
          <a:p xmlns:a="http://schemas.openxmlformats.org/drawingml/2006/main">
            <a:r>
              <a:t>- Technology 7–8 – Food and agricultural practices – Grow up! vertical garden adventure — https://education.nsw.gov.au/content/dam/main-education/documents/teaching-and-learning/curriculum/tas/tas-s4-agriculture-10-week-program-grow-up.docx</a:t>
            </a:r>
          </a:p>
          <a:p xmlns:a="http://schemas.openxmlformats.org/drawingml/2006/main">
            <a:r>
              <a:t>- Course design brief: resources/core/design-brief-v1.0.json.</a:t>
            </a:r>
          </a:p>
          <a:p xmlns:a="http://schemas.openxmlformats.org/drawingml/2006/main">
            <a:r>
              <a:t>- Generated title visual: assets/m03-s03-sow-safely.png — OpenAI image generation, 2026-09-02.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students quiet thinking time before taking responses.</a:t>
            </a:r>
          </a:p>
          <a:p xmlns:a="http://schemas.openxmlformats.org/drawingml/2006/main">
            <a:r>
              <a:t>The three named areas are Plant parts that do the work; Germination and crop choice; Sow safely.</a:t>
            </a:r>
          </a:p>
          <a:p xmlns:a="http://schemas.openxmlformats.org/drawingml/2006/main">
            <a:r>
              <a:t>Keep initial answers provisional. The deck is designed to improve them with evidence.</a:t>
            </a:r>
          </a:p>
          <a:p xmlns:a="http://schemas.openxmlformats.org/drawingml/2006/main">
            <a:r>
              <a:t>Do not introduce outcome codes or local practical facts on this student-facing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Technology 7–8 Syllabus (2023) – Food and agricultural practices content — https://curriculum.nsw.edu.au/learning-areas/tas/technology-7-8-2023/content/stage-4/faa6e5f8d5</a:t>
            </a:r>
          </a:p>
          <a:p xmlns:a="http://schemas.openxmlformats.org/drawingml/2006/main">
            <a:r>
              <a:t>- Technology 7–8 (2023): Sample unit (Stage 4) – Micro farm — https://library.curriculum.nsw.edu.au/341419dc-8ec2-0289-7225-6db7f2d751ef/de7fba4f-172d-4d41-b88a-c48ca8b1e40e/technology-7-8-2023-sample-unit-stage-4-micro-farm.DOCX</a:t>
            </a:r>
          </a:p>
          <a:p xmlns:a="http://schemas.openxmlformats.org/drawingml/2006/main">
            <a:r>
              <a:t>- Technology 7–8 – Food and agricultural practices – Grow up! vertical garden adventure — https://education.nsw.gov.au/content/dam/main-education/documents/teaching-and-learning/curriculum/tas/tas-s4-agriculture-10-week-program-grow-up.docx</a:t>
            </a:r>
          </a:p>
          <a:p xmlns:a="http://schemas.openxmlformats.org/drawingml/2006/main">
            <a:r>
              <a:t>- Course design brief: resources/core/design-brief-v1.0.json.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purpose: make Plant parts that do the work concrete before students apply it to the Farm in a Box.</a:t>
            </a:r>
          </a:p>
          <a:p xmlns:a="http://schemas.openxmlformats.org/drawingml/2006/main">
            <a:r>
              <a:t>Talking point 1: Roots, stems, leaves and reproductive structures perform connected functions. Water, minerals, gases, sugars and light energy play different roles in the living crop system.</a:t>
            </a:r>
          </a:p>
          <a:p xmlns:a="http://schemas.openxmlformats.org/drawingml/2006/main">
            <a:r>
              <a:t>Talking point 2: connect the image to the decision or evidence prompt; ask students what feature they notice and why it matters.</a:t>
            </a:r>
          </a:p>
          <a:p xmlns:a="http://schemas.openxmlformats.org/drawingml/2006/main">
            <a:r>
              <a:t>Likely misconception: Roots eat soil and leaves absorb sunlight as food.</a:t>
            </a:r>
          </a:p>
          <a:p xmlns:a="http://schemas.openxmlformats.org/drawingml/2006/main">
            <a:r>
              <a:t>Correction: Roots take up water and dissolved mineral nutrients; leaves capture light energy, while sugars are made from carbon dioxide and water through photosynthesis.</a:t>
            </a:r>
          </a:p>
          <a:p xmlns:a="http://schemas.openxmlformats.org/drawingml/2006/main">
            <a:r>
              <a:t>Prompt: Diagnose which plant function may be interrupted in a photograph showing wilting, leaf damage or poor support, while identifying what extra evidence is needed.</a:t>
            </a:r>
          </a:p>
          <a:p xmlns:a="http://schemas.openxmlformats.org/drawingml/2006/main">
            <a:r>
              <a:t>Transition: connect this idea to Germination and crop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Technology 7–8 Syllabus (2023) – Food and agricultural practices content — https://curriculum.nsw.edu.au/learning-areas/tas/technology-7-8-2023/content/stage-4/faa6e5f8d5</a:t>
            </a:r>
          </a:p>
          <a:p xmlns:a="http://schemas.openxmlformats.org/drawingml/2006/main">
            <a:r>
              <a:t>- Technology 7–8 (2023): Sample unit (Stage 4) – Micro farm — https://library.curriculum.nsw.edu.au/341419dc-8ec2-0289-7225-6db7f2d751ef/de7fba4f-172d-4d41-b88a-c48ca8b1e40e/technology-7-8-2023-sample-unit-stage-4-micro-farm.DOCX</a:t>
            </a:r>
          </a:p>
          <a:p xmlns:a="http://schemas.openxmlformats.org/drawingml/2006/main">
            <a:r>
              <a:t>- Technology 7–8 – Food and agricultural practices – Grow up! vertical garden adventure — https://education.nsw.gov.au/content/dam/main-education/documents/teaching-and-learning/curriculum/tas/tas-s4-agriculture-10-week-program-grow-up.docx</a:t>
            </a:r>
          </a:p>
          <a:p xmlns:a="http://schemas.openxmlformats.org/drawingml/2006/main">
            <a:r>
              <a:t>- Generated teaching visual: assets/m03-s01-plant-parts.png — OpenAI image generation, 2026-09-02.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purpose: make Germination and crop choice concrete before students apply it to the Farm in a Box.</a:t>
            </a:r>
          </a:p>
          <a:p xmlns:a="http://schemas.openxmlformats.org/drawingml/2006/main">
            <a:r>
              <a:t>Talking point 1: Seeds begin growth when viable embryos meet suitable conditions. Crop choice should match confirmed conditions, time, space, purpose and evidence needs rather than rely on appearance or a promise.</a:t>
            </a:r>
          </a:p>
          <a:p xmlns:a="http://schemas.openxmlformats.org/drawingml/2006/main">
            <a:r>
              <a:t>Talking point 2: connect the image to the decision or evidence prompt; ask students what feature they notice and why it matters.</a:t>
            </a:r>
          </a:p>
          <a:p xmlns:a="http://schemas.openxmlformats.org/drawingml/2006/main">
            <a:r>
              <a:t>Likely misconception: Every seed needs light, lots of water and the same temperature to germinate.</a:t>
            </a:r>
          </a:p>
          <a:p xmlns:a="http://schemas.openxmlformats.org/drawingml/2006/main">
            <a:r>
              <a:t>Correction: Requirements vary by species; most need suitable moisture, oxygen and temperature, and too much water can reduce oxygen around a seed.</a:t>
            </a:r>
          </a:p>
          <a:p xmlns:a="http://schemas.openxmlformats.org/drawingml/2006/main">
            <a:r>
              <a:t>Prompt: Use a teacher-confirmed option list to rank crops against time, space, conditions, intended product, care and evidence, then plan a small germination comparison.</a:t>
            </a:r>
          </a:p>
          <a:p xmlns:a="http://schemas.openxmlformats.org/drawingml/2006/main">
            <a:r>
              <a:t>Transition: connect this idea to Sow safely.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Technology 7–8 Syllabus (2023) – Food and agricultural practices content — https://curriculum.nsw.edu.au/learning-areas/tas/technology-7-8-2023/content/stage-4/faa6e5f8d5</a:t>
            </a:r>
          </a:p>
          <a:p xmlns:a="http://schemas.openxmlformats.org/drawingml/2006/main">
            <a:r>
              <a:t>- Technology 7–8 (2023): Sample unit (Stage 4) – Micro farm — https://library.curriculum.nsw.edu.au/341419dc-8ec2-0289-7225-6db7f2d751ef/de7fba4f-172d-4d41-b88a-c48ca8b1e40e/technology-7-8-2023-sample-unit-stage-4-micro-farm.DOCX</a:t>
            </a:r>
          </a:p>
          <a:p xmlns:a="http://schemas.openxmlformats.org/drawingml/2006/main">
            <a:r>
              <a:t>- Technology 7–8 – Food and agricultural practices – Grow up! vertical garden adventure — https://education.nsw.gov.au/content/dam/main-education/documents/teaching-and-learning/curriculum/tas/tas-s4-agriculture-10-week-program-grow-up.docx</a:t>
            </a:r>
          </a:p>
          <a:p xmlns:a="http://schemas.openxmlformats.org/drawingml/2006/main">
            <a:r>
              <a:t>- Generated teaching visual: assets/m03-s02-germination-crop-choice.png — OpenAI image generation, 2026-09-02.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purpose: make Sow safely concrete before students apply it to the Farm in a Box.</a:t>
            </a:r>
          </a:p>
          <a:p xmlns:a="http://schemas.openxmlformats.org/drawingml/2006/main">
            <a:r>
              <a:t>Talking point 1: Safe sowing relies on local instructions and controls, an orderly decision sequence and truthful records. Generic online content does not authorise tools, materials or procedures.</a:t>
            </a:r>
          </a:p>
          <a:p xmlns:a="http://schemas.openxmlformats.org/drawingml/2006/main">
            <a:r>
              <a:t>Talking point 2: connect the image to the decision or evidence prompt; ask students what feature they notice and why it matters.</a:t>
            </a:r>
          </a:p>
          <a:p xmlns:a="http://schemas.openxmlformats.org/drawingml/2006/main">
            <a:r>
              <a:t>Likely misconception: A general online sowing guide is enough permission to use any available tool, material or method.</a:t>
            </a:r>
          </a:p>
          <a:p xmlns:a="http://schemas.openxmlformats.org/drawingml/2006/main">
            <a:r>
              <a:t>Correction: Local teacher instructions, approved resources and actual risk controls govern the school task.</a:t>
            </a:r>
          </a:p>
          <a:p xmlns:a="http://schemas.openxmlformats.org/drawingml/2006/main">
            <a:r>
              <a:t>Prompt: Review a hypothetical work area, identify information that requires local confirmation and practise the pause–check–act–record decision sequence before teacher-directed sowing.</a:t>
            </a:r>
          </a:p>
          <a:p xmlns:a="http://schemas.openxmlformats.org/drawingml/2006/main">
            <a:r>
              <a:t>Transition: move from explanation to retrieval across all three ideas.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Technology 7–8 Syllabus (2023) – Food and agricultural practices content — https://curriculum.nsw.edu.au/learning-areas/tas/technology-7-8-2023/content/stage-4/faa6e5f8d5</a:t>
            </a:r>
          </a:p>
          <a:p xmlns:a="http://schemas.openxmlformats.org/drawingml/2006/main">
            <a:r>
              <a:t>- Technology 7–8 (2023): Sample unit (Stage 4) – Micro farm — https://library.curriculum.nsw.edu.au/341419dc-8ec2-0289-7225-6db7f2d751ef/de7fba4f-172d-4d41-b88a-c48ca8b1e40e/technology-7-8-2023-sample-unit-stage-4-micro-farm.DOCX</a:t>
            </a:r>
          </a:p>
          <a:p xmlns:a="http://schemas.openxmlformats.org/drawingml/2006/main">
            <a:r>
              <a:t>- Technology 7–8 – Food and agricultural practices – Grow up! vertical garden adventure — https://education.nsw.gov.au/content/dam/main-education/documents/teaching-and-learning/curriculum/tas/tas-s4-agriculture-10-week-program-grow-up.docx</a:t>
            </a:r>
          </a:p>
          <a:p xmlns:a="http://schemas.openxmlformats.org/drawingml/2006/main">
            <a:r>
              <a:t>- Generated teaching visual: assets/m03-s03-sow-safely.png — OpenAI image generation, 2026-09-02.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think-pair-share: students answer silently, cite one deck idea, then improve their explanation with a partner.</a:t>
            </a:r>
          </a:p>
          <a:p xmlns:a="http://schemas.openxmlformats.org/drawingml/2006/main">
            <a:r>
              <a:t>Question 1 checks Plant parts that do the work.</a:t>
            </a:r>
          </a:p>
          <a:p xmlns:a="http://schemas.openxmlformats.org/drawingml/2006/main">
            <a:r>
              <a:t>Question 2 checks Germination and crop choice.</a:t>
            </a:r>
          </a:p>
          <a:p xmlns:a="http://schemas.openxmlformats.org/drawingml/2006/main">
            <a:r>
              <a:t>Question 3 checks Sow safely.</a:t>
            </a:r>
          </a:p>
          <a:p xmlns:a="http://schemas.openxmlformats.org/drawingml/2006/main">
            <a:r>
              <a:t>Ask for reasoning, not only a short answer. Correct overclaiming and invented local detail.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Technology 7–8 Syllabus (2023) – Food and agricultural practices content — https://curriculum.nsw.edu.au/learning-areas/tas/technology-7-8-2023/content/stage-4/faa6e5f8d5</a:t>
            </a:r>
          </a:p>
          <a:p xmlns:a="http://schemas.openxmlformats.org/drawingml/2006/main">
            <a:r>
              <a:t>- Technology 7–8 (2023): Sample unit (Stage 4) – Micro farm — https://library.curriculum.nsw.edu.au/341419dc-8ec2-0289-7225-6db7f2d751ef/de7fba4f-172d-4d41-b88a-c48ca8b1e40e/technology-7-8-2023-sample-unit-stage-4-micro-farm.DOCX</a:t>
            </a:r>
          </a:p>
          <a:p xmlns:a="http://schemas.openxmlformats.org/drawingml/2006/main">
            <a:r>
              <a:t>- Technology 7–8 – Food and agricultural practices – Grow up! vertical garden adventure — https://education.nsw.gov.au/content/dam/main-education/documents/teaching-and-learning/curriculum/tas/tas-s4-agriculture-10-week-program-grow-up.docx</a:t>
            </a:r>
          </a:p>
          <a:p xmlns:a="http://schemas.openxmlformats.org/drawingml/2006/main">
            <a:r>
              <a:t>- Course design brief: resources/core/design-brief-v1.0.json.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Response purpose: Apply the pause–check–act–record sequence to a sowing scenario in which one instruction or material is unclear, and justify the safe decision without inventing a local control.</a:t>
            </a:r>
          </a:p>
          <a:p xmlns:a="http://schemas.openxmlformats.org/drawingml/2006/main">
            <a:r>
              <a:t>Scaffold prompts: What is unclear or changed? | What potential hazard or evidence problem could result? | Where should the student pause and who should clarify the task? | What truthful record can be made after the teacher's direction?</a:t>
            </a:r>
          </a:p>
          <a:p xmlns:a="http://schemas.openxmlformats.org/drawingml/2006/main">
            <a:r>
              <a:t>Success criteria: Correctly distinguishes hazard, risk and control. | Uses a clear stop point and refers the local decision to the teacher. | Records only what actually occurred and does not claim unobserved verification.</a:t>
            </a:r>
          </a:p>
          <a:p xmlns:a="http://schemas.openxmlformats.org/drawingml/2006/main">
            <a:r>
              <a:t>Appropriate response example for teacher modelling: I would pause before using the unconfirmed material because its properties and approved control are unknown. The material may present a hazard, but I cannot judge the local risk or select a control without the teacher's direction. After clarification, I would follow the demonstrated process and record the confirmed material, date and starting condition. I would only record teacher observation if it actually occurred.</a:t>
            </a:r>
          </a:p>
          <a:p xmlns:a="http://schemas.openxmlformats.org/drawingml/2006/main">
            <a:r>
              <a:t>Model how to acknowledge uncertainty without weakening a claim supported by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Technology 7–8 Syllabus (2023) – Food and agricultural practices content — https://curriculum.nsw.edu.au/learning-areas/tas/technology-7-8-2023/content/stage-4/faa6e5f8d5</a:t>
            </a:r>
          </a:p>
          <a:p xmlns:a="http://schemas.openxmlformats.org/drawingml/2006/main">
            <a:r>
              <a:t>- Technology 7–8 (2023): Sample unit (Stage 4) – Micro farm — https://library.curriculum.nsw.edu.au/341419dc-8ec2-0289-7225-6db7f2d751ef/de7fba4f-172d-4d41-b88a-c48ca8b1e40e/technology-7-8-2023-sample-unit-stage-4-micro-farm.DOCX</a:t>
            </a:r>
          </a:p>
          <a:p xmlns:a="http://schemas.openxmlformats.org/drawingml/2006/main">
            <a:r>
              <a:t>- Technology 7–8 – Food and agricultural practices – Grow up! vertical garden adventure — https://education.nsw.gov.au/content/dam/main-education/documents/teaching-and-learning/curriculum/tas/tas-s4-agriculture-10-week-program-grow-up.docx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destination: labelled plant-function diagram; crop rationale and germination plan; teacher-observed safe sowing record and baseline entry.</a:t>
            </a:r>
          </a:p>
          <a:p xmlns:a="http://schemas.openxmlformats.org/drawingml/2006/main">
            <a:r>
              <a:t>Students save a concise exit response in their local folio or on paper.</a:t>
            </a:r>
          </a:p>
          <a:p xmlns:a="http://schemas.openxmlformats.org/drawingml/2006/main">
            <a:r>
              <a:t>Accept a specific unanswered local-control question; do not pressure students to invent the answer.</a:t>
            </a:r>
          </a:p>
          <a:p xmlns:a="http://schemas.openxmlformats.org/drawingml/2006/main">
            <a:r>
              <a:t>Next step: continue to Module 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Technology 7–8 Syllabus (2023) – Food and agricultural practices content — https://curriculum.nsw.edu.au/learning-areas/tas/technology-7-8-2023/content/stage-4/faa6e5f8d5</a:t>
            </a:r>
          </a:p>
          <a:p xmlns:a="http://schemas.openxmlformats.org/drawingml/2006/main">
            <a:r>
              <a:t>- Technology 7–8 (2023): Sample unit (Stage 4) – Micro farm — https://library.curriculum.nsw.edu.au/341419dc-8ec2-0289-7225-6db7f2d751ef/de7fba4f-172d-4d41-b88a-c48ca8b1e40e/technology-7-8-2023-sample-unit-stage-4-micro-farm.DOCX</a:t>
            </a:r>
          </a:p>
          <a:p xmlns:a="http://schemas.openxmlformats.org/drawingml/2006/main">
            <a:r>
              <a:t>- Technology 7–8 – Food and agricultural practices – Grow up! vertical garden adventure — https://education.nsw.gov.au/content/dam/main-education/documents/teaching-and-learning/curriculum/tas/tas-s4-agriculture-10-week-program-grow-up.docx</a:t>
            </a:r>
          </a:p>
          <a:p xmlns:a="http://schemas.openxmlformats.org/drawingml/2006/main">
            <a:r>
              <a:t>- Course design brief: resources/core/design-brief-v1.0.json.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3d0ea80c9743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dd56cb228744d4" /><Relationship Type="http://schemas.openxmlformats.org/officeDocument/2006/relationships/slideLayout" Target="/ppt/slideLayouts/slideLayout1.xml" Id="Rbde30908874247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e30908874247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942d26bc34f8b" /><Relationship Type="http://schemas.openxmlformats.org/officeDocument/2006/relationships/image" Target="/ppt/media/image.png" Id="Rdf927477c1a14e93" /><Relationship Type="http://schemas.openxmlformats.org/officeDocument/2006/relationships/notesSlide" Target="/ppt/notesSlides/notesSlide1.xml" Id="R7ed6df2e7a114d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0ac2d0a8614d6b" /><Relationship Type="http://schemas.openxmlformats.org/officeDocument/2006/relationships/notesSlide" Target="/ppt/notesSlides/notesSlide2.xml" Id="Rb507190b7ece49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ac3dae1f254534" /><Relationship Type="http://schemas.openxmlformats.org/officeDocument/2006/relationships/image" Target="/ppt/media/image2.png" Id="R9de276242d4243ec" /><Relationship Type="http://schemas.openxmlformats.org/officeDocument/2006/relationships/notesSlide" Target="/ppt/notesSlides/notesSlide3.xml" Id="Rdf42e583313442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781fb59bba4f5d" /><Relationship Type="http://schemas.openxmlformats.org/officeDocument/2006/relationships/image" Target="/ppt/media/image3.png" Id="R8a68f9888f1d48ae" /><Relationship Type="http://schemas.openxmlformats.org/officeDocument/2006/relationships/notesSlide" Target="/ppt/notesSlides/notesSlide4.xml" Id="Re1bcc9086ea344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d335eff0145b7" /><Relationship Type="http://schemas.openxmlformats.org/officeDocument/2006/relationships/image" Target="/ppt/media/image4.png" Id="R65a3beb32a244ec0" /><Relationship Type="http://schemas.openxmlformats.org/officeDocument/2006/relationships/notesSlide" Target="/ppt/notesSlides/notesSlide5.xml" Id="Rf59fad84ec7e4b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47262580f34b28" /><Relationship Type="http://schemas.openxmlformats.org/officeDocument/2006/relationships/notesSlide" Target="/ppt/notesSlides/notesSlide6.xml" Id="R4de0420c36e44d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bbdb8d926c469e" /><Relationship Type="http://schemas.openxmlformats.org/officeDocument/2006/relationships/notesSlide" Target="/ppt/notesSlides/notesSlide7.xml" Id="Rd4b8df4ac9bc4d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47b39aaff64244" /><Relationship Type="http://schemas.openxmlformats.org/officeDocument/2006/relationships/notesSlide" Target="/ppt/notesSlides/notesSlide8.xml" Id="Rf5f05417f49744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B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 descr="A student sows a few seeds at a tidy outdoor bench with a tray, scoop, watering bottle, brush and separated growing medium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927477c1a14e93"/>
          <a:srcRect xmlns:a="http://schemas.openxmlformats.org/drawingml/2006/main" l="24074" t="0" r="240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ound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68CAE-A5BC-4995-8897-B6B7C2D3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81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CCD24B-978D-4C9B-AEEC-8FA0C264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14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FA2B2C-6BB5-43B4-BDAF-279DF1FD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FF4BA"/>
                </a:solidFill>
              </a:defRPr>
            </a:pPr>
            <a:r>
              <a:rPr sz="1350" b="1" i="0">
                <a:solidFill>
                  <a:srgbClr val="FFF4BA"/>
                </a:solidFill>
              </a:rPr>
              <a:t>MODULE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8D6B26-F7B0-41FF-8E86-A449673A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715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FFFFFF"/>
                </a:solidFill>
              </a:defRPr>
            </a:pPr>
            <a:r>
              <a:rPr sz="4050" b="1" i="0">
                <a:solidFill>
                  <a:srgbClr val="FFFFFF"/>
                </a:solidFill>
              </a:rPr>
              <a:t>Start a Living Crop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34E978-DC13-4125-A1FF-029B8425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542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EAF2E6"/>
                </a:solidFill>
              </a:defRPr>
            </a:pPr>
            <a:r>
              <a:rPr sz="1875" b="0" i="0">
                <a:solidFill>
                  <a:srgbClr val="EAF2E6"/>
                </a:solidFill>
              </a:rPr>
              <a:t>Connect plant structures with growth needs, choose a defensible crop and establish a traceable starting point.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46966E-C41E-4CFE-B149-23040B16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C8D8C6"/>
                </a:solidFill>
              </a:defRPr>
            </a:pPr>
            <a:r>
              <a:rPr sz="1125" b="1" i="0">
                <a:solidFill>
                  <a:srgbClr val="C8D8C6"/>
                </a:solidFill>
              </a:rPr>
              <a:t>Teacher-led classroom presentation</a:t>
            </a:r>
          </a:p>
        </p:txBody>
      </p:sp>
    </p:spTree>
    <p:extLst>
      <p:ext uri="{BB962C8B-B14F-4D97-AF65-F5344CB8AC3E}">
        <p14:creationId xmlns:p14="http://schemas.microsoft.com/office/powerpoint/2010/main" val="11996464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97EE47-FEF3-4344-9853-299F7F0B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F83CE3-A835-4121-A7E5-D9C7910B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TODAY’S LEARNING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AC1C2D-FB55-4940-AB1C-C5E4A6BC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3  •  START A LIVING CROP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F361C6-6362-4A10-94DF-DD5D83B8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38F769-C987-4CDC-BFED-86A90188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638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83B23"/>
                </a:solidFill>
              </a:defRPr>
            </a:pPr>
            <a:r>
              <a:rPr sz="2850" b="1" i="0">
                <a:solidFill>
                  <a:srgbClr val="183B23"/>
                </a:solidFill>
              </a:rPr>
              <a:t>Where are we going?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60F80B-11E4-44DF-A4B6-2DDAD5A9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6858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692364-D290-4EE1-9CA7-406987ED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40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60DC0A-DB99-4B09-8390-97F1A455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02CD85-06AD-44D9-A5B1-4BCBC59B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71675"/>
            <a:ext cx="552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83B23"/>
                </a:solidFill>
              </a:defRPr>
            </a:pPr>
            <a:r>
              <a:rPr sz="1875" b="1" i="0">
                <a:solidFill>
                  <a:srgbClr val="183B23"/>
                </a:solidFill>
              </a:rPr>
              <a:t>Plant parts that do the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6DBDB7-0615-463E-BE65-7B264DAC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6858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79CD19-0A23-4191-BF14-DD06AA79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676C81-B6DA-4D8C-B6C7-CAAD59F7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83B23"/>
                </a:solidFill>
              </a:defRPr>
            </a:pPr>
            <a:r>
              <a:rPr sz="1500" b="1" i="0">
                <a:solidFill>
                  <a:srgbClr val="183B2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A308D4-9B8B-494F-B0ED-92D158ED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90875"/>
            <a:ext cx="552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83B23"/>
                </a:solidFill>
              </a:defRPr>
            </a:pPr>
            <a:r>
              <a:rPr sz="1875" b="1" i="0">
                <a:solidFill>
                  <a:srgbClr val="183B23"/>
                </a:solidFill>
              </a:rPr>
              <a:t>Germination and crop choice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0DA365-7E43-4A77-9468-7418BCE2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48150"/>
            <a:ext cx="6858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92AF4A-6D5D-4330-8FEF-BFE47325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AE8CBE-B2F3-4319-8E37-EFFEAF38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83B23"/>
                </a:solidFill>
              </a:defRPr>
            </a:pPr>
            <a:r>
              <a:rPr sz="1500" b="1" i="0">
                <a:solidFill>
                  <a:srgbClr val="183B2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011A09-206F-4CC4-8BC8-44BCD5CC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10075"/>
            <a:ext cx="552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83B23"/>
                </a:solidFill>
              </a:defRPr>
            </a:pPr>
            <a:r>
              <a:rPr sz="1875" b="1" i="0">
                <a:solidFill>
                  <a:srgbClr val="183B23"/>
                </a:solidFill>
              </a:rPr>
              <a:t>Sow safely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6DD733-CDEA-441D-8B8E-BDC94E73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195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83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87E28B-E620-49B6-9C6A-1E94A7A2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33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4BA"/>
                </a:solidFill>
              </a:defRPr>
            </a:pPr>
            <a:r>
              <a:rPr sz="1125" b="1" i="0">
                <a:solidFill>
                  <a:srgbClr val="FFF4BA"/>
                </a:solidFill>
              </a:rPr>
              <a:t>RETRIEVAL WARM-UP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697D71-13AE-45E1-B123-AC6B3DC1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1937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What do you already know?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9EB4C9-E47E-4581-9BCE-74926B26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290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EAF2E6"/>
                </a:solidFill>
              </a:defRPr>
            </a:pPr>
            <a:r>
              <a:rPr sz="1500" b="0" i="0">
                <a:solidFill>
                  <a:srgbClr val="EAF2E6"/>
                </a:solidFill>
              </a:rPr>
              <a:t>1. Define one key word from the module.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EAF2E6"/>
                </a:solidFill>
              </a:defRPr>
            </a:pPr>
            <a:r>
              <a:rPr sz="1500" b="0" i="0">
                <a:solidFill>
                  <a:srgbClr val="EAF2E6"/>
                </a:solidFill>
              </a:rPr>
              <a:t>2. Predict one practical or design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EAF2E6"/>
                </a:solidFill>
              </a:defRPr>
            </a:pPr>
            <a:r>
              <a:rPr sz="1500" b="0" i="0">
                <a:solidFill>
                  <a:srgbClr val="EAF2E6"/>
                </a:solidFill>
              </a:rPr>
              <a:t>3. Name one question you have.</a:t>
            </a:r>
          </a:p>
        </p:txBody>
      </p:sp>
    </p:spTree>
    <p:extLst>
      <p:ext uri="{BB962C8B-B14F-4D97-AF65-F5344CB8AC3E}">
        <p14:creationId xmlns:p14="http://schemas.microsoft.com/office/powerpoint/2010/main" val="9196927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B5CF1E-030F-4FD1-8087-AC5CC8E1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D290C6-B4D3-482D-918C-E706E840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3.1 PLANT PARTS THAT DO THE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586BC-4CEE-4631-95A1-D0BFE63E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3  •  START A LIVING CROP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C2369B-86B5-4744-888B-71FB17FD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C4D4B2-259A-48ED-A0EC-BC803E09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657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83B23"/>
                </a:solidFill>
              </a:defRPr>
            </a:pPr>
            <a:r>
              <a:rPr sz="2850" b="1" i="0">
                <a:solidFill>
                  <a:srgbClr val="183B23"/>
                </a:solidFill>
              </a:rPr>
              <a:t>Plant parts that do the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D94EC4-AAEB-494D-B98D-CC53338E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THREE IDEAS TO PUT ON THE 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E9B1A2-4A78-4C14-91EF-F67486EE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812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40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671286-686A-46DF-BA37-58288782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Roots, stems, leaves and reproductive structures perform connected functions.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6D156A-0395-414B-8202-F39296D7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81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2A1FD4-F788-4794-ACDF-25BA4745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956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Water, minerals, gases, sugars and light energy play different roles in the living crop system.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DD031D-23F6-453C-89F5-EFE08012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81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2168F8-90D7-4B87-AE7C-23B6E1B5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Roots take up water and dissolved mineral nutrients.</a:t>
            </a:r>
          </a:p>
        </p:txBody>
      </p:sp>
      <p:pic>
        <p:nvPicPr>
          <p:cNvPr id="30" name="" descr="A whole young crop plant is displayed from its fine roots and root ball through the stem and leaves to an early flower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e276242d4243ec"/>
          <a:srcRect xmlns:a="http://schemas.openxmlformats.org/drawingml/2006/main" l="12500" t="0" r="1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67625" y="1238250"/>
            <a:ext cx="3857625" cy="3429000"/>
          </a:xfrm>
          <a:prstGeom xmlns:a="http://schemas.openxmlformats.org/drawingml/2006/main" prst="round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3A7643-D297-4F9D-8154-B6CBD671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905375"/>
            <a:ext cx="38576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0BADDD-91E8-48D2-8750-64CC4D8E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4825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3B23"/>
                </a:solidFill>
              </a:defRPr>
            </a:pPr>
            <a:r>
              <a:rPr sz="1350" b="1" i="0">
                <a:solidFill>
                  <a:srgbClr val="183B23"/>
                </a:solidFill>
              </a:rPr>
              <a:t>ASK THE ROOM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83B23"/>
                </a:solidFill>
              </a:defRPr>
            </a:pPr>
            <a:r>
              <a:rPr sz="1350" b="1" i="0">
                <a:solidFill>
                  <a:srgbClr val="183B23"/>
                </a:solidFill>
              </a:rPr>
              <a:t>How would you correct this idea? “Roots eat soil and leaves absorb sunlight as food.”</a:t>
            </a:r>
          </a:p>
        </p:txBody>
      </p:sp>
    </p:spTree>
    <p:extLst>
      <p:ext uri="{BB962C8B-B14F-4D97-AF65-F5344CB8AC3E}">
        <p14:creationId xmlns:p14="http://schemas.microsoft.com/office/powerpoint/2010/main" val="4083117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B8A6A1-2A1D-47DD-9958-78305D41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6990F7-5BD1-43CF-983C-57E3ADE1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3.2 GERMINATION AND CROP CHOICE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B9FBC4-F79E-45E3-BB29-FCFD1BEB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3  •  START A LIVING CROP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113CAB-7CEA-4EB8-B182-42F05E42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C653A-A572-46A9-BA68-BCF75D45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657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83B23"/>
                </a:solidFill>
              </a:defRPr>
            </a:pPr>
            <a:r>
              <a:rPr sz="2850" b="1" i="0">
                <a:solidFill>
                  <a:srgbClr val="183B23"/>
                </a:solidFill>
              </a:rPr>
              <a:t>Germination and crop choice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B7DC2-E898-495C-8D6A-50D1ABF6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THREE IDEAS TO PUT ON THE 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6C1137-935A-4190-BF4C-17FBFEA3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812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40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F41D39-38EB-45D3-8341-C294122E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Seeds begin growth when viable embryos meet suitable conditions.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6D2AEF-2678-4DD3-95CF-D8B5C37D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81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E4A006-565A-4D26-9906-0B3BBE64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956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Crop choice should match confirmed conditions, time, space, purpose and evidence needs rather than rely on appearance or a promise.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FFE518-46C9-4F6F-8F09-A5AC9792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81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1DF116-7121-4E65-BD9C-D48714BF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Requirements vary by species; most need suitable moisture, oxygen and temperature, and too much water can reduce oxygen around a seed.</a:t>
            </a:r>
          </a:p>
        </p:txBody>
      </p:sp>
      <p:pic>
        <p:nvPicPr>
          <p:cNvPr id="30" name="" descr="Three seedling trays show different seeds progressing from emergence to healthy early leaves, with blank record cards below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68f9888f1d48ae"/>
          <a:srcRect xmlns:a="http://schemas.openxmlformats.org/drawingml/2006/main" l="12500" t="0" r="1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67625" y="1238250"/>
            <a:ext cx="3857625" cy="3429000"/>
          </a:xfrm>
          <a:prstGeom xmlns:a="http://schemas.openxmlformats.org/drawingml/2006/main" prst="round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520A8E-3D35-4A6D-B188-A8CBEF15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905375"/>
            <a:ext cx="38576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172F10-14E4-4E26-ABE3-D6B5BDA2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4825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3B23"/>
                </a:solidFill>
              </a:defRPr>
            </a:pPr>
            <a:r>
              <a:rPr sz="1350" b="1" i="0">
                <a:solidFill>
                  <a:srgbClr val="183B23"/>
                </a:solidFill>
              </a:rPr>
              <a:t>ASK THE ROOM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83B23"/>
                </a:solidFill>
              </a:defRPr>
            </a:pPr>
            <a:r>
              <a:rPr sz="1350" b="1" i="0">
                <a:solidFill>
                  <a:srgbClr val="183B23"/>
                </a:solidFill>
              </a:rPr>
              <a:t>How would you correct this idea? “Every seed needs light, lots of water and the same temperature to germinate.”</a:t>
            </a:r>
          </a:p>
        </p:txBody>
      </p:sp>
    </p:spTree>
    <p:extLst>
      <p:ext uri="{BB962C8B-B14F-4D97-AF65-F5344CB8AC3E}">
        <p14:creationId xmlns:p14="http://schemas.microsoft.com/office/powerpoint/2010/main" val="6747747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E6F12B-4EAA-4627-9D21-E204B729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2EB995-DE50-42FA-8197-A51106BA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3.3 SOW SAFELY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ED54C9-3092-4C92-8411-4C86E386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3  •  START A LIVING CROP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3D1088-8B58-4C30-8844-98F26A13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A20982-AD18-408A-95AE-6B74F11D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657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83B23"/>
                </a:solidFill>
              </a:defRPr>
            </a:pPr>
            <a:r>
              <a:rPr sz="2850" b="1" i="0">
                <a:solidFill>
                  <a:srgbClr val="183B23"/>
                </a:solidFill>
              </a:rPr>
              <a:t>Sow safely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73A19-FD7F-4C6D-9D6E-83A50706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THREE IDEAS TO PUT ON THE 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677FDB-DE29-4278-9ABC-4EC90A72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812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40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1BBAA5-B6F1-4637-8764-6CD69C9B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Safe sowing relies on local instructions and controls, an orderly decision sequence and truthful records.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47FF96-1219-4689-9988-9C9F804E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81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2AFF14-2F5E-4CB8-924A-1E579B59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956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Generic online content does not authorise tools, materials or procedures.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1D7E64-1003-4FD2-812E-D463EBFC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81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C6EE8D-9377-47D7-AC85-B9354C2C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Local teacher instructions, approved resources and actual risk controls govern the school task.</a:t>
            </a:r>
          </a:p>
        </p:txBody>
      </p:sp>
      <p:pic>
        <p:nvPicPr>
          <p:cNvPr id="30" name="" descr="A student sows a few seeds at a tidy outdoor bench with a tray, scoop, watering bottle, brush and separated growing medium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3beb32a244ec0"/>
          <a:srcRect xmlns:a="http://schemas.openxmlformats.org/drawingml/2006/main" l="12500" t="0" r="1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67625" y="1238250"/>
            <a:ext cx="3857625" cy="3429000"/>
          </a:xfrm>
          <a:prstGeom xmlns:a="http://schemas.openxmlformats.org/drawingml/2006/main" prst="round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7CF3E4-1A8B-4811-9709-6744B283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905375"/>
            <a:ext cx="38576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69CADF-E33E-4668-B427-FD5A2360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4825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3B23"/>
                </a:solidFill>
              </a:defRPr>
            </a:pPr>
            <a:r>
              <a:rPr sz="1350" b="1" i="0">
                <a:solidFill>
                  <a:srgbClr val="183B23"/>
                </a:solidFill>
              </a:rPr>
              <a:t>ASK THE ROOM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83B23"/>
                </a:solidFill>
              </a:defRPr>
            </a:pPr>
            <a:r>
              <a:rPr sz="1350" b="1" i="0">
                <a:solidFill>
                  <a:srgbClr val="183B23"/>
                </a:solidFill>
              </a:rPr>
              <a:t>How would you correct this idea? “A general online sowing guide is enough permission to use any available tool, material or method.”</a:t>
            </a:r>
          </a:p>
        </p:txBody>
      </p:sp>
    </p:spTree>
    <p:extLst>
      <p:ext uri="{BB962C8B-B14F-4D97-AF65-F5344CB8AC3E}">
        <p14:creationId xmlns:p14="http://schemas.microsoft.com/office/powerpoint/2010/main" val="19993296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83B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2BEAB8-AC67-41DF-9665-91D2B4AC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07031E-84A9-4086-B101-05731A38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CHECK FOR UNDERSTANDING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0B2C50-A455-4C7C-B8DE-96C570F8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3  •  START A LIVING CROP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FB85A4-FD17-40D3-BC10-C9F03CC6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B6C77D-5E84-4BFF-BD70-01B89587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FFFFFF"/>
                </a:solidFill>
              </a:defRPr>
            </a:pPr>
            <a:r>
              <a:rPr sz="3000" b="1" i="0">
                <a:solidFill>
                  <a:srgbClr val="FFFFFF"/>
                </a:solidFill>
              </a:rPr>
              <a:t>Stop. Think. Explain.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449FE5-C63C-40E2-9885-DB3189FF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DDE9DB"/>
                </a:solidFill>
              </a:defRPr>
            </a:pPr>
            <a:r>
              <a:rPr sz="1500" b="0" i="0">
                <a:solidFill>
                  <a:srgbClr val="DDE9DB"/>
                </a:solidFill>
              </a:rPr>
              <a:t>Answer silently first, then justify with a partner.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884264-A1A6-4804-B0E0-70351C1B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10953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34128"/>
          </a:solidFill>
          <a:ln xmlns:a="http://schemas.openxmlformats.org/drawingml/2006/main" w="9525">
            <a:solidFill>
              <a:srgbClr val="4D72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9EB83C-604A-432C-A756-577E01AF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98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4BA"/>
                </a:solidFill>
              </a:defRPr>
            </a:pPr>
            <a:r>
              <a:rPr sz="1800" b="1" i="0">
                <a:solidFill>
                  <a:srgbClr val="FFF4BA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D4236B-9DD2-4567-B2DE-CBC3F8FB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24100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Which structure–function pair is most accurate?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2671F1-2FAE-4B68-8DE1-55A858EA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0"/>
            <a:ext cx="10953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84B30"/>
          </a:solidFill>
          <a:ln xmlns:a="http://schemas.openxmlformats.org/drawingml/2006/main" w="9525">
            <a:solidFill>
              <a:srgbClr val="4D725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89CC25-1126-43A8-A741-946B1050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480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4BA"/>
                </a:solidFill>
              </a:defRPr>
            </a:pPr>
            <a:r>
              <a:rPr sz="1800" b="1" i="0">
                <a:solidFill>
                  <a:srgbClr val="FFF4BA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0B0F36-63AA-4A78-9EF9-DD5530D4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62350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What is germination?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0A400B-4712-4322-B567-770EC746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67250"/>
            <a:ext cx="10953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34128"/>
          </a:solidFill>
          <a:ln xmlns:a="http://schemas.openxmlformats.org/drawingml/2006/main" w="9525">
            <a:solidFill>
              <a:srgbClr val="4D725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5054BE-E0A5-4F0D-89B6-DDF7DA41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863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4BA"/>
                </a:solidFill>
              </a:defRPr>
            </a:pPr>
            <a:r>
              <a:rPr sz="1800" b="1" i="0">
                <a:solidFill>
                  <a:srgbClr val="FFF4BA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0CCE41-81F5-4517-8863-98B646E0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00600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What should a student do first when a sowing instruction is unclear?</a:t>
            </a:r>
          </a:p>
        </p:txBody>
      </p:sp>
    </p:spTree>
    <p:extLst>
      <p:ext uri="{BB962C8B-B14F-4D97-AF65-F5344CB8AC3E}">
        <p14:creationId xmlns:p14="http://schemas.microsoft.com/office/powerpoint/2010/main" val="5312974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EC80D4-BDFD-4585-8F4C-F3EF6D33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047B6B-2601-4597-9BD2-77563F66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MODEL A LONGER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A3B294-B69E-435C-BF51-E7FD25FD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3  •  START A LIVING CROP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BC9F65-181E-4307-86E1-95FA5E65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6282D3-FB8C-4B36-91A1-1B7300B8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83B23"/>
                </a:solidFill>
              </a:defRPr>
            </a:pPr>
            <a:r>
              <a:rPr sz="2850" b="1" i="0">
                <a:solidFill>
                  <a:srgbClr val="183B23"/>
                </a:solidFill>
              </a:rPr>
              <a:t>Read → Select → Explain →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995A8C-30C7-418B-A3A9-3BE83302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561975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7F1C75-0C79-40E8-9B3C-5E64C480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THE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36E209-CEB7-4780-9D73-D64945E3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50958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83B23"/>
                </a:solidFill>
              </a:defRPr>
            </a:pPr>
            <a:r>
              <a:rPr sz="1725" b="1" i="0">
                <a:solidFill>
                  <a:srgbClr val="183B23"/>
                </a:solidFill>
              </a:rPr>
              <a:t>Apply pause–check–act–record when an instruction or material is unclear. Justify the safe decision without inventing a local control.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E789DF-D320-4BE9-A19C-1C158108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76400"/>
            <a:ext cx="501015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E8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EC15E5-32DF-4E11-A7E1-21728C04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85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WHAT IS THIS ASKING?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BF9E75-B617-4CAE-839F-45F355C2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66950"/>
            <a:ext cx="45148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243024"/>
                </a:solidFill>
              </a:defRPr>
            </a:pPr>
            <a:r>
              <a:rPr sz="1575" b="0" i="0">
                <a:solidFill>
                  <a:srgbClr val="243024"/>
                </a:solidFill>
              </a:rPr>
              <a:t>Correctly distinguishes hazard, risk and control. Uses a clear stop point and refers the local decision to the teacher.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399A4F-D4BC-4BBD-9283-64A2126A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76675"/>
            <a:ext cx="3371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83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9F024D-6FA4-48CC-B9BB-9EAD21EA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4BA"/>
                </a:solidFill>
              </a:defRPr>
            </a:pPr>
            <a:r>
              <a:rPr sz="1050" b="1" i="0">
                <a:solidFill>
                  <a:srgbClr val="FFF4BA"/>
                </a:solidFill>
              </a:rPr>
              <a:t>1  SELECT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E447C0-0883-4579-89EB-1047DD3F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0"/>
            <a:ext cx="2914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Select the exact theory, observation or record that answers the question.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859197-4439-4796-BD01-9C2163E4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76675"/>
            <a:ext cx="3371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EC0290-1405-4FAF-AC12-1DB89E47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38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83B23"/>
                </a:solidFill>
              </a:defRPr>
            </a:pPr>
            <a:r>
              <a:rPr sz="1050" b="1" i="0">
                <a:solidFill>
                  <a:srgbClr val="183B23"/>
                </a:solidFill>
              </a:rPr>
              <a:t>2  EXPLAIN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1D0BA6-824A-44DE-8A87-D5E1DEE7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381500"/>
            <a:ext cx="2914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3B23"/>
                </a:solidFill>
              </a:defRPr>
            </a:pPr>
            <a:r>
              <a:rPr sz="1350" b="0" i="0">
                <a:solidFill>
                  <a:srgbClr val="183B23"/>
                </a:solidFill>
              </a:rPr>
              <a:t>Use subject vocabulary and show the because, so or therefore connection.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E8F526-8BAB-4E4E-99D9-A2136CCF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76675"/>
            <a:ext cx="3371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83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FB95E3-1E12-49D4-A26A-3681576B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38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4BA"/>
                </a:solidFill>
              </a:defRPr>
            </a:pPr>
            <a:r>
              <a:rPr sz="1050" b="1" i="0">
                <a:solidFill>
                  <a:srgbClr val="FFF4BA"/>
                </a:solidFill>
              </a:rPr>
              <a:t>3  CHECK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0A96BF-4E7A-47A8-8F48-38866527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81500"/>
            <a:ext cx="2914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Answer every part, state limits honestly and remove unsupported local claims.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9686F7-E2D2-40BC-A9D0-A7E4ECB9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9750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B6402D"/>
                </a:solidFill>
              </a:defRPr>
            </a:pPr>
            <a:r>
              <a:rPr sz="1350" b="1" i="0">
                <a:solidFill>
                  <a:srgbClr val="B6402D"/>
                </a:solidFill>
              </a:rPr>
              <a:t>Sentence starter: I would pause before ______ because the unclear ______ could...</a:t>
            </a:r>
          </a:p>
        </p:txBody>
      </p:sp>
    </p:spTree>
    <p:extLst>
      <p:ext uri="{BB962C8B-B14F-4D97-AF65-F5344CB8AC3E}">
        <p14:creationId xmlns:p14="http://schemas.microsoft.com/office/powerpoint/2010/main" val="16449948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B640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E75AEA-9B23-4B37-95CB-1541394A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8834C9-2488-4ED3-B2FD-8CBE858B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EXIT TICKET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3AA7BE-6B46-4100-8F4E-214F12D8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3  •  START A LIVING CROP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BB804A-0801-496F-92DC-B57FFB34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82D717-69FA-4D02-8BAA-00F312C0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</a:rPr>
              <a:t>Before you pack up…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1CC51C-DD5D-4CB4-8FE2-BB9E3B02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8572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C96359-9359-41F2-9CA6-60A0813B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85975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83B23"/>
                </a:solidFill>
              </a:defRPr>
            </a:pPr>
            <a:r>
              <a:rPr sz="1875" b="1" i="0">
                <a:solidFill>
                  <a:srgbClr val="183B23"/>
                </a:solidFill>
              </a:rPr>
              <a:t>1. One idea I can now explain is…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3A7187-BE3D-48F8-B450-F058B537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95625"/>
            <a:ext cx="8572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FEC467-6094-4991-B36B-88AE4DCA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83B23"/>
                </a:solidFill>
              </a:defRPr>
            </a:pPr>
            <a:r>
              <a:rPr sz="1875" b="1" i="0">
                <a:solidFill>
                  <a:srgbClr val="183B23"/>
                </a:solidFill>
              </a:rPr>
              <a:t>2. One decision or practical action this changes is…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37E6F-E0DA-4DD3-B0A5-4415CD27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8572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7ED2B8-B169-4BD9-A068-A8CCE79F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71975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83B23"/>
                </a:solidFill>
              </a:defRPr>
            </a:pPr>
            <a:r>
              <a:rPr sz="1875" b="1" i="0">
                <a:solidFill>
                  <a:srgbClr val="183B23"/>
                </a:solidFill>
              </a:rPr>
              <a:t>3. One local detail my teacher still needs to confirm is…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4186C0-9B66-4939-B3DE-86B9A853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7650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331BEF-8712-4207-9BCA-EF47E1DC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24150"/>
            <a:ext cx="1238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83B23"/>
                </a:solidFill>
              </a:defRPr>
            </a:pPr>
            <a:r>
              <a:rPr sz="1800" b="1" i="0">
                <a:solidFill>
                  <a:srgbClr val="183B23"/>
                </a:solidFill>
              </a:rPr>
              <a:t>SAVE</a:t>
            </a:r>
          </a:p>
          <a:p xmlns:a="http://schemas.openxmlformats.org/drawingml/2006/main">
            <a:pPr algn="ctr">
              <a:buNone/>
              <a:defRPr sz="1800" b="1" i="0">
                <a:solidFill>
                  <a:srgbClr val="183B23"/>
                </a:solidFill>
              </a:defRPr>
            </a:pPr>
            <a:r>
              <a:rPr sz="1800" b="1" i="0">
                <a:solidFill>
                  <a:srgbClr val="183B23"/>
                </a:solidFill>
              </a:rPr>
              <a:t>TO</a:t>
            </a:r>
          </a:p>
          <a:p xmlns:a="http://schemas.openxmlformats.org/drawingml/2006/main">
            <a:pPr algn="ctr">
              <a:buNone/>
              <a:defRPr sz="1800" b="1" i="0">
                <a:solidFill>
                  <a:srgbClr val="183B23"/>
                </a:solidFill>
              </a:defRPr>
            </a:pPr>
            <a:r>
              <a:rPr sz="1800" b="1" i="0">
                <a:solidFill>
                  <a:srgbClr val="183B23"/>
                </a:solidFill>
              </a:rPr>
              <a:t>FOLIO</a:t>
            </a:r>
          </a:p>
        </p:txBody>
      </p:sp>
    </p:spTree>
    <p:extLst>
      <p:ext uri="{BB962C8B-B14F-4D97-AF65-F5344CB8AC3E}">
        <p14:creationId xmlns:p14="http://schemas.microsoft.com/office/powerpoint/2010/main" val="15686403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2026-09-01T23:40:07.9610000Z</dcterms:created>
  <dcterms:modified xsi:type="dcterms:W3CDTF">2026-09-01T23:40:07.9610000Z</dcterms:modified>
</coreProperties>
</file>